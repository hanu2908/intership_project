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8"/>
    <p:sldId id="258" r:id="rId9"/>
    <p:sldId id="259" r:id="rId10"/>
    <p:sldId id="260" r:id="rId7"/>
    <p:sldId id="261" r:id="rId6"/>
    <p:sldId id="262" r:id="rId5"/>
    <p:sldId id="263" r:id="rId4"/>
    <p:sldId id="264" r:id="rId3"/>
    <p:sldId id="265" r:id="rId16"/>
    <p:sldId id="266" r:id="rId17"/>
    <p:sldId id="267" r:id="rId18"/>
    <p:sldId id="268" r:id="rId19"/>
    <p:sldId id="26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94" autoAdjust="0"/>
    <p:restoredTop sz="94658"/>
  </p:normalViewPr>
  <p:slideViewPr>
    <p:cSldViewPr snapToGrid="0">
      <p:cViewPr varScale="1">
        <p:scale>
          <a:sx n="65" d="100"/>
          <a:sy n="65" d="100"/>
        </p:scale>
        <p:origin x="92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9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A090B0-ABFE-D74D-BAEB-E84F01A1A65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CDF5ED-D16E-4C47-9782-89283B7A98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576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7C08E-BB1C-E98B-58DA-10F649A399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6B4B65-360E-CC39-B312-9BCF914276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4CE1D-5019-1D4D-622B-FE5E0F64D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85C1C-7837-3F5A-8DBC-7E0245045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6B8AA-7E7A-1205-A07C-8E662491D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13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74BD-9F48-26DD-BA41-A68839248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B3B9D-DF61-8F19-DAD1-78E284F12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F90BD-676E-05B1-9204-C59923E2D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FFA56D-B99B-4656-441F-1B35CE3AE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F23972-E3FA-28EC-9024-BAE064082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392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34D63-0CB1-1E54-323B-1F7A6BA9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DB028-6792-0849-F702-6BB4EE5FEA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E1F349-2C76-FECB-3601-AB45079E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13913-B7EB-1C8F-02F0-2D026A2E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217C1-9A14-3F30-44FB-9E7559235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97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AFD69-CF19-B387-53BC-441834CDA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082B2-9157-08CA-19C3-CC464520A9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8EE840-61BF-FD81-22F3-39F857AF25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F99381-A8E3-C16E-414C-699E7FF8A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FD6E51-FCCC-6F9C-37DF-A29E508B5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FEAA18-4680-95E3-F8D7-64EAA2259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175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01B16-86F2-34CC-7E87-D84129DC2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5AE97A-B9B2-4E5D-4D57-676CADD7D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E94BAC-4A02-F6E6-8959-747FDD9DAE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881B52-6A00-0081-4CF0-0F9A3E15C5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D0971A-4DCC-3CAF-51D5-1F6D84295D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462994-A070-C143-622E-A7B2ADA74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7AACD3-7F8B-513E-50BC-110FC5BE3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FE351F-787F-5296-9396-CCF532DB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830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440BD-9E0E-7948-178C-37092019F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374A5-7D38-14BC-6506-2AA512CBD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8BDA52-32D5-BB63-5FCB-5ADEE7CFB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6F5501-BAF7-CFDD-3559-0D65A2BB1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156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1E26E3-98BD-48D0-0D96-0C9080197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0CB820-9D4F-9B39-C095-6C6AD9144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B333DD-7E18-2000-06A3-0C710EC00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047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16121-9684-EC74-74C8-DF968C7C1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7388D-8B6E-1581-FEA2-2CC39A85F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C90433-4204-AA3C-5941-D6656C757D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BA7D79-D87F-C005-AFCC-565293B6B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24AF55-233F-A07E-2C35-DEC4A5E77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5785D1-0981-2082-0676-028E0EA80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896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3DC72-551C-CDDD-590A-E1C019586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60B7E3-11BC-D92B-F799-2B233AFC6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FD24B2-AE8C-B37C-735D-BAA0262184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4FDEBB-C2C4-9170-16A7-F047256B8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85FFA6-4AFD-CDD8-1826-E863295D7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A04320-8F2A-CC62-54E2-E14A2152E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8952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1319-0B46-0C82-B733-E53B2AEE1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1AC90-040F-990E-6945-7FCE278F9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291A66-9E5B-E3BA-7752-824042F66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41DF6-D1A5-9587-E51B-7D320F1E0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6B4D2-B68C-A251-3220-C38D050F3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95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EFD2BA-B189-DE07-0D15-6B4132FAB1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63D561-9E4D-54BF-1BEE-622652B7E2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8BBD7-996F-E401-AA5D-4E5A28A64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907F4-0D7E-4210-D6F7-A22B1E333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BBA1B-C00F-C175-71B0-EF08B1B5E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372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8C0509-518C-50C4-A5EA-C275DC657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B7FA5-84C5-D8C9-D3FB-078023D0F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56347-5A7A-ED5D-A29D-9728254F19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4B1D0C-DD3E-A740-AD8A-21212259D688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8B588-BC48-FDEA-320B-2243CEB998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E5F08-76DC-F377-052E-D3EE3A4B54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65AF07-03CB-AE45-B17A-7E8EBFBA9B32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EDCD05-15DF-6C89-92F0-FCF2F9A622A2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982200" y="407988"/>
            <a:ext cx="1270000" cy="112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64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jp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1.png"/><Relationship Id="rId4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Relationship Id="rId3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CCF10-55B5-C771-BFE6-BD818D8AE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8977" y="244548"/>
            <a:ext cx="11079125" cy="6379535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/>
            </a:pP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Swami </a:t>
            </a:r>
            <a:r>
              <a:rPr kumimoji="0" lang="en-I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Keshvanand</a:t>
            </a: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Institute of Technology, Management &amp; </a:t>
            </a:r>
            <a:r>
              <a:rPr kumimoji="0" lang="en-I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Gramothan</a:t>
            </a: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Jaipur</a:t>
            </a: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r>
              <a:rPr kumimoji="0" lang="en-IN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“An Autonomous Institute Affiliated to Rajasthan Technical University, Kota”</a:t>
            </a:r>
            <a:br>
              <a:rPr kumimoji="0" lang="en-IN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Department of Information Technology</a:t>
            </a: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Industrial Training Presentation</a:t>
            </a: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On </a:t>
            </a: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Pathik: A Trip Planner for India</a:t>
            </a: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Submitted To:                                                                           Submitted By:</a:t>
            </a: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Ms Shalini Singhal                                                                            Student name</a:t>
            </a: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            Assistant Professor IT                                                                       University Roll. No.  </a:t>
            </a: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                                       </a:t>
            </a: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Session 2026-27</a:t>
            </a:r>
            <a:b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13354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86400" cy="960120"/>
          </a:xfrm>
          <a:prstGeom prst="roundRect">
            <a:avLst>
              <a:gd name="adj" fmla="val 13333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55648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EF7D42"/>
                </a:solidFill>
                <a:latin typeface="Cambr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78308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C1638"/>
                </a:solidFill>
                <a:latin typeface="Calibri"/>
              </a:rPr>
              <a:t>Project Introduction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112264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What Pathik is and who it is for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600200"/>
            <a:ext cx="548640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28231" y="1755648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A3A8F"/>
                </a:solidFill>
                <a:latin typeface="Cambr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78308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C1638"/>
                </a:solidFill>
                <a:latin typeface="Calibri"/>
              </a:rPr>
              <a:t>Problem &amp;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6912" y="2112264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Why the project exists and its goals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15768"/>
            <a:ext cx="548640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59" y="2871215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EF7D42"/>
                </a:solidFill>
                <a:latin typeface="Cambr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898648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C1638"/>
                </a:solidFill>
                <a:latin typeface="Calibri"/>
              </a:rPr>
              <a:t>Key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227832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Six things the site does for a traveller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2715768"/>
            <a:ext cx="5486400" cy="960120"/>
          </a:xfrm>
          <a:prstGeom prst="roundRect">
            <a:avLst>
              <a:gd name="adj" fmla="val 13333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28231" y="2871215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A3A8F"/>
                </a:solidFill>
                <a:latin typeface="Cambr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912" y="2898648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C1638"/>
                </a:solidFill>
                <a:latin typeface="Calibri"/>
              </a:rPr>
              <a:t>Website Walkthrough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96912" y="3227832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A screenshot tour of every page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31335"/>
            <a:ext cx="5486400" cy="960120"/>
          </a:xfrm>
          <a:prstGeom prst="roundRect">
            <a:avLst>
              <a:gd name="adj" fmla="val 13333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59" y="3986783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EF7D42"/>
                </a:solidFill>
                <a:latin typeface="Cambr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014215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C1638"/>
                </a:solidFill>
                <a:latin typeface="Calibri"/>
              </a:rPr>
              <a:t>Tech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34340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Languages, libraries and tools used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3831335"/>
            <a:ext cx="548640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28231" y="3986783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A3A8F"/>
                </a:solidFill>
                <a:latin typeface="Cambr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4014215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C1638"/>
                </a:solidFill>
                <a:latin typeface="Calibri"/>
              </a:rPr>
              <a:t>User Journey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6912" y="434340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How a visitor moves from idea to booking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946904"/>
            <a:ext cx="548640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2959" y="5102352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EF7D42"/>
                </a:solidFill>
                <a:latin typeface="Cambria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129784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C1638"/>
                </a:solidFill>
                <a:latin typeface="Calibri"/>
              </a:rPr>
              <a:t>Future 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5458968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What comes next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3912" y="4946904"/>
            <a:ext cx="5486400" cy="960120"/>
          </a:xfrm>
          <a:prstGeom prst="roundRect">
            <a:avLst>
              <a:gd name="adj" fmla="val 13333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8231" y="5102352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A3A8F"/>
                </a:solidFill>
                <a:latin typeface="Cambria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5129784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C1638"/>
                </a:solidFill>
                <a:latin typeface="Calibri"/>
              </a:rPr>
              <a:t>Conclusion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96912" y="5458968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Summary and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What is Pathik?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309360" cy="448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500" b="0" i="0">
                <a:solidFill>
                  <a:srgbClr val="2B2257"/>
                </a:solidFill>
                <a:latin typeface="Calibri"/>
              </a:rPr>
              <a:t>Pathik (पथिक, 'wayfarer') is a trip planner for India. It puts the whole journey of planning a trip in one website: finding a place, learning what it is really like, planning the days, seeing the cost, asking a registered agent and booking.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500" b="0" i="0">
                <a:solidFill>
                  <a:srgbClr val="2B2257"/>
                </a:solidFill>
                <a:latin typeface="Calibri"/>
              </a:rPr>
              <a:t>It runs entirely in the browser with HTML, CSS and JavaScript. A 3D hero built with Three.js, maps with Leaflet and Google Maps, and real photos from Wikimedia Commons sit on top of a small shared data and state layer. Trips, carts and enquiries are saved in the browser, so nothing needs a server.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500" b="0" i="0">
                <a:solidFill>
                  <a:srgbClr val="2B2257"/>
                </a:solidFill>
                <a:latin typeface="Calibri"/>
              </a:rPr>
              <a:t>Every page works on phones, tablets and desktops, and opens straight from a file as well as from a web server.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600200"/>
            <a:ext cx="4325112" cy="4480560"/>
          </a:xfrm>
          <a:prstGeom prst="roundRect">
            <a:avLst>
              <a:gd name="adj" fmla="val 3382"/>
            </a:avLst>
          </a:prstGeom>
          <a:solidFill>
            <a:srgbClr val="1C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0" y="1828800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C46B"/>
                </a:solidFill>
                <a:latin typeface="Cambria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560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B9A8E6"/>
                </a:solidFill>
                <a:latin typeface="Calibri"/>
              </a:rPr>
              <a:t>MAIN PAGES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3044952"/>
            <a:ext cx="3611880" cy="0"/>
          </a:xfrm>
          <a:prstGeom prst="line">
            <a:avLst/>
          </a:prstGeom>
          <a:ln w="12700">
            <a:solidFill>
              <a:srgbClr val="2B22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3200400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C46B"/>
                </a:solidFill>
                <a:latin typeface="Cambria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31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B9A8E6"/>
                </a:solidFill>
                <a:latin typeface="Calibri"/>
              </a:rPr>
              <a:t>DESTINATIONS WITH REAL COSTS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0960" y="4416552"/>
            <a:ext cx="3611880" cy="0"/>
          </a:xfrm>
          <a:prstGeom prst="line">
            <a:avLst/>
          </a:prstGeom>
          <a:ln w="12700">
            <a:solidFill>
              <a:srgbClr val="2B22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80960" y="4572000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C46B"/>
                </a:solidFill>
                <a:latin typeface="Cambria"/>
              </a:rPr>
              <a:t>₹0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5303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B9A8E6"/>
                </a:solidFill>
                <a:latin typeface="Calibri"/>
              </a:rPr>
              <a:t>SERVER COST, RUNS IN THE BROWSER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Why build this project?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PROBLEM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3611880"/>
          </a:xfrm>
          <a:prstGeom prst="roundRect">
            <a:avLst>
              <a:gd name="adj" fmla="val 4050"/>
            </a:avLst>
          </a:prstGeom>
          <a:solidFill>
            <a:srgbClr val="FD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783080"/>
            <a:ext cx="502920" cy="50292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iangle-ale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89" y="1908810"/>
            <a:ext cx="251460" cy="2514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17830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F7D42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02996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C1638"/>
                </a:solidFill>
                <a:latin typeface="Cambria"/>
              </a:rPr>
              <a:t>Planning a trip is still a research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4892040" cy="2468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700"/>
              </a:spcAft>
              <a:buClr>
                <a:srgbClr val="EF7D42"/>
              </a:buClr>
              <a:buFont typeface="Arial"/>
              <a:buChar char="•"/>
            </a:pPr>
            <a:r>
              <a:rPr sz="1250" b="0" i="0">
                <a:solidFill>
                  <a:srgbClr val="2B2257"/>
                </a:solidFill>
                <a:latin typeface="Calibri"/>
              </a:rPr>
              <a:t>Inspiration is spread across Instagram, blogs and booking sites</a:t>
            </a:r>
          </a:p>
          <a:p>
            <a:pPr algn="l" marL="182880" indent="-182880">
              <a:spcAft>
                <a:spcPts val="700"/>
              </a:spcAft>
              <a:buClr>
                <a:srgbClr val="EF7D42"/>
              </a:buClr>
              <a:buFont typeface="Arial"/>
              <a:buChar char="•"/>
            </a:pPr>
            <a:r>
              <a:rPr sz="1250" b="0" i="0">
                <a:solidFill>
                  <a:srgbClr val="2B2257"/>
                </a:solidFill>
                <a:latin typeface="Calibri"/>
              </a:rPr>
              <a:t>Season, routes, real costs and scams sit in old forum threads</a:t>
            </a:r>
          </a:p>
          <a:p>
            <a:pPr algn="l" marL="182880" indent="-182880">
              <a:spcAft>
                <a:spcPts val="700"/>
              </a:spcAft>
              <a:buClr>
                <a:srgbClr val="EF7D42"/>
              </a:buClr>
              <a:buFont typeface="Arial"/>
              <a:buChar char="•"/>
            </a:pPr>
            <a:r>
              <a:rPr sz="1250" b="0" i="0">
                <a:solidFill>
                  <a:srgbClr val="2B2257"/>
                </a:solidFill>
                <a:latin typeface="Calibri"/>
              </a:rPr>
              <a:t>Copied plans put stops 900 km apart or in the wrong season</a:t>
            </a:r>
          </a:p>
          <a:p>
            <a:pPr algn="l" marL="182880" indent="-182880">
              <a:spcAft>
                <a:spcPts val="700"/>
              </a:spcAft>
              <a:buClr>
                <a:srgbClr val="EF7D42"/>
              </a:buClr>
              <a:buFont typeface="Arial"/>
              <a:buChar char="•"/>
            </a:pPr>
            <a:r>
              <a:rPr sz="1250" b="0" i="0">
                <a:solidFill>
                  <a:srgbClr val="2B2257"/>
                </a:solidFill>
                <a:latin typeface="Calibri"/>
              </a:rPr>
              <a:t>Package prices hide transfers, tickets and GST</a:t>
            </a:r>
          </a:p>
          <a:p>
            <a:pPr algn="l" marL="182880" indent="-182880">
              <a:spcAft>
                <a:spcPts val="700"/>
              </a:spcAft>
              <a:buClr>
                <a:srgbClr val="EF7D42"/>
              </a:buClr>
              <a:buFont typeface="Arial"/>
              <a:buChar char="•"/>
            </a:pPr>
            <a:r>
              <a:rPr sz="1250" b="0" i="0">
                <a:solidFill>
                  <a:srgbClr val="2B2257"/>
                </a:solidFill>
                <a:latin typeface="Calibri"/>
              </a:rPr>
              <a:t>The same trip is retyped to five agents on WhatsApp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1" y="1554480"/>
            <a:ext cx="5440680" cy="3611880"/>
          </a:xfrm>
          <a:prstGeom prst="roundRect">
            <a:avLst>
              <a:gd name="adj" fmla="val 4050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6473951" y="1783080"/>
            <a:ext cx="502920" cy="50292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arget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681" y="1908810"/>
            <a:ext cx="251460" cy="2514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14031" y="17830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A3A8F"/>
                </a:solidFill>
                <a:latin typeface="Calibri"/>
              </a:rPr>
              <a:t>OUR 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1" y="202996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C1638"/>
                </a:solidFill>
                <a:latin typeface="Cambria"/>
              </a:rPr>
              <a:t>What Pathik delivers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1" y="2606040"/>
            <a:ext cx="4892040" cy="2468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700"/>
              </a:spcAft>
              <a:buClr>
                <a:srgbClr val="EF7D42"/>
              </a:buClr>
              <a:buFont typeface="Arial"/>
              <a:buChar char="•"/>
            </a:pPr>
            <a:r>
              <a:rPr sz="1250" b="0" i="0">
                <a:solidFill>
                  <a:srgbClr val="2B2257"/>
                </a:solidFill>
                <a:latin typeface="Calibri"/>
              </a:rPr>
              <a:t>Find a destination by month, region, type and daily budget</a:t>
            </a:r>
          </a:p>
          <a:p>
            <a:pPr algn="l" marL="182880" indent="-182880">
              <a:spcAft>
                <a:spcPts val="700"/>
              </a:spcAft>
              <a:buClr>
                <a:srgbClr val="EF7D42"/>
              </a:buClr>
              <a:buFont typeface="Arial"/>
              <a:buChar char="•"/>
            </a:pPr>
            <a:r>
              <a:rPr sz="1250" b="0" i="0">
                <a:solidFill>
                  <a:srgbClr val="2B2257"/>
                </a:solidFill>
                <a:latin typeface="Calibri"/>
              </a:rPr>
              <a:t>Know each place: season, routes, costs, tips and scams</a:t>
            </a:r>
          </a:p>
          <a:p>
            <a:pPr algn="l" marL="182880" indent="-182880">
              <a:spcAft>
                <a:spcPts val="700"/>
              </a:spcAft>
              <a:buClr>
                <a:srgbClr val="EF7D42"/>
              </a:buClr>
              <a:buFont typeface="Arial"/>
              <a:buChar char="•"/>
            </a:pPr>
            <a:r>
              <a:rPr sz="1250" b="0" i="0">
                <a:solidFill>
                  <a:srgbClr val="2B2257"/>
                </a:solidFill>
                <a:latin typeface="Calibri"/>
              </a:rPr>
              <a:t>Plan dated days with a live, itemised budget</a:t>
            </a:r>
          </a:p>
          <a:p>
            <a:pPr algn="l" marL="182880" indent="-182880">
              <a:spcAft>
                <a:spcPts val="700"/>
              </a:spcAft>
              <a:buClr>
                <a:srgbClr val="EF7D42"/>
              </a:buClr>
              <a:buFont typeface="Arial"/>
              <a:buChar char="•"/>
            </a:pPr>
            <a:r>
              <a:rPr sz="1250" b="0" i="0">
                <a:solidFill>
                  <a:srgbClr val="2B2257"/>
                </a:solidFill>
                <a:latin typeface="Calibri"/>
              </a:rPr>
              <a:t>Send one enquiry, with the trip attached, to a registered agent</a:t>
            </a:r>
          </a:p>
          <a:p>
            <a:pPr algn="l" marL="182880" indent="-182880">
              <a:spcAft>
                <a:spcPts val="700"/>
              </a:spcAft>
              <a:buClr>
                <a:srgbClr val="EF7D42"/>
              </a:buClr>
              <a:buFont typeface="Arial"/>
              <a:buChar char="•"/>
            </a:pPr>
            <a:r>
              <a:rPr sz="1250" b="0" i="0">
                <a:solidFill>
                  <a:srgbClr val="2B2257"/>
                </a:solidFill>
                <a:latin typeface="Calibri"/>
              </a:rPr>
              <a:t>Book packages with every inclusion and GST shown upfront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EF7D42"/>
                </a:solidFill>
                <a:latin typeface="Cambria"/>
              </a:rPr>
              <a:t>141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349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D6585"/>
                </a:solidFill>
                <a:latin typeface="Calibri"/>
              </a:rPr>
              <a:t>pages of travel content read before booking (Expedia Group)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79" y="534924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EF7D42"/>
                </a:solidFill>
                <a:latin typeface="Cambria"/>
              </a:rPr>
              <a:t>5 hours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79" y="5349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D6585"/>
                </a:solidFill>
                <a:latin typeface="Calibri"/>
              </a:rPr>
              <a:t>spent reading it (303 minutes, Expedia Group)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9" y="534924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EF7D42"/>
                </a:solidFill>
                <a:latin typeface="Cambria"/>
              </a:rPr>
              <a:t>44%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5349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D6585"/>
                </a:solidFill>
                <a:latin typeface="Calibri"/>
              </a:rPr>
              <a:t>worry most about overspending (Go City, 2024)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Six core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84448" cy="2148840"/>
          </a:xfrm>
          <a:prstGeom prst="roundRect">
            <a:avLst>
              <a:gd name="adj" fmla="val 5957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04672" y="1810512"/>
            <a:ext cx="548640" cy="54864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mpass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194767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188366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C1638"/>
                </a:solidFill>
                <a:latin typeface="Cambria"/>
              </a:rPr>
              <a:t>Discover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542032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B2257"/>
                </a:solidFill>
                <a:latin typeface="Calibri"/>
              </a:rPr>
              <a:t>Search with suggestions; filter by month, region, type and daily budget; filters kept in the URL.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84448" cy="2148840"/>
          </a:xfrm>
          <a:prstGeom prst="roundRect">
            <a:avLst>
              <a:gd name="adj" fmla="val 5957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53712" y="1810512"/>
            <a:ext cx="548640" cy="54864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ok-open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947672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799" y="188366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C1638"/>
                </a:solidFill>
                <a:latin typeface="Cambria"/>
              </a:rPr>
              <a:t>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542032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B2257"/>
                </a:solidFill>
                <a:latin typeface="Calibri"/>
              </a:rPr>
              <a:t>Best months, getting there by air, rail and road, daily costs, tips, scams and a map.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584448" cy="2148840"/>
          </a:xfrm>
          <a:prstGeom prst="roundRect">
            <a:avLst>
              <a:gd name="adj" fmla="val 5957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02751" y="1810512"/>
            <a:ext cx="548640" cy="54864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ute-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911" y="1947672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06840" y="188366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C1638"/>
                </a:solidFill>
                <a:latin typeface="Cambria"/>
              </a:rPr>
              <a:t>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542032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B2257"/>
                </a:solidFill>
                <a:latin typeface="Calibri"/>
              </a:rPr>
              <a:t>Add, reorder and size stops; dated day-by-day plan with season warnings.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886200"/>
            <a:ext cx="35844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04672" y="4142232"/>
            <a:ext cx="548640" cy="54864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allet-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4279392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08760" y="421538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C1638"/>
                </a:solidFill>
                <a:latin typeface="Cambria"/>
              </a:rPr>
              <a:t>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873752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B2257"/>
                </a:solidFill>
                <a:latin typeface="Calibri"/>
              </a:rPr>
              <a:t>Stay, food, transport, sights and travel between stops, with a 10% buffer and a target meter.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79" y="3886200"/>
            <a:ext cx="35844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553712" y="4142232"/>
            <a:ext cx="548640" cy="54864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end-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427939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799" y="421538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C1638"/>
                </a:solidFill>
                <a:latin typeface="Cambria"/>
              </a:rPr>
              <a:t>Enquire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1999" y="4873752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B2257"/>
                </a:solidFill>
                <a:latin typeface="Calibri"/>
              </a:rPr>
              <a:t>Send the trip to one of 7 registered agents and track it to a quote.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3886200"/>
            <a:ext cx="358444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302751" y="4142232"/>
            <a:ext cx="548640" cy="54864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icket-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9911" y="4279392"/>
            <a:ext cx="274320" cy="2743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06840" y="421538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C1638"/>
                </a:solidFill>
                <a:latin typeface="Cambria"/>
              </a:rPr>
              <a:t>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873752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B2257"/>
                </a:solidFill>
                <a:latin typeface="Calibri"/>
              </a:rPr>
              <a:t>Packages with inclusions listed, a cart with GST, and a 20% reservation.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The landing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WEBSITE WALKTHROUGH  ·  PAGE 01 ·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6632" y="1463040"/>
            <a:ext cx="6583680" cy="4341114"/>
          </a:xfrm>
          <a:prstGeom prst="roundRect">
            <a:avLst>
              <a:gd name="adj" fmla="val 2106"/>
            </a:avLst>
          </a:prstGeom>
          <a:solidFill>
            <a:srgbClr val="1C1638"/>
          </a:solidFill>
          <a:ln>
            <a:noFill/>
          </a:ln>
          <a:effectLst>
            <a:outerShdw blurRad="228600" dist="50800" dir="5400000" algn="t" rotWithShape="0">
              <a:srgbClr val="1C1638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184648" y="1540764"/>
            <a:ext cx="82296" cy="82296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321808" y="1540764"/>
            <a:ext cx="82296" cy="82296"/>
          </a:xfrm>
          <a:prstGeom prst="ellipse">
            <a:avLst/>
          </a:prstGeom>
          <a:solidFill>
            <a:srgbClr val="FF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58968" y="1540764"/>
            <a:ext cx="82296" cy="82296"/>
          </a:xfrm>
          <a:prstGeom prst="ellipse">
            <a:avLst/>
          </a:prstGeom>
          <a:solidFill>
            <a:srgbClr val="8FD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85432" y="1517904"/>
            <a:ext cx="2926080" cy="137160"/>
          </a:xfrm>
          <a:prstGeom prst="roundRect">
            <a:avLst>
              <a:gd name="adj" fmla="val 46666"/>
            </a:avLst>
          </a:prstGeom>
          <a:solidFill>
            <a:srgbClr val="2B2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85432" y="1513332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700" b="0" i="0">
                <a:solidFill>
                  <a:srgbClr val="B9A8E6"/>
                </a:solidFill>
                <a:latin typeface="Calibri"/>
              </a:rPr>
              <a:t>pathik / index.html</a:t>
            </a:r>
          </a:p>
        </p:txBody>
      </p:sp>
      <p:pic>
        <p:nvPicPr>
          <p:cNvPr id="12" name="Picture 11" descr="Screenshot of the Pathik website: pathik / index.htm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700784"/>
            <a:ext cx="6492240" cy="405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B2257"/>
                </a:solidFill>
                <a:latin typeface="Calibri"/>
              </a:rPr>
              <a:t>The home page sets the tone with a 3D dusk scene built in Three.js, then gets straight to work: a search bar, trip types, places in season this month and fixed-price offers.</a:t>
            </a:r>
          </a:p>
        </p:txBody>
      </p:sp>
      <p:pic>
        <p:nvPicPr>
          <p:cNvPr id="14" name="Picture 13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90672"/>
            <a:ext cx="219456" cy="219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7824" y="3063240"/>
            <a:ext cx="387705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B2257"/>
                </a:solidFill>
                <a:latin typeface="Calibri"/>
              </a:rPr>
              <a:t>3D hero that pauses when off-screen</a:t>
            </a:r>
          </a:p>
        </p:txBody>
      </p:sp>
      <p:pic>
        <p:nvPicPr>
          <p:cNvPr id="16" name="Picture 15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74720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" y="3447288"/>
            <a:ext cx="387705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B2257"/>
                </a:solidFill>
                <a:latin typeface="Calibri"/>
              </a:rPr>
              <a:t>Search sends place, month and style to Explore</a:t>
            </a:r>
          </a:p>
        </p:txBody>
      </p:sp>
      <p:pic>
        <p:nvPicPr>
          <p:cNvPr id="18" name="Picture 17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58768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7824" y="3831336"/>
            <a:ext cx="387705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B2257"/>
                </a:solidFill>
                <a:latin typeface="Calibri"/>
              </a:rPr>
              <a:t>In-season carousel for the current month</a:t>
            </a:r>
          </a:p>
        </p:txBody>
      </p:sp>
      <p:pic>
        <p:nvPicPr>
          <p:cNvPr id="20" name="Picture 19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42816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77824" y="4215384"/>
            <a:ext cx="387705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B2257"/>
                </a:solidFill>
                <a:latin typeface="Calibri"/>
              </a:rPr>
              <a:t>Offers, reviews and travel notes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56632" y="5925312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6D6585"/>
                </a:solidFill>
                <a:latin typeface="Calibri"/>
              </a:rPr>
              <a:t>Home page with the Three.js hero and the search bar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Find the right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WEBSITE WALKTHROUGH  ·  PAGE 02 · 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760720" cy="3826763"/>
          </a:xfrm>
          <a:prstGeom prst="roundRect">
            <a:avLst>
              <a:gd name="adj" fmla="val 2389"/>
            </a:avLst>
          </a:prstGeom>
          <a:solidFill>
            <a:srgbClr val="1C1638"/>
          </a:solidFill>
          <a:ln>
            <a:noFill/>
          </a:ln>
          <a:effectLst>
            <a:outerShdw blurRad="228600" dist="50800" dir="5400000" algn="t" rotWithShape="0">
              <a:srgbClr val="1C1638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676656" y="1540764"/>
            <a:ext cx="82296" cy="82296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3816" y="1540764"/>
            <a:ext cx="82296" cy="82296"/>
          </a:xfrm>
          <a:prstGeom prst="ellipse">
            <a:avLst/>
          </a:prstGeom>
          <a:solidFill>
            <a:srgbClr val="FF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0976" y="1540764"/>
            <a:ext cx="82296" cy="82296"/>
          </a:xfrm>
          <a:prstGeom prst="ellipse">
            <a:avLst/>
          </a:prstGeom>
          <a:solidFill>
            <a:srgbClr val="8FD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32838" y="1517904"/>
            <a:ext cx="2592324" cy="137160"/>
          </a:xfrm>
          <a:prstGeom prst="roundRect">
            <a:avLst>
              <a:gd name="adj" fmla="val 46666"/>
            </a:avLst>
          </a:prstGeom>
          <a:solidFill>
            <a:srgbClr val="2B2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132838" y="1513332"/>
            <a:ext cx="2592324" cy="1463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700" b="0" i="0">
                <a:solidFill>
                  <a:srgbClr val="B9A8E6"/>
                </a:solidFill>
                <a:latin typeface="Calibri"/>
              </a:rPr>
              <a:t>pathik / explore.html?month=12</a:t>
            </a:r>
          </a:p>
        </p:txBody>
      </p:sp>
      <p:pic>
        <p:nvPicPr>
          <p:cNvPr id="12" name="Picture 11" descr="Screenshot of the Pathik website: pathik / explore.html?month=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0784"/>
            <a:ext cx="5669280" cy="35433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949440" y="1463040"/>
            <a:ext cx="4690872" cy="3821488"/>
          </a:xfrm>
          <a:prstGeom prst="roundRect">
            <a:avLst>
              <a:gd name="adj" fmla="val 2392"/>
            </a:avLst>
          </a:prstGeom>
          <a:solidFill>
            <a:srgbClr val="1C1638"/>
          </a:solidFill>
          <a:ln>
            <a:noFill/>
          </a:ln>
          <a:effectLst>
            <a:outerShdw blurRad="228600" dist="50800" dir="5400000" algn="t" rotWithShape="0">
              <a:srgbClr val="1C1638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077455" y="1540764"/>
            <a:ext cx="82296" cy="82296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14616" y="1540764"/>
            <a:ext cx="82296" cy="82296"/>
          </a:xfrm>
          <a:prstGeom prst="ellipse">
            <a:avLst/>
          </a:prstGeom>
          <a:solidFill>
            <a:srgbClr val="FF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51775" y="1540764"/>
            <a:ext cx="82296" cy="82296"/>
          </a:xfrm>
          <a:prstGeom prst="ellipse">
            <a:avLst/>
          </a:prstGeom>
          <a:solidFill>
            <a:srgbClr val="8FD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9429" y="1517904"/>
            <a:ext cx="2110892" cy="137160"/>
          </a:xfrm>
          <a:prstGeom prst="roundRect">
            <a:avLst>
              <a:gd name="adj" fmla="val 46666"/>
            </a:avLst>
          </a:prstGeom>
          <a:solidFill>
            <a:srgbClr val="2B2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39429" y="1513332"/>
            <a:ext cx="2110892" cy="1463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700" b="0" i="0">
                <a:solidFill>
                  <a:srgbClr val="B9A8E6"/>
                </a:solidFill>
                <a:latin typeface="Calibri"/>
              </a:rPr>
              <a:t>pathik / explore.html#leh</a:t>
            </a:r>
          </a:p>
        </p:txBody>
      </p:sp>
      <p:pic>
        <p:nvPicPr>
          <p:cNvPr id="19" name="Picture 18" descr="Screenshot of the Pathik website: pathik / explore.html#le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59" y="1700784"/>
            <a:ext cx="4599432" cy="35380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440680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C1638"/>
                </a:solidFill>
                <a:latin typeface="Calibri"/>
              </a:rPr>
              <a:t>Filters that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733288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Month, style, daily budget, region and type. Places in season sort first.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5440680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C1638"/>
                </a:solidFill>
                <a:latin typeface="Calibri"/>
              </a:rPr>
              <a:t>Everything about a place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733288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Best months, getting there, a day's cost at three comfort levels, tips, scams and a Google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Plan the days, see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WEBSITE WALKTHROUGH  ·  PAGE 03 · PLAN &amp;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6675120" cy="4398264"/>
          </a:xfrm>
          <a:prstGeom prst="roundRect">
            <a:avLst>
              <a:gd name="adj" fmla="val 2079"/>
            </a:avLst>
          </a:prstGeom>
          <a:solidFill>
            <a:srgbClr val="1C1638"/>
          </a:solidFill>
          <a:ln>
            <a:noFill/>
          </a:ln>
          <a:effectLst>
            <a:outerShdw blurRad="228600" dist="50800" dir="5400000" algn="t" rotWithShape="0">
              <a:srgbClr val="1C1638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676656" y="1540764"/>
            <a:ext cx="82296" cy="82296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3816" y="1540764"/>
            <a:ext cx="82296" cy="82296"/>
          </a:xfrm>
          <a:prstGeom prst="ellipse">
            <a:avLst/>
          </a:prstGeom>
          <a:solidFill>
            <a:srgbClr val="FF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0976" y="1540764"/>
            <a:ext cx="82296" cy="82296"/>
          </a:xfrm>
          <a:prstGeom prst="ellipse">
            <a:avLst/>
          </a:prstGeom>
          <a:solidFill>
            <a:srgbClr val="8FD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23160" y="1517904"/>
            <a:ext cx="2926080" cy="137160"/>
          </a:xfrm>
          <a:prstGeom prst="roundRect">
            <a:avLst>
              <a:gd name="adj" fmla="val 46666"/>
            </a:avLst>
          </a:prstGeom>
          <a:solidFill>
            <a:srgbClr val="2B2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423160" y="1513332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700" b="0" i="0">
                <a:solidFill>
                  <a:srgbClr val="B9A8E6"/>
                </a:solidFill>
                <a:latin typeface="Calibri"/>
              </a:rPr>
              <a:t>pathik / planner.html</a:t>
            </a:r>
          </a:p>
        </p:txBody>
      </p:sp>
      <p:pic>
        <p:nvPicPr>
          <p:cNvPr id="12" name="Picture 11" descr="Screenshot of the Pathik website: pathik / planner.htm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0784"/>
            <a:ext cx="6583680" cy="411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8079" y="1481328"/>
            <a:ext cx="4160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C1638"/>
                </a:solidFill>
                <a:latin typeface="Cambria"/>
              </a:rPr>
              <a:t>How the estimate is calculated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1920240"/>
            <a:ext cx="4160520" cy="548640"/>
          </a:xfrm>
          <a:prstGeom prst="roundRect">
            <a:avLst>
              <a:gd name="adj" fmla="val 16666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5240" y="1965960"/>
            <a:ext cx="1325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4A3A8F"/>
                </a:solidFill>
                <a:latin typeface="Calibri"/>
              </a:rPr>
              <a:t>Stay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659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B2257"/>
                </a:solidFill>
                <a:latin typeface="Calibri"/>
              </a:rPr>
              <a:t>room rate × rooms × nights (2 adults per room)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2560320"/>
            <a:ext cx="4160520" cy="548640"/>
          </a:xfrm>
          <a:prstGeom prst="roundRect">
            <a:avLst>
              <a:gd name="adj" fmla="val 16666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35240" y="2606039"/>
            <a:ext cx="1325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4A3A8F"/>
                </a:solidFill>
                <a:latin typeface="Calibri"/>
              </a:rPr>
              <a:t>Food, sights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606039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B2257"/>
                </a:solidFill>
                <a:latin typeface="Calibri"/>
              </a:rPr>
              <a:t>daily rate × (adults + 0.6 × children)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3200400"/>
            <a:ext cx="4160520" cy="548640"/>
          </a:xfrm>
          <a:prstGeom prst="roundRect">
            <a:avLst>
              <a:gd name="adj" fmla="val 16666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5240" y="3246120"/>
            <a:ext cx="1325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4A3A8F"/>
                </a:solidFill>
                <a:latin typeface="Calibri"/>
              </a:rPr>
              <a:t>Local transport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24612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B2257"/>
                </a:solidFill>
                <a:latin typeface="Calibri"/>
              </a:rPr>
              <a:t>daily rate × travellers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3840479"/>
            <a:ext cx="4160520" cy="548640"/>
          </a:xfrm>
          <a:prstGeom prst="roundRect">
            <a:avLst>
              <a:gd name="adj" fmla="val 16666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635240" y="3886199"/>
            <a:ext cx="1325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4A3A8F"/>
                </a:solidFill>
                <a:latin typeface="Calibri"/>
              </a:rPr>
              <a:t>Between stops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3886199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B2257"/>
                </a:solidFill>
                <a:latin typeface="Calibri"/>
              </a:rPr>
              <a:t>distance × 1.3 road factor × rate per km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4480560"/>
            <a:ext cx="4160520" cy="548640"/>
          </a:xfrm>
          <a:prstGeom prst="roundRect">
            <a:avLst>
              <a:gd name="adj" fmla="val 16666"/>
            </a:avLst>
          </a:prstGeom>
          <a:solidFill>
            <a:srgbClr val="FD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635240" y="4526280"/>
            <a:ext cx="1325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EF7D42"/>
                </a:solidFill>
                <a:latin typeface="Calibri"/>
              </a:rPr>
              <a:t>Buffer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45262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B2257"/>
                </a:solidFill>
                <a:latin typeface="Calibri"/>
              </a:rPr>
              <a:t>+10% for tips, tickets, SIM, laundry</a:t>
            </a:r>
          </a:p>
        </p:txBody>
      </p:sp>
      <p:pic>
        <p:nvPicPr>
          <p:cNvPr id="29" name="Picture 28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5239512"/>
            <a:ext cx="219456" cy="21945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27263" y="5212080"/>
            <a:ext cx="383133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Route map, dated days, season warnings</a:t>
            </a:r>
          </a:p>
        </p:txBody>
      </p:sp>
      <p:pic>
        <p:nvPicPr>
          <p:cNvPr id="31" name="Picture 30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5586984"/>
            <a:ext cx="219456" cy="21945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27263" y="5559552"/>
            <a:ext cx="383133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Target budget meter with advice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Fixed-price trips and registered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WEBSITE WALKTHROUGH  ·  PAGES 04 &amp;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440680" cy="3626738"/>
          </a:xfrm>
          <a:prstGeom prst="roundRect">
            <a:avLst>
              <a:gd name="adj" fmla="val 2521"/>
            </a:avLst>
          </a:prstGeom>
          <a:solidFill>
            <a:srgbClr val="1C1638"/>
          </a:solidFill>
          <a:ln>
            <a:noFill/>
          </a:ln>
          <a:effectLst>
            <a:outerShdw blurRad="228600" dist="50800" dir="5400000" algn="t" rotWithShape="0">
              <a:srgbClr val="1C1638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676656" y="1540764"/>
            <a:ext cx="82296" cy="82296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3816" y="1540764"/>
            <a:ext cx="82296" cy="82296"/>
          </a:xfrm>
          <a:prstGeom prst="ellipse">
            <a:avLst/>
          </a:prstGeom>
          <a:solidFill>
            <a:srgbClr val="FF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0976" y="1540764"/>
            <a:ext cx="82296" cy="82296"/>
          </a:xfrm>
          <a:prstGeom prst="ellipse">
            <a:avLst/>
          </a:prstGeom>
          <a:solidFill>
            <a:srgbClr val="8FD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44827" y="1517904"/>
            <a:ext cx="2448306" cy="137160"/>
          </a:xfrm>
          <a:prstGeom prst="roundRect">
            <a:avLst>
              <a:gd name="adj" fmla="val 46666"/>
            </a:avLst>
          </a:prstGeom>
          <a:solidFill>
            <a:srgbClr val="2B2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044827" y="1513332"/>
            <a:ext cx="2448306" cy="1463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700" b="0" i="0">
                <a:solidFill>
                  <a:srgbClr val="B9A8E6"/>
                </a:solidFill>
                <a:latin typeface="Calibri"/>
              </a:rPr>
              <a:t>pathik / packages.html</a:t>
            </a:r>
          </a:p>
        </p:txBody>
      </p:sp>
      <p:pic>
        <p:nvPicPr>
          <p:cNvPr id="12" name="Picture 11" descr="Screenshot of the Pathik website: pathik / packages.htm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0784"/>
            <a:ext cx="5349240" cy="334327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25780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D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5257800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EF7D42"/>
                </a:solidFill>
                <a:latin typeface="Calibri"/>
              </a:rPr>
              <a:t>PACKAGES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23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B2257"/>
                </a:solidFill>
                <a:latin typeface="Calibri"/>
              </a:rPr>
              <a:t>8 trips with nights, agent rating and any saving. Every card lists what is and isn't included.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1463040"/>
            <a:ext cx="5440680" cy="3626738"/>
          </a:xfrm>
          <a:prstGeom prst="roundRect">
            <a:avLst>
              <a:gd name="adj" fmla="val 2521"/>
            </a:avLst>
          </a:prstGeom>
          <a:solidFill>
            <a:srgbClr val="1C1638"/>
          </a:solidFill>
          <a:ln>
            <a:noFill/>
          </a:ln>
          <a:effectLst>
            <a:outerShdw blurRad="228600" dist="50800" dir="5400000" algn="t" rotWithShape="0">
              <a:srgbClr val="1C1638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327647" y="1540764"/>
            <a:ext cx="82296" cy="82296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64807" y="1540764"/>
            <a:ext cx="82296" cy="82296"/>
          </a:xfrm>
          <a:prstGeom prst="ellipse">
            <a:avLst/>
          </a:prstGeom>
          <a:solidFill>
            <a:srgbClr val="FF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01967" y="1540764"/>
            <a:ext cx="82296" cy="82296"/>
          </a:xfrm>
          <a:prstGeom prst="ellipse">
            <a:avLst/>
          </a:prstGeom>
          <a:solidFill>
            <a:srgbClr val="8FD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95819" y="1517904"/>
            <a:ext cx="2448306" cy="137160"/>
          </a:xfrm>
          <a:prstGeom prst="roundRect">
            <a:avLst>
              <a:gd name="adj" fmla="val 46666"/>
            </a:avLst>
          </a:prstGeom>
          <a:solidFill>
            <a:srgbClr val="2B2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95819" y="1513332"/>
            <a:ext cx="2448306" cy="1463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700" b="0" i="0">
                <a:solidFill>
                  <a:srgbClr val="B9A8E6"/>
                </a:solidFill>
                <a:latin typeface="Calibri"/>
              </a:rPr>
              <a:t>pathik / agents.html</a:t>
            </a:r>
          </a:p>
        </p:txBody>
      </p:sp>
      <p:pic>
        <p:nvPicPr>
          <p:cNvPr id="22" name="Picture 21" descr="Screenshot of the Pathik website: pathik / agents.htm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1" y="1700784"/>
            <a:ext cx="5349240" cy="334327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99631" y="525780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99631" y="5257800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4A3A8F"/>
                </a:solidFill>
                <a:latin typeface="Calibri"/>
              </a:rPr>
              <a:t>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1" y="5623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B2257"/>
                </a:solidFill>
                <a:latin typeface="Calibri"/>
              </a:rPr>
              <a:t>7 registered agents with reply time, rating and languages. The enquiry form attaches your planned trip.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Booking and enquiry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WEBSITE WALKTHROUGH  ·  PAGES 04 &amp; 05 · INTERACTIVE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94460" y="1463040"/>
            <a:ext cx="3749039" cy="3209544"/>
          </a:xfrm>
          <a:prstGeom prst="roundRect">
            <a:avLst>
              <a:gd name="adj" fmla="val 2849"/>
            </a:avLst>
          </a:prstGeom>
          <a:solidFill>
            <a:srgbClr val="1C1638"/>
          </a:solidFill>
          <a:ln>
            <a:noFill/>
          </a:ln>
          <a:effectLst>
            <a:outerShdw blurRad="228600" dist="50800" dir="5400000" algn="t" rotWithShape="0">
              <a:srgbClr val="1C1638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22476" y="1540764"/>
            <a:ext cx="82296" cy="82296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9636" y="1540764"/>
            <a:ext cx="82296" cy="82296"/>
          </a:xfrm>
          <a:prstGeom prst="ellipse">
            <a:avLst/>
          </a:prstGeom>
          <a:solidFill>
            <a:srgbClr val="FF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96796" y="1540764"/>
            <a:ext cx="82296" cy="82296"/>
          </a:xfrm>
          <a:prstGeom prst="ellipse">
            <a:avLst/>
          </a:prstGeom>
          <a:solidFill>
            <a:srgbClr val="8FD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25446" y="1517904"/>
            <a:ext cx="1687068" cy="137160"/>
          </a:xfrm>
          <a:prstGeom prst="roundRect">
            <a:avLst>
              <a:gd name="adj" fmla="val 46666"/>
            </a:avLst>
          </a:prstGeom>
          <a:solidFill>
            <a:srgbClr val="2B2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425446" y="1513332"/>
            <a:ext cx="1687068" cy="1463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700" b="0" i="0">
                <a:solidFill>
                  <a:srgbClr val="B9A8E6"/>
                </a:solidFill>
                <a:latin typeface="Calibri"/>
              </a:rPr>
              <a:t>packages.html · Book</a:t>
            </a:r>
          </a:p>
        </p:txBody>
      </p:sp>
      <p:pic>
        <p:nvPicPr>
          <p:cNvPr id="12" name="Picture 11" descr="Screenshot of the Pathik website: packages.html · Boo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180" y="1700784"/>
            <a:ext cx="3657599" cy="29260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84632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C1638"/>
                </a:solidFill>
                <a:latin typeface="Cambria"/>
              </a:rPr>
              <a:t>Quick book</a:t>
            </a:r>
          </a:p>
        </p:txBody>
      </p:sp>
      <p:pic>
        <p:nvPicPr>
          <p:cNvPr id="14" name="Picture 13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257800"/>
            <a:ext cx="219456" cy="219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7824" y="5230368"/>
            <a:ext cx="511149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Pick a start date and travellers; total updates live</a:t>
            </a:r>
          </a:p>
        </p:txBody>
      </p:sp>
      <p:pic>
        <p:nvPicPr>
          <p:cNvPr id="16" name="Picture 15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605272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" y="5577840"/>
            <a:ext cx="511149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Cart shows a 5% GST line and the 20% due now</a:t>
            </a:r>
          </a:p>
        </p:txBody>
      </p:sp>
      <p:pic>
        <p:nvPicPr>
          <p:cNvPr id="18" name="Picture 17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952744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7824" y="5925312"/>
            <a:ext cx="511149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Checkout form is validated; you get a reference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33971" y="1463040"/>
            <a:ext cx="4572000" cy="3083814"/>
          </a:xfrm>
          <a:prstGeom prst="roundRect">
            <a:avLst>
              <a:gd name="adj" fmla="val 2965"/>
            </a:avLst>
          </a:prstGeom>
          <a:solidFill>
            <a:srgbClr val="1C1638"/>
          </a:solidFill>
          <a:ln>
            <a:noFill/>
          </a:ln>
          <a:effectLst>
            <a:outerShdw blurRad="228600" dist="50800" dir="5400000" algn="t" rotWithShape="0">
              <a:srgbClr val="1C1638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761987" y="1540764"/>
            <a:ext cx="82296" cy="82296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99147" y="1540764"/>
            <a:ext cx="82296" cy="82296"/>
          </a:xfrm>
          <a:prstGeom prst="ellipse">
            <a:avLst/>
          </a:prstGeom>
          <a:solidFill>
            <a:srgbClr val="FF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36307" y="1540764"/>
            <a:ext cx="82296" cy="82296"/>
          </a:xfrm>
          <a:prstGeom prst="ellipse">
            <a:avLst/>
          </a:prstGeom>
          <a:solidFill>
            <a:srgbClr val="8FD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91271" y="1517904"/>
            <a:ext cx="2057400" cy="137160"/>
          </a:xfrm>
          <a:prstGeom prst="roundRect">
            <a:avLst>
              <a:gd name="adj" fmla="val 46666"/>
            </a:avLst>
          </a:prstGeom>
          <a:solidFill>
            <a:srgbClr val="2B2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91271" y="1513332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700" b="0" i="0">
                <a:solidFill>
                  <a:srgbClr val="B9A8E6"/>
                </a:solidFill>
                <a:latin typeface="Calibri"/>
              </a:rPr>
              <a:t>agents.html · Your enquiries</a:t>
            </a:r>
          </a:p>
        </p:txBody>
      </p:sp>
      <p:pic>
        <p:nvPicPr>
          <p:cNvPr id="26" name="Picture 25" descr="Screenshot of the Pathik website: agents.html · Your enquiri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9691" y="1700784"/>
            <a:ext cx="4480560" cy="28003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199631" y="484632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C1638"/>
                </a:solidFill>
                <a:latin typeface="Cambria"/>
              </a:rPr>
              <a:t>Enquiry tracker</a:t>
            </a:r>
          </a:p>
        </p:txBody>
      </p:sp>
      <p:pic>
        <p:nvPicPr>
          <p:cNvPr id="28" name="Picture 27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1" y="5257800"/>
            <a:ext cx="219456" cy="219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528816" y="5230368"/>
            <a:ext cx="511149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Name, 10-digit mobile and email checked before sending</a:t>
            </a:r>
          </a:p>
        </p:txBody>
      </p:sp>
      <p:pic>
        <p:nvPicPr>
          <p:cNvPr id="30" name="Picture 29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1" y="5605272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28816" y="5577840"/>
            <a:ext cx="511149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Status moves from sent to seen to quote ready</a:t>
            </a:r>
          </a:p>
        </p:txBody>
      </p:sp>
      <p:pic>
        <p:nvPicPr>
          <p:cNvPr id="32" name="Picture 31" descr="check-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1" y="5952744"/>
            <a:ext cx="21945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528816" y="5925312"/>
            <a:ext cx="511149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Accept or decline the agent's quote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Built with the web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2194560"/>
          </a:xfrm>
          <a:prstGeom prst="roundRect">
            <a:avLst>
              <a:gd name="adj" fmla="val 5833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de-xml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908810"/>
            <a:ext cx="251460" cy="2514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17319" y="1856231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C1638"/>
                </a:solidFill>
                <a:latin typeface="Calibri"/>
              </a:rPr>
              <a:t>Programming languages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68880"/>
            <a:ext cx="3108960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HTML5 (semantic, accessible markup)</a:t>
            </a:r>
          </a:p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CSS3 (grid, flexbox, custom properties)</a:t>
            </a:r>
          </a:p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JavaScript ES2019+ (no framework)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2194560"/>
          </a:xfrm>
          <a:prstGeom prst="roundRect">
            <a:avLst>
              <a:gd name="adj" fmla="val 5833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26279" y="1783080"/>
            <a:ext cx="502920" cy="50292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ayers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09" y="1908810"/>
            <a:ext cx="251460" cy="2514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6359" y="1856231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C1638"/>
                </a:solidFill>
                <a:latin typeface="Calibri"/>
              </a:rPr>
              <a:t>Libraries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468880"/>
            <a:ext cx="3108960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Three.js r169: 3D hero with custom shaders</a:t>
            </a:r>
          </a:p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Leaflet 1.9 and Google Maps embed</a:t>
            </a:r>
          </a:p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Lucide icons, Google Fonts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566160" cy="2194560"/>
          </a:xfrm>
          <a:prstGeom prst="roundRect">
            <a:avLst>
              <a:gd name="adj" fmla="val 5833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275319" y="1783080"/>
            <a:ext cx="502920" cy="502920"/>
          </a:xfrm>
          <a:prstGeom prst="ellipse">
            <a:avLst/>
          </a:prstGeom>
          <a:solidFill>
            <a:srgbClr val="6A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tabase-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049" y="1908810"/>
            <a:ext cx="251460" cy="2514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399" y="1856231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C1638"/>
                </a:solidFill>
                <a:latin typeface="Calibri"/>
              </a:rPr>
              <a:t>Data and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68880"/>
            <a:ext cx="3108960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localStorage: trip, cart, enquiries, bookings</a:t>
            </a:r>
          </a:p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JSON data: 14 places, 8 packages, 7 agents</a:t>
            </a:r>
          </a:p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No server database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23160" y="3931920"/>
            <a:ext cx="3566160" cy="2194560"/>
          </a:xfrm>
          <a:prstGeom prst="roundRect">
            <a:avLst>
              <a:gd name="adj" fmla="val 5833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651760" y="4160520"/>
            <a:ext cx="502920" cy="50292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rench-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7490" y="4286250"/>
            <a:ext cx="251460" cy="2514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291839" y="4233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C1638"/>
                </a:solidFill>
                <a:latin typeface="Calibri"/>
              </a:rPr>
              <a:t>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4846320"/>
            <a:ext cx="3108960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Node.js, npm and esbuild (bundling)</a:t>
            </a:r>
          </a:p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Playwright (automated UI tests)</a:t>
            </a:r>
          </a:p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Git and GitHub (pull requests)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199" y="3931920"/>
            <a:ext cx="3566160" cy="2194560"/>
          </a:xfrm>
          <a:prstGeom prst="roundRect">
            <a:avLst>
              <a:gd name="adj" fmla="val 5833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400799" y="4160520"/>
            <a:ext cx="502920" cy="50292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loud-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6529" y="4286250"/>
            <a:ext cx="251460" cy="2514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40879" y="4233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C1638"/>
                </a:solidFill>
                <a:latin typeface="Calibri"/>
              </a:rPr>
              <a:t>Services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19" y="4846320"/>
            <a:ext cx="3108960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Wikimedia Commons (licensed photos)</a:t>
            </a:r>
          </a:p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Esri / OpenStreetMap tiles, Google Maps</a:t>
            </a:r>
          </a:p>
          <a:p>
            <a:pPr algn="l" marL="182880" indent="-182880">
              <a:spcAft>
                <a:spcPts val="500"/>
              </a:spcAft>
              <a:buClr>
                <a:srgbClr val="EF7D42"/>
              </a:buClr>
              <a:buFont typeface="Arial"/>
              <a:buChar char="•"/>
            </a:pPr>
            <a:r>
              <a:rPr sz="1200" b="0" i="0">
                <a:solidFill>
                  <a:srgbClr val="2B2257"/>
                </a:solidFill>
                <a:latin typeface="Calibri"/>
              </a:rPr>
              <a:t>Google Fonts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How a visitor uses the site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1664208" cy="2743200"/>
          </a:xfrm>
          <a:prstGeom prst="roundRect">
            <a:avLst>
              <a:gd name="adj" fmla="val 7692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685800" y="1755648"/>
            <a:ext cx="329184" cy="329184"/>
          </a:xfrm>
          <a:prstGeom prst="ellipse">
            <a:avLst/>
          </a:prstGeom>
          <a:solidFill>
            <a:srgbClr val="1C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1037844" y="2240280"/>
            <a:ext cx="685800" cy="68580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ss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294" y="2411730"/>
            <a:ext cx="342900" cy="342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06324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C1638"/>
                </a:solidFill>
                <a:latin typeface="Cambria"/>
              </a:rPr>
              <a:t>Discover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49300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A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43000" y="3493008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4A3A8F"/>
                </a:solidFill>
                <a:latin typeface="Calibri"/>
              </a:rPr>
              <a:t>Home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86200"/>
            <a:ext cx="138988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2B2257"/>
                </a:solidFill>
                <a:latin typeface="Calibri"/>
              </a:rPr>
              <a:t>Search, trip types, in-season picks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31136" y="3291840"/>
            <a:ext cx="182880" cy="0"/>
          </a:xfrm>
          <a:prstGeom prst="line">
            <a:avLst/>
          </a:prstGeom>
          <a:ln w="25400">
            <a:solidFill>
              <a:srgbClr val="EF7D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432304" y="1920240"/>
            <a:ext cx="1664208" cy="27432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2569464" y="1755648"/>
            <a:ext cx="329184" cy="329184"/>
          </a:xfrm>
          <a:prstGeom prst="ellipse">
            <a:avLst/>
          </a:prstGeom>
          <a:solidFill>
            <a:srgbClr val="1C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2921508" y="2240280"/>
            <a:ext cx="685800" cy="68580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ok-open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2958" y="2411730"/>
            <a:ext cx="342900" cy="342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432304" y="306324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C1638"/>
                </a:solidFill>
                <a:latin typeface="Cambria"/>
              </a:rPr>
              <a:t>Learn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16936" y="3493008"/>
            <a:ext cx="6949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A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916936" y="3493008"/>
            <a:ext cx="69494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4A3A8F"/>
                </a:solidFill>
                <a:latin typeface="Calibri"/>
              </a:rPr>
              <a:t>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886200"/>
            <a:ext cx="138988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2B2257"/>
                </a:solidFill>
                <a:latin typeface="Calibri"/>
              </a:rPr>
              <a:t>Season, routes, daily cost, scams, map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14800" y="3291840"/>
            <a:ext cx="182880" cy="0"/>
          </a:xfrm>
          <a:prstGeom prst="line">
            <a:avLst/>
          </a:prstGeom>
          <a:ln w="25400">
            <a:solidFill>
              <a:srgbClr val="EF7D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15968" y="1920240"/>
            <a:ext cx="1664208" cy="2743200"/>
          </a:xfrm>
          <a:prstGeom prst="roundRect">
            <a:avLst>
              <a:gd name="adj" fmla="val 7692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453128" y="1755648"/>
            <a:ext cx="329184" cy="329184"/>
          </a:xfrm>
          <a:prstGeom prst="ellipse">
            <a:avLst/>
          </a:prstGeom>
          <a:solidFill>
            <a:srgbClr val="1C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4805172" y="2240280"/>
            <a:ext cx="685800" cy="68580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oute-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622" y="2411730"/>
            <a:ext cx="342900" cy="3429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15968" y="306324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C1638"/>
                </a:solidFill>
                <a:latin typeface="Cambria"/>
              </a:rPr>
              <a:t>Plan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81144" y="3493008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A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581144" y="3493008"/>
            <a:ext cx="113385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4A3A8F"/>
                </a:solidFill>
                <a:latin typeface="Calibri"/>
              </a:rPr>
              <a:t>Plan &amp;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3128" y="3886200"/>
            <a:ext cx="138988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2B2257"/>
                </a:solidFill>
                <a:latin typeface="Calibri"/>
              </a:rPr>
              <a:t>Add stops, reorder, set nights and dates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98464" y="3291840"/>
            <a:ext cx="182880" cy="0"/>
          </a:xfrm>
          <a:prstGeom prst="line">
            <a:avLst/>
          </a:prstGeom>
          <a:ln w="25400">
            <a:solidFill>
              <a:srgbClr val="EF7D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99631" y="1920240"/>
            <a:ext cx="1664208" cy="27432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6336792" y="1755648"/>
            <a:ext cx="329184" cy="329184"/>
          </a:xfrm>
          <a:prstGeom prst="ellipse">
            <a:avLst/>
          </a:prstGeom>
          <a:solidFill>
            <a:srgbClr val="1C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6688836" y="2240280"/>
            <a:ext cx="685800" cy="68580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wallet-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0286" y="2411730"/>
            <a:ext cx="342900" cy="3429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199631" y="306324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C1638"/>
                </a:solidFill>
                <a:latin typeface="Cambria"/>
              </a:rPr>
              <a:t>Budget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64807" y="3493008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A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64807" y="3493008"/>
            <a:ext cx="113385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4A3A8F"/>
                </a:solidFill>
                <a:latin typeface="Calibri"/>
              </a:rPr>
              <a:t>Plan &amp; budget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6792" y="3886200"/>
            <a:ext cx="138988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2B2257"/>
                </a:solidFill>
                <a:latin typeface="Calibri"/>
              </a:rPr>
              <a:t>Live breakdown, target meter, warnings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82127" y="3291840"/>
            <a:ext cx="182881" cy="0"/>
          </a:xfrm>
          <a:prstGeom prst="line">
            <a:avLst/>
          </a:prstGeom>
          <a:ln w="25400">
            <a:solidFill>
              <a:srgbClr val="EF7D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083296" y="1920240"/>
            <a:ext cx="1664208" cy="2743200"/>
          </a:xfrm>
          <a:prstGeom prst="roundRect">
            <a:avLst>
              <a:gd name="adj" fmla="val 7692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220456" y="1755648"/>
            <a:ext cx="329184" cy="329184"/>
          </a:xfrm>
          <a:prstGeom prst="ellipse">
            <a:avLst/>
          </a:prstGeom>
          <a:solidFill>
            <a:srgbClr val="1C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4" name="Oval 43"/>
          <p:cNvSpPr/>
          <p:nvPr/>
        </p:nvSpPr>
        <p:spPr>
          <a:xfrm>
            <a:off x="8572500" y="2240280"/>
            <a:ext cx="685800" cy="68580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end-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2411730"/>
            <a:ext cx="342900" cy="3429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083296" y="306324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C1638"/>
                </a:solidFill>
                <a:latin typeface="Cambria"/>
              </a:rPr>
              <a:t>Enquire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04504" y="3493008"/>
            <a:ext cx="62179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A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604504" y="3493008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4A3A8F"/>
                </a:solidFill>
                <a:latin typeface="Calibri"/>
              </a:rPr>
              <a:t>Agents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0456" y="3886200"/>
            <a:ext cx="138988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2B2257"/>
                </a:solidFill>
                <a:latin typeface="Calibri"/>
              </a:rPr>
              <a:t>Send the trip to one agent, track the quote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765792" y="3291840"/>
            <a:ext cx="182880" cy="0"/>
          </a:xfrm>
          <a:prstGeom prst="line">
            <a:avLst/>
          </a:prstGeom>
          <a:ln w="25400">
            <a:solidFill>
              <a:srgbClr val="EF7D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966960" y="1920240"/>
            <a:ext cx="1664208" cy="27432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10104120" y="1755648"/>
            <a:ext cx="329184" cy="329184"/>
          </a:xfrm>
          <a:prstGeom prst="ellipse">
            <a:avLst/>
          </a:prstGeom>
          <a:solidFill>
            <a:srgbClr val="1C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3" name="Oval 52"/>
          <p:cNvSpPr/>
          <p:nvPr/>
        </p:nvSpPr>
        <p:spPr>
          <a:xfrm>
            <a:off x="10456164" y="2240280"/>
            <a:ext cx="685800" cy="68580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ticket-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7614" y="2411730"/>
            <a:ext cx="342900" cy="342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966960" y="306324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C1638"/>
                </a:solidFill>
                <a:latin typeface="Cambria"/>
              </a:rPr>
              <a:t>Book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15016" y="3493008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A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0415016" y="3493008"/>
            <a:ext cx="76809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4A3A8F"/>
                </a:solidFill>
                <a:latin typeface="Calibri"/>
              </a:rPr>
              <a:t>Packages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886200"/>
            <a:ext cx="138988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2B2257"/>
                </a:solidFill>
                <a:latin typeface="Calibri"/>
              </a:rPr>
              <a:t>Cart with GST, reserve with 20%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264408" y="4681728"/>
            <a:ext cx="0" cy="393192"/>
          </a:xfrm>
          <a:prstGeom prst="line">
            <a:avLst/>
          </a:prstGeom>
          <a:ln w="19050">
            <a:solidFill>
              <a:srgbClr val="6A57B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264408" y="5074920"/>
            <a:ext cx="7534656" cy="0"/>
          </a:xfrm>
          <a:prstGeom prst="line">
            <a:avLst/>
          </a:prstGeom>
          <a:ln w="19050">
            <a:solidFill>
              <a:srgbClr val="6A57B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799064" y="4690872"/>
            <a:ext cx="0" cy="384048"/>
          </a:xfrm>
          <a:prstGeom prst="line">
            <a:avLst/>
          </a:prstGeom>
          <a:ln w="19050">
            <a:solidFill>
              <a:srgbClr val="6A57B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4206240" y="4919472"/>
            <a:ext cx="374903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206240" y="4919472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4A3A8F"/>
                </a:solidFill>
                <a:latin typeface="Calibri"/>
              </a:rPr>
              <a:t>Shortcut: like a fixed package? Book it directly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7142"/>
            </a:avLst>
          </a:prstGeom>
          <a:solidFill>
            <a:srgbClr val="1C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5" name="Picture 64" descr="refresh-cw-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687568"/>
            <a:ext cx="329184" cy="329184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280160" y="553212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C46B"/>
                </a:solidFill>
                <a:latin typeface="Calibri"/>
              </a:rPr>
              <a:t>Shared state:  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the trip, cart, enquiries and bookings are saved in the browser, so every page and tab stays in sync.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Where this project goes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8444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tabase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908810"/>
            <a:ext cx="251460" cy="2514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063240" y="182880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D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63240" y="1828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EF7D42"/>
                </a:solidFill>
                <a:latin typeface="Calibri"/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423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1638"/>
                </a:solidFill>
                <a:latin typeface="Calibri"/>
              </a:rPr>
              <a:t>Backend and accounts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7889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Save trips across devices; real agent logins.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554480"/>
            <a:ext cx="358444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4526279" y="1783080"/>
            <a:ext cx="502920" cy="50292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ceipt-indian-rupee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09" y="1908810"/>
            <a:ext cx="251460" cy="2514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812279" y="182880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D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12279" y="1828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EF7D42"/>
                </a:solidFill>
                <a:latin typeface="Calibri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2423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1638"/>
                </a:solidFill>
                <a:latin typeface="Calibri"/>
              </a:rPr>
              <a:t>Online payments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7889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UPI and card payments for the 20% reservation.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8444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275319" y="1783080"/>
            <a:ext cx="502920" cy="502920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alendar-days-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049" y="1908810"/>
            <a:ext cx="251460" cy="25146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10561319" y="182880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D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561319" y="1828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EF7D42"/>
                </a:solidFill>
                <a:latin typeface="Calibri"/>
              </a:rPr>
              <a:t>Phase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1" y="2423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1638"/>
                </a:solidFill>
                <a:latin typeface="Calibri"/>
              </a:rPr>
              <a:t>Live availability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1" y="27889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Hotel and train availability on chosen dates.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657600"/>
            <a:ext cx="358444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anguages-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970" y="4011930"/>
            <a:ext cx="251460" cy="25146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063240" y="39319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063240" y="39319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4A3A8F"/>
                </a:solidFill>
                <a:latin typeface="Calibri"/>
              </a:rPr>
              <a:t>Phase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1638"/>
                </a:solidFill>
                <a:latin typeface="Calibri"/>
              </a:rPr>
              <a:t>Hindi and regional languages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8920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Reach travellers beyond English.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79" y="3657600"/>
            <a:ext cx="358444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4526279" y="3886200"/>
            <a:ext cx="502920" cy="50292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martphone-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2009" y="4011930"/>
            <a:ext cx="251460" cy="25146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812279" y="39319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812279" y="39319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4A3A8F"/>
                </a:solidFill>
                <a:latin typeface="Calibri"/>
              </a:rPr>
              <a:t>Phase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1638"/>
                </a:solidFill>
                <a:latin typeface="Calibri"/>
              </a:rPr>
              <a:t>Installable offline app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48920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Itinerary and tickets without signal.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19" y="3657600"/>
            <a:ext cx="358444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275319" y="3886200"/>
            <a:ext cx="502920" cy="502920"/>
          </a:xfrm>
          <a:prstGeom prst="ellipse">
            <a:avLst/>
          </a:prstGeom>
          <a:solidFill>
            <a:srgbClr val="4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mountain-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1049" y="4011930"/>
            <a:ext cx="251460" cy="25146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10561319" y="39319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561319" y="39319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4A3A8F"/>
                </a:solidFill>
                <a:latin typeface="Calibri"/>
              </a:rPr>
              <a:t>Phase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1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1638"/>
                </a:solidFill>
                <a:latin typeface="Calibri"/>
              </a:rPr>
              <a:t>More destinations and reviews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1" y="48920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B2257"/>
                </a:solidFill>
                <a:latin typeface="Calibri"/>
              </a:rPr>
              <a:t>North-east, hill stations, verified traveller reviews.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85216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D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48640" y="58521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EF7D42"/>
                </a:solidFill>
                <a:latin typeface="Calibri"/>
              </a:rPr>
              <a:t>Phase 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" y="58521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D6585"/>
                </a:solidFill>
                <a:latin typeface="Calibri"/>
              </a:rPr>
              <a:t>Next: build the foundation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840480" y="585216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840480" y="58521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4A3A8F"/>
                </a:solidFill>
                <a:latin typeface="Calibri"/>
              </a:rPr>
              <a:t>Phase 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6320" y="58521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D6585"/>
                </a:solidFill>
                <a:latin typeface="Calibri"/>
              </a:rPr>
              <a:t>Later: grow the reach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9052560" cy="713232"/>
          </a:xfrm>
        </p:spPr>
        <p:txBody>
          <a:bodyPr wrap="square" lIns="0" rIns="0" tIns="0" bIns="0" anchor="t"/>
          <a:lstStyle/>
          <a:p>
            <a:pPr algn="l"/>
            <a:r>
              <a:rPr sz="3200" b="1">
                <a:solidFill>
                  <a:srgbClr val="1C1638"/>
                </a:solidFill>
                <a:latin typeface="Cambria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F7D42"/>
                </a:solidFill>
                <a:latin typeface="Calibri"/>
              </a:rPr>
              <a:t>SUMMARY AND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Pathik  ·  Industrial Training Presentation  ·  Session 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D6585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852160" cy="4617720"/>
          </a:xfrm>
          <a:prstGeom prst="roundRect">
            <a:avLst>
              <a:gd name="adj" fmla="val 3168"/>
            </a:avLst>
          </a:prstGeom>
          <a:solidFill>
            <a:srgbClr val="F5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C1638"/>
                </a:solidFill>
                <a:latin typeface="Cambria"/>
              </a:rPr>
              <a:t>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402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B2257"/>
                </a:solidFill>
                <a:latin typeface="Calibri"/>
              </a:rPr>
              <a:t>Pathik turns six separate tasks into one flow: find a place, learn about it, plan the days, see the cost, ask one registered agent, and book with nothing hidden.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EF7D42"/>
                </a:solidFill>
                <a:latin typeface="Cambria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39" y="379476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EF7D42"/>
                </a:solidFill>
                <a:latin typeface="Cambria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39" y="434340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destinations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EF7D42"/>
                </a:solidFill>
                <a:latin typeface="Cambria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440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core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39" y="48920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EF7D42"/>
                </a:solidFill>
                <a:latin typeface="Cambria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39" y="5440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D6585"/>
                </a:solidFill>
                <a:latin typeface="Calibri"/>
              </a:rPr>
              <a:t>servers needed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554480"/>
            <a:ext cx="4965192" cy="4617720"/>
          </a:xfrm>
          <a:prstGeom prst="roundRect">
            <a:avLst>
              <a:gd name="adj" fmla="val 3168"/>
            </a:avLst>
          </a:prstGeom>
          <a:solidFill>
            <a:srgbClr val="1C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40880" y="1920240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74320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FC46B"/>
                </a:solidFill>
                <a:latin typeface="Calibri"/>
              </a:rPr>
              <a:t>Any questions?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0" y="3383280"/>
            <a:ext cx="3017520" cy="2112263"/>
          </a:xfrm>
          <a:prstGeom prst="roundRect">
            <a:avLst>
              <a:gd name="adj" fmla="val 4329"/>
            </a:avLst>
          </a:prstGeom>
          <a:solidFill>
            <a:srgbClr val="1C1638"/>
          </a:solidFill>
          <a:ln>
            <a:noFill/>
          </a:ln>
          <a:effectLst>
            <a:outerShdw blurRad="228600" dist="50800" dir="5400000" algn="t" rotWithShape="0">
              <a:srgbClr val="1C1638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168896" y="3461004"/>
            <a:ext cx="82296" cy="82296"/>
          </a:xfrm>
          <a:prstGeom prst="ellipse">
            <a:avLst/>
          </a:prstGeom>
          <a:solidFill>
            <a:srgbClr val="EF7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06056" y="3461004"/>
            <a:ext cx="82296" cy="82296"/>
          </a:xfrm>
          <a:prstGeom prst="ellipse">
            <a:avLst/>
          </a:prstGeom>
          <a:solidFill>
            <a:srgbClr val="FF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3461004"/>
            <a:ext cx="82296" cy="82296"/>
          </a:xfrm>
          <a:prstGeom prst="ellipse">
            <a:avLst/>
          </a:prstGeom>
          <a:solidFill>
            <a:srgbClr val="8FD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0698" y="3438144"/>
            <a:ext cx="1357884" cy="137160"/>
          </a:xfrm>
          <a:prstGeom prst="roundRect">
            <a:avLst>
              <a:gd name="adj" fmla="val 46666"/>
            </a:avLst>
          </a:prstGeom>
          <a:solidFill>
            <a:srgbClr val="2B22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70698" y="3433572"/>
            <a:ext cx="1357884" cy="1463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700" b="0" i="0">
                <a:solidFill>
                  <a:srgbClr val="B9A8E6"/>
                </a:solidFill>
                <a:latin typeface="Calibri"/>
              </a:rPr>
              <a:t>pathik / home</a:t>
            </a:r>
          </a:p>
        </p:txBody>
      </p:sp>
      <p:pic>
        <p:nvPicPr>
          <p:cNvPr id="26" name="Picture 25" descr="Screenshot of the Pathik website: pathik / hom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3621024"/>
            <a:ext cx="2926079" cy="1828800"/>
          </a:xfrm>
          <a:prstGeom prst="rect">
            <a:avLst/>
          </a:prstGeom>
        </p:spPr>
      </p:pic>
      <p:pic>
        <p:nvPicPr>
          <p:cNvPr id="27" name="Picture 26" descr="git-branch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5733288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06640" y="57150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B9A8E6"/>
                </a:solidFill>
                <a:latin typeface="Calibri"/>
              </a:rPr>
              <a:t>github.com/Hanu2908/intership_project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213</Words>
  <Application>Microsoft Office PowerPoint</Application>
  <PresentationFormat>Widescreen</PresentationFormat>
  <Paragraphs>59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Times New Roman</vt:lpstr>
      <vt:lpstr>Office Theme</vt:lpstr>
      <vt:lpstr>  Swami Keshvanand Institute of Technology, Management &amp; Gramothan, Jaipur “An Autonomous Institute Affiliated to Rajasthan Technical University, Kota”  Department of Information Technology  Industrial Training Presentation On  &lt;Project Name&gt;     Submitted To:                                                                           Submitted By: Ms Shalini Singhal                                                                            Student name              Assistant Professor IT                                                                       University Roll. No.                                              Session 2026-27 </vt:lpstr>
      <vt:lpstr>Outline</vt:lpstr>
      <vt:lpstr>Training Objectives </vt:lpstr>
      <vt:lpstr>Technologies Used </vt:lpstr>
      <vt:lpstr> Project Overview </vt:lpstr>
      <vt:lpstr>Screenshots</vt:lpstr>
      <vt:lpstr> Learning Outcomes </vt:lpstr>
      <vt:lpstr> Future Scope &amp; Conclusion 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Srawan Nath</dc:creator>
  <cp:lastModifiedBy>Anirudh</cp:lastModifiedBy>
  <cp:revision>7</cp:revision>
  <dcterms:created xsi:type="dcterms:W3CDTF">2026-07-18T08:54:45Z</dcterms:created>
  <dcterms:modified xsi:type="dcterms:W3CDTF">2026-09-28T09:12:16Z</dcterms:modified>
</cp:coreProperties>
</file>