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8"/>
    <p:sldId id="258" r:id="rId9"/>
    <p:sldId id="259" r:id="rId10"/>
    <p:sldId id="260" r:id="rId7"/>
    <p:sldId id="261" r:id="rId6"/>
    <p:sldId id="262" r:id="rId5"/>
    <p:sldId id="263" r:id="rId4"/>
    <p:sldId id="264" r:id="rId3"/>
    <p:sldId id="265" r:id="rId16"/>
    <p:sldId id="266" r:id="rId17"/>
    <p:sldId id="267" r:id="rId18"/>
    <p:sldId id="268" r:id="rId19"/>
    <p:sldId id="269" r:id="rId20"/>
    <p:sldId id="270" r:id="rId21"/>
    <p:sldId id="271" r:id="rId22"/>
    <p:sldId id="272" r:id="rId23"/>
    <p:sldId id="2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58"/>
  </p:normalViewPr>
  <p:slideViewPr>
    <p:cSldViewPr snapToGrid="0">
      <p:cViewPr varScale="1">
        <p:scale>
          <a:sx n="65" d="100"/>
          <a:sy n="65" d="100"/>
        </p:scale>
        <p:origin x="92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090B0-ABFE-D74D-BAEB-E84F01A1A659}"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DF5ED-D16E-4C47-9782-89283B7A98F0}" type="slidenum">
              <a:rPr lang="en-US" smtClean="0"/>
              <a:t>‹#›</a:t>
            </a:fld>
            <a:endParaRPr lang="en-US"/>
          </a:p>
        </p:txBody>
      </p:sp>
    </p:spTree>
    <p:extLst>
      <p:ext uri="{BB962C8B-B14F-4D97-AF65-F5344CB8AC3E}">
        <p14:creationId xmlns:p14="http://schemas.microsoft.com/office/powerpoint/2010/main" val="248157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7C08E-BB1C-E98B-58DA-10F649A399B5}"/>
              </a:ext>
            </a:extLst>
          </p:cNvPr>
          <p:cNvSpPr>
            <a:spLocks noGrp="1"/>
          </p:cNvSpPr>
          <p:nvPr>
            <p:ph type="ctrTitle"/>
          </p:nvPr>
        </p:nvSpPr>
        <p:spPr>
          <a:xfrm>
            <a:off x="1524000" y="1122363"/>
            <a:ext cx="9144000" cy="2387600"/>
          </a:xfrm>
        </p:spPr>
        <p:txBody>
          <a:bodyPr anchor="b"/>
          <a:lstStyle>
            <a:lvl1pPr algn="ctr">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B46B4B65-360E-CC39-B312-9BCF914276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9A4CE1D-5019-1D4D-622B-FE5E0F64D8B9}"/>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19585C1C-7837-3F5A-8DBC-7E0245045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06B8AA-7E7A-1205-A07C-8E662491D1A8}"/>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87713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74BD-9F48-26DD-BA41-A68839248A9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9B3B9D-DF61-8F19-DAD1-78E284F12AD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D9F90BD-676E-05B1-9204-C59923E2D429}"/>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03FFA56D-B99B-4656-441F-1B35CE3AE7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F23972-E3FA-28EC-9024-BAE06408286A}"/>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465392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34D63-0CB1-1E54-323B-1F7A6BA9680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4DB028-6792-0849-F702-6BB4EE5FEA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E1F349-2C76-FECB-3601-AB45079E5084}"/>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AA213913-B7EB-1C8F-02F0-2D026A2E2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9217C1-9A14-3F30-44FB-9E7559235103}"/>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11097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AFD69-CF19-B387-53BC-441834CDA04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98082B2-9157-08CA-19C3-CC464520A94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8EE840-61BF-FD81-22F3-39F857AF250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F99381-A8E3-C16E-414C-699E7FF8AC8A}"/>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6" name="Footer Placeholder 5">
            <a:extLst>
              <a:ext uri="{FF2B5EF4-FFF2-40B4-BE49-F238E27FC236}">
                <a16:creationId xmlns:a16="http://schemas.microsoft.com/office/drawing/2014/main" id="{49FD6E51-FCCC-6F9C-37DF-A29E508B50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FEAA18-4680-95E3-F8D7-64EAA225995C}"/>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3130175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01B16-86F2-34CC-7E87-D84129DC22D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25AE97A-B9B2-4E5D-4D57-676CADD7D3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0E94BAC-4A02-F6E6-8959-747FDD9DAEB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B881B52-6A00-0081-4CF0-0F9A3E15C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ED0971A-4DCC-3CAF-51D5-1F6D84295D0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D462994-A070-C143-622E-A7B2ADA749C3}"/>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8" name="Footer Placeholder 7">
            <a:extLst>
              <a:ext uri="{FF2B5EF4-FFF2-40B4-BE49-F238E27FC236}">
                <a16:creationId xmlns:a16="http://schemas.microsoft.com/office/drawing/2014/main" id="{F67AACD3-7F8B-513E-50BC-110FC5BE3A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FE351F-787F-5296-9396-CCF532DB7630}"/>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215830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440BD-9E0E-7948-178C-37092019F35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06374A5-7D38-14BC-6506-2AA512CBD306}"/>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4" name="Footer Placeholder 3">
            <a:extLst>
              <a:ext uri="{FF2B5EF4-FFF2-40B4-BE49-F238E27FC236}">
                <a16:creationId xmlns:a16="http://schemas.microsoft.com/office/drawing/2014/main" id="{428BDA52-32D5-BB63-5FCB-5ADEE7CFB2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6F5501-BAF7-CFDD-3559-0D65A2BB11DF}"/>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359415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1E26E3-98BD-48D0-0D96-0C90801978FF}"/>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3" name="Footer Placeholder 2">
            <a:extLst>
              <a:ext uri="{FF2B5EF4-FFF2-40B4-BE49-F238E27FC236}">
                <a16:creationId xmlns:a16="http://schemas.microsoft.com/office/drawing/2014/main" id="{540CB820-9D4F-9B39-C095-6C6AD91445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333DD-7E18-2000-06A3-0C710EC00D8E}"/>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63104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6121-9684-EC74-74C8-DF968C7C150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BD7388D-8B6E-1581-FEA2-2CC39A85FD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AC90433-4204-AA3C-5941-D6656C757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ABA7D79-D87F-C005-AFCC-565293B6B84D}"/>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6" name="Footer Placeholder 5">
            <a:extLst>
              <a:ext uri="{FF2B5EF4-FFF2-40B4-BE49-F238E27FC236}">
                <a16:creationId xmlns:a16="http://schemas.microsoft.com/office/drawing/2014/main" id="{1C24AF55-233F-A07E-2C35-DEC4A5E775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5785D1-0981-2082-0676-028E0EA803E5}"/>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50389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DC72-551C-CDDD-590A-E1C0195860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C60B7E3-11BC-D92B-F799-2B233AFC6B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FD24B2-AE8C-B37C-735D-BAA026218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4FDEBB-C2C4-9170-16A7-F047256B8B86}"/>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6" name="Footer Placeholder 5">
            <a:extLst>
              <a:ext uri="{FF2B5EF4-FFF2-40B4-BE49-F238E27FC236}">
                <a16:creationId xmlns:a16="http://schemas.microsoft.com/office/drawing/2014/main" id="{9385FFA6-4AFD-CDD8-1826-E863295D7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A04320-8F2A-CC62-54E2-E14A2152E475}"/>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61989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61319-0B46-0C82-B733-E53B2AEE183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1E1AC90-040F-990E-6945-7FCE278F97C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291A66-9E5B-E3BA-7752-824042F661BA}"/>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14941DF6-D1A5-9587-E51B-7D320F1E0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46B4D2-B68C-A251-3220-C38D050F3138}"/>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931956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EFD2BA-B189-DE07-0D15-6B4132FAB19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F63D561-9E4D-54BF-1BEE-622652B7E29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BF8BBD7-996F-E401-AA5D-4E5A28A64587}"/>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D6E907F4-0D7E-4210-D6F7-A22B1E333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BBA1B-C00F-C175-71B0-EF08B1B5ED04}"/>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1264372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8C0509-518C-50C4-A5EA-C275DC6571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5FB7FA5-84C5-D8C9-D3FB-078023D0F2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4556347-5A7A-ED5D-A29D-9728254F19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F498B588-BC48-FDEA-320B-2243CEB99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7E5F08-76DC-F377-052E-D3EE3A4B54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65AF07-03CB-AE45-B17A-7E8EBFBA9B32}" type="slidenum">
              <a:rPr lang="en-US" smtClean="0"/>
              <a:t>‹#›</a:t>
            </a:fld>
            <a:endParaRPr lang="en-US"/>
          </a:p>
        </p:txBody>
      </p:sp>
      <p:pic>
        <p:nvPicPr>
          <p:cNvPr id="8" name="Picture 7">
            <a:extLst>
              <a:ext uri="{FF2B5EF4-FFF2-40B4-BE49-F238E27FC236}">
                <a16:creationId xmlns:a16="http://schemas.microsoft.com/office/drawing/2014/main" id="{68EDCD05-15DF-6C89-92F0-FCF2F9A622A2}"/>
              </a:ext>
            </a:extLst>
          </p:cNvPr>
          <p:cNvPicPr>
            <a:picLocks noChangeAspect="1"/>
          </p:cNvPicPr>
          <p:nvPr userDrawn="1"/>
        </p:nvPicPr>
        <p:blipFill>
          <a:blip r:embed="rId13"/>
          <a:stretch>
            <a:fillRect/>
          </a:stretch>
        </p:blipFill>
        <p:spPr>
          <a:xfrm>
            <a:off x="9982200" y="407988"/>
            <a:ext cx="1270000" cy="1122638"/>
          </a:xfrm>
          <a:prstGeom prst="rect">
            <a:avLst/>
          </a:prstGeom>
        </p:spPr>
      </p:pic>
    </p:spTree>
    <p:extLst>
      <p:ext uri="{BB962C8B-B14F-4D97-AF65-F5344CB8AC3E}">
        <p14:creationId xmlns:p14="http://schemas.microsoft.com/office/powerpoint/2010/main" val="3491647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5.png"/><Relationship Id="rId6" Type="http://schemas.openxmlformats.org/officeDocument/2006/relationships/image" Target="../media/image16.jpg"/><Relationship Id="rId7" Type="http://schemas.openxmlformats.org/officeDocument/2006/relationships/image" Target="../media/image17.png"/><Relationship Id="rId8"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g"/><Relationship Id="rId3"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jp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jp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jp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jpg"/><Relationship Id="rId3" Type="http://schemas.openxmlformats.org/officeDocument/2006/relationships/image" Target="../media/image3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jpg"/><Relationship Id="rId3" Type="http://schemas.openxmlformats.org/officeDocument/2006/relationships/image" Target="../media/image11.png"/><Relationship Id="rId4" Type="http://schemas.openxmlformats.org/officeDocument/2006/relationships/image" Target="../media/image3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29.png"/><Relationship Id="rId5" Type="http://schemas.openxmlformats.org/officeDocument/2006/relationships/image" Target="../media/image38.png"/><Relationship Id="rId6"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26.png"/><Relationship Id="rId7"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CCF10-55B5-C771-BFE6-BD818D8AEAB1}"/>
              </a:ext>
            </a:extLst>
          </p:cNvPr>
          <p:cNvSpPr>
            <a:spLocks noGrp="1"/>
          </p:cNvSpPr>
          <p:nvPr>
            <p:ph type="ctrTitle"/>
          </p:nvPr>
        </p:nvSpPr>
        <p:spPr>
          <a:xfrm>
            <a:off x="318977" y="244548"/>
            <a:ext cx="11079125" cy="6379535"/>
          </a:xfrm>
        </p:spPr>
        <p:txBody>
          <a:bodyPr>
            <a:normAutofit fontScale="90000"/>
          </a:bodyPr>
          <a:lstStyle/>
          <a:p>
            <a:pPr marL="0" marR="0" lvl="0" indent="0" defTabSz="457200" rtl="0" eaLnBrk="1" fontAlgn="auto" latinLnBrk="0" hangingPunct="1">
              <a:lnSpc>
                <a:spcPct val="100000"/>
              </a:lnSpc>
              <a:spcBef>
                <a:spcPts val="0"/>
              </a:spcBef>
              <a:spcAft>
                <a:spcPts val="0"/>
              </a:spcAft>
              <a:tabLst/>
              <a:defRPr/>
            </a:pP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Swami </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Keshvanand</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Institute of Technology, Management &amp; </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Gramothan</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Jaipur</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Cambria" panose="02040503050406030204" pitchFamily="18" charset="0"/>
                <a:cs typeface="Times New Roman" panose="02020603050405020304" pitchFamily="18" charset="0"/>
              </a:rPr>
              <a:t>“An Autonomous Institute Affiliated to Rajasthan Technical University, Kota”</a:t>
            </a:r>
            <a:b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Department of Information Technology</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Calibri"/>
                <a:ea typeface="+mn-ea"/>
                <a:cs typeface="+mn-cs"/>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Industrial Training Presentation</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 </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Pathik: A Trip Planner for India</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Submitted To:                                                                           Submitted By:</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Ms Shalini Singhal                                                                            Student name</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Assistant Professor IT                                                                       University Roll. No.  </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Session 2026-27</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US" dirty="0"/>
          </a:p>
        </p:txBody>
      </p:sp>
    </p:spTree>
    <p:extLst>
      <p:ext uri="{BB962C8B-B14F-4D97-AF65-F5344CB8AC3E}">
        <p14:creationId xmlns:p14="http://schemas.microsoft.com/office/powerpoint/2010/main" val="680133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Agenda</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WHAT WE'LL COVER</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a:t>
            </a:r>
          </a:p>
        </p:txBody>
      </p:sp>
      <p:sp>
        <p:nvSpPr>
          <p:cNvPr id="6" name="Rounded Rectangle 5"/>
          <p:cNvSpPr/>
          <p:nvPr/>
        </p:nvSpPr>
        <p:spPr>
          <a:xfrm>
            <a:off x="548640" y="1600200"/>
            <a:ext cx="5486400" cy="960120"/>
          </a:xfrm>
          <a:prstGeom prst="roundRect">
            <a:avLst>
              <a:gd name="adj" fmla="val 133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755648"/>
            <a:ext cx="822960" cy="640080"/>
          </a:xfrm>
          <a:prstGeom prst="rect">
            <a:avLst/>
          </a:prstGeom>
          <a:noFill/>
        </p:spPr>
        <p:txBody>
          <a:bodyPr wrap="square" lIns="0" rIns="0" tIns="0" bIns="0" anchor="ctr">
            <a:noAutofit/>
          </a:bodyPr>
          <a:lstStyle/>
          <a:p>
            <a:pPr algn="l">
              <a:spcAft>
                <a:spcPts val="400"/>
              </a:spcAft>
            </a:pPr>
            <a:r>
              <a:rPr sz="2600" b="1" i="0">
                <a:solidFill>
                  <a:srgbClr val="EF7D42"/>
                </a:solidFill>
                <a:latin typeface="Cambria"/>
              </a:rPr>
              <a:t>01</a:t>
            </a:r>
          </a:p>
        </p:txBody>
      </p:sp>
      <p:sp>
        <p:nvSpPr>
          <p:cNvPr id="8" name="TextBox 7"/>
          <p:cNvSpPr txBox="1"/>
          <p:nvPr/>
        </p:nvSpPr>
        <p:spPr>
          <a:xfrm>
            <a:off x="1691640" y="1783080"/>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Project Introduction</a:t>
            </a:r>
          </a:p>
        </p:txBody>
      </p:sp>
      <p:sp>
        <p:nvSpPr>
          <p:cNvPr id="9" name="TextBox 8"/>
          <p:cNvSpPr txBox="1"/>
          <p:nvPr/>
        </p:nvSpPr>
        <p:spPr>
          <a:xfrm>
            <a:off x="1691640" y="2112264"/>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What Pathik is and who it is for</a:t>
            </a:r>
          </a:p>
        </p:txBody>
      </p:sp>
      <p:sp>
        <p:nvSpPr>
          <p:cNvPr id="10" name="Rounded Rectangle 9"/>
          <p:cNvSpPr/>
          <p:nvPr/>
        </p:nvSpPr>
        <p:spPr>
          <a:xfrm>
            <a:off x="6153912" y="1600200"/>
            <a:ext cx="5486400" cy="960120"/>
          </a:xfrm>
          <a:prstGeom prst="roundRect">
            <a:avLst>
              <a:gd name="adj" fmla="val 133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28231" y="1755648"/>
            <a:ext cx="822960" cy="640080"/>
          </a:xfrm>
          <a:prstGeom prst="rect">
            <a:avLst/>
          </a:prstGeom>
          <a:noFill/>
        </p:spPr>
        <p:txBody>
          <a:bodyPr wrap="square" lIns="0" rIns="0" tIns="0" bIns="0" anchor="ctr">
            <a:noAutofit/>
          </a:bodyPr>
          <a:lstStyle/>
          <a:p>
            <a:pPr algn="l">
              <a:spcAft>
                <a:spcPts val="400"/>
              </a:spcAft>
            </a:pPr>
            <a:r>
              <a:rPr sz="2600" b="1" i="0">
                <a:solidFill>
                  <a:srgbClr val="4A3A8F"/>
                </a:solidFill>
                <a:latin typeface="Cambria"/>
              </a:rPr>
              <a:t>02</a:t>
            </a:r>
          </a:p>
        </p:txBody>
      </p:sp>
      <p:sp>
        <p:nvSpPr>
          <p:cNvPr id="12" name="TextBox 11"/>
          <p:cNvSpPr txBox="1"/>
          <p:nvPr/>
        </p:nvSpPr>
        <p:spPr>
          <a:xfrm>
            <a:off x="7296912" y="1783080"/>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Problem &amp; Objectives</a:t>
            </a:r>
          </a:p>
        </p:txBody>
      </p:sp>
      <p:sp>
        <p:nvSpPr>
          <p:cNvPr id="13" name="TextBox 12"/>
          <p:cNvSpPr txBox="1"/>
          <p:nvPr/>
        </p:nvSpPr>
        <p:spPr>
          <a:xfrm>
            <a:off x="7296912" y="2112264"/>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Why the project exists and its goals</a:t>
            </a:r>
          </a:p>
        </p:txBody>
      </p:sp>
      <p:sp>
        <p:nvSpPr>
          <p:cNvPr id="14" name="Rounded Rectangle 13"/>
          <p:cNvSpPr/>
          <p:nvPr/>
        </p:nvSpPr>
        <p:spPr>
          <a:xfrm>
            <a:off x="548640" y="2715768"/>
            <a:ext cx="5486400" cy="960120"/>
          </a:xfrm>
          <a:prstGeom prst="roundRect">
            <a:avLst>
              <a:gd name="adj" fmla="val 133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2871215"/>
            <a:ext cx="822960" cy="640080"/>
          </a:xfrm>
          <a:prstGeom prst="rect">
            <a:avLst/>
          </a:prstGeom>
          <a:noFill/>
        </p:spPr>
        <p:txBody>
          <a:bodyPr wrap="square" lIns="0" rIns="0" tIns="0" bIns="0" anchor="ctr">
            <a:noAutofit/>
          </a:bodyPr>
          <a:lstStyle/>
          <a:p>
            <a:pPr algn="l">
              <a:spcAft>
                <a:spcPts val="400"/>
              </a:spcAft>
            </a:pPr>
            <a:r>
              <a:rPr sz="2600" b="1" i="0">
                <a:solidFill>
                  <a:srgbClr val="EF7D42"/>
                </a:solidFill>
                <a:latin typeface="Cambria"/>
              </a:rPr>
              <a:t>03</a:t>
            </a:r>
          </a:p>
        </p:txBody>
      </p:sp>
      <p:sp>
        <p:nvSpPr>
          <p:cNvPr id="16" name="TextBox 15"/>
          <p:cNvSpPr txBox="1"/>
          <p:nvPr/>
        </p:nvSpPr>
        <p:spPr>
          <a:xfrm>
            <a:off x="1691640" y="2898648"/>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Key Features</a:t>
            </a:r>
          </a:p>
        </p:txBody>
      </p:sp>
      <p:sp>
        <p:nvSpPr>
          <p:cNvPr id="17" name="TextBox 16"/>
          <p:cNvSpPr txBox="1"/>
          <p:nvPr/>
        </p:nvSpPr>
        <p:spPr>
          <a:xfrm>
            <a:off x="1691640" y="3227832"/>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Six things the site does for a traveller</a:t>
            </a:r>
          </a:p>
        </p:txBody>
      </p:sp>
      <p:sp>
        <p:nvSpPr>
          <p:cNvPr id="18" name="Rounded Rectangle 17"/>
          <p:cNvSpPr/>
          <p:nvPr/>
        </p:nvSpPr>
        <p:spPr>
          <a:xfrm>
            <a:off x="6153912" y="2715768"/>
            <a:ext cx="5486400" cy="960120"/>
          </a:xfrm>
          <a:prstGeom prst="roundRect">
            <a:avLst>
              <a:gd name="adj" fmla="val 133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28231" y="2871215"/>
            <a:ext cx="822960" cy="640080"/>
          </a:xfrm>
          <a:prstGeom prst="rect">
            <a:avLst/>
          </a:prstGeom>
          <a:noFill/>
        </p:spPr>
        <p:txBody>
          <a:bodyPr wrap="square" lIns="0" rIns="0" tIns="0" bIns="0" anchor="ctr">
            <a:noAutofit/>
          </a:bodyPr>
          <a:lstStyle/>
          <a:p>
            <a:pPr algn="l">
              <a:spcAft>
                <a:spcPts val="400"/>
              </a:spcAft>
            </a:pPr>
            <a:r>
              <a:rPr sz="2600" b="1" i="0">
                <a:solidFill>
                  <a:srgbClr val="4A3A8F"/>
                </a:solidFill>
                <a:latin typeface="Cambria"/>
              </a:rPr>
              <a:t>04</a:t>
            </a:r>
          </a:p>
        </p:txBody>
      </p:sp>
      <p:sp>
        <p:nvSpPr>
          <p:cNvPr id="20" name="TextBox 19"/>
          <p:cNvSpPr txBox="1"/>
          <p:nvPr/>
        </p:nvSpPr>
        <p:spPr>
          <a:xfrm>
            <a:off x="7296912" y="2898648"/>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Website Walkthrough</a:t>
            </a:r>
          </a:p>
        </p:txBody>
      </p:sp>
      <p:sp>
        <p:nvSpPr>
          <p:cNvPr id="21" name="TextBox 20"/>
          <p:cNvSpPr txBox="1"/>
          <p:nvPr/>
        </p:nvSpPr>
        <p:spPr>
          <a:xfrm>
            <a:off x="7296912" y="3227832"/>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A screenshot tour of every page</a:t>
            </a:r>
          </a:p>
        </p:txBody>
      </p:sp>
      <p:sp>
        <p:nvSpPr>
          <p:cNvPr id="22" name="Rounded Rectangle 21"/>
          <p:cNvSpPr/>
          <p:nvPr/>
        </p:nvSpPr>
        <p:spPr>
          <a:xfrm>
            <a:off x="548640" y="3831335"/>
            <a:ext cx="5486400" cy="960120"/>
          </a:xfrm>
          <a:prstGeom prst="roundRect">
            <a:avLst>
              <a:gd name="adj" fmla="val 133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59" y="3986783"/>
            <a:ext cx="822960" cy="640080"/>
          </a:xfrm>
          <a:prstGeom prst="rect">
            <a:avLst/>
          </a:prstGeom>
          <a:noFill/>
        </p:spPr>
        <p:txBody>
          <a:bodyPr wrap="square" lIns="0" rIns="0" tIns="0" bIns="0" anchor="ctr">
            <a:noAutofit/>
          </a:bodyPr>
          <a:lstStyle/>
          <a:p>
            <a:pPr algn="l">
              <a:spcAft>
                <a:spcPts val="400"/>
              </a:spcAft>
            </a:pPr>
            <a:r>
              <a:rPr sz="2600" b="1" i="0">
                <a:solidFill>
                  <a:srgbClr val="EF7D42"/>
                </a:solidFill>
                <a:latin typeface="Cambria"/>
              </a:rPr>
              <a:t>05</a:t>
            </a:r>
          </a:p>
        </p:txBody>
      </p:sp>
      <p:sp>
        <p:nvSpPr>
          <p:cNvPr id="24" name="TextBox 23"/>
          <p:cNvSpPr txBox="1"/>
          <p:nvPr/>
        </p:nvSpPr>
        <p:spPr>
          <a:xfrm>
            <a:off x="1691640" y="4014215"/>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Tech Stack</a:t>
            </a:r>
          </a:p>
        </p:txBody>
      </p:sp>
      <p:sp>
        <p:nvSpPr>
          <p:cNvPr id="25" name="TextBox 24"/>
          <p:cNvSpPr txBox="1"/>
          <p:nvPr/>
        </p:nvSpPr>
        <p:spPr>
          <a:xfrm>
            <a:off x="1691640" y="4343400"/>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Languages, libraries and tools used</a:t>
            </a:r>
          </a:p>
        </p:txBody>
      </p:sp>
      <p:sp>
        <p:nvSpPr>
          <p:cNvPr id="26" name="Rounded Rectangle 25"/>
          <p:cNvSpPr/>
          <p:nvPr/>
        </p:nvSpPr>
        <p:spPr>
          <a:xfrm>
            <a:off x="6153912" y="3831335"/>
            <a:ext cx="5486400" cy="960120"/>
          </a:xfrm>
          <a:prstGeom prst="roundRect">
            <a:avLst>
              <a:gd name="adj" fmla="val 133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28231" y="3986783"/>
            <a:ext cx="822960" cy="640080"/>
          </a:xfrm>
          <a:prstGeom prst="rect">
            <a:avLst/>
          </a:prstGeom>
          <a:noFill/>
        </p:spPr>
        <p:txBody>
          <a:bodyPr wrap="square" lIns="0" rIns="0" tIns="0" bIns="0" anchor="ctr">
            <a:noAutofit/>
          </a:bodyPr>
          <a:lstStyle/>
          <a:p>
            <a:pPr algn="l">
              <a:spcAft>
                <a:spcPts val="400"/>
              </a:spcAft>
            </a:pPr>
            <a:r>
              <a:rPr sz="2600" b="1" i="0">
                <a:solidFill>
                  <a:srgbClr val="4A3A8F"/>
                </a:solidFill>
                <a:latin typeface="Cambria"/>
              </a:rPr>
              <a:t>06</a:t>
            </a:r>
          </a:p>
        </p:txBody>
      </p:sp>
      <p:sp>
        <p:nvSpPr>
          <p:cNvPr id="28" name="TextBox 27"/>
          <p:cNvSpPr txBox="1"/>
          <p:nvPr/>
        </p:nvSpPr>
        <p:spPr>
          <a:xfrm>
            <a:off x="7296912" y="4014215"/>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User Journey</a:t>
            </a:r>
          </a:p>
        </p:txBody>
      </p:sp>
      <p:sp>
        <p:nvSpPr>
          <p:cNvPr id="29" name="TextBox 28"/>
          <p:cNvSpPr txBox="1"/>
          <p:nvPr/>
        </p:nvSpPr>
        <p:spPr>
          <a:xfrm>
            <a:off x="7296912" y="4343400"/>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How a visitor moves from idea to booking</a:t>
            </a:r>
          </a:p>
        </p:txBody>
      </p:sp>
      <p:sp>
        <p:nvSpPr>
          <p:cNvPr id="30" name="Rounded Rectangle 29"/>
          <p:cNvSpPr/>
          <p:nvPr/>
        </p:nvSpPr>
        <p:spPr>
          <a:xfrm>
            <a:off x="548640" y="4946904"/>
            <a:ext cx="5486400" cy="960120"/>
          </a:xfrm>
          <a:prstGeom prst="roundRect">
            <a:avLst>
              <a:gd name="adj" fmla="val 133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2959" y="5102352"/>
            <a:ext cx="822960" cy="640080"/>
          </a:xfrm>
          <a:prstGeom prst="rect">
            <a:avLst/>
          </a:prstGeom>
          <a:noFill/>
        </p:spPr>
        <p:txBody>
          <a:bodyPr wrap="square" lIns="0" rIns="0" tIns="0" bIns="0" anchor="ctr">
            <a:noAutofit/>
          </a:bodyPr>
          <a:lstStyle/>
          <a:p>
            <a:pPr algn="l">
              <a:spcAft>
                <a:spcPts val="400"/>
              </a:spcAft>
            </a:pPr>
            <a:r>
              <a:rPr sz="2600" b="1" i="0">
                <a:solidFill>
                  <a:srgbClr val="EF7D42"/>
                </a:solidFill>
                <a:latin typeface="Cambria"/>
              </a:rPr>
              <a:t>07</a:t>
            </a:r>
          </a:p>
        </p:txBody>
      </p:sp>
      <p:sp>
        <p:nvSpPr>
          <p:cNvPr id="32" name="TextBox 31"/>
          <p:cNvSpPr txBox="1"/>
          <p:nvPr/>
        </p:nvSpPr>
        <p:spPr>
          <a:xfrm>
            <a:off x="1691640" y="5129784"/>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Future Scope</a:t>
            </a:r>
          </a:p>
        </p:txBody>
      </p:sp>
      <p:sp>
        <p:nvSpPr>
          <p:cNvPr id="33" name="TextBox 32"/>
          <p:cNvSpPr txBox="1"/>
          <p:nvPr/>
        </p:nvSpPr>
        <p:spPr>
          <a:xfrm>
            <a:off x="1691640" y="5458968"/>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What comes next</a:t>
            </a:r>
          </a:p>
        </p:txBody>
      </p:sp>
      <p:sp>
        <p:nvSpPr>
          <p:cNvPr id="34" name="Rounded Rectangle 33"/>
          <p:cNvSpPr/>
          <p:nvPr/>
        </p:nvSpPr>
        <p:spPr>
          <a:xfrm>
            <a:off x="6153912" y="4946904"/>
            <a:ext cx="5486400" cy="960120"/>
          </a:xfrm>
          <a:prstGeom prst="roundRect">
            <a:avLst>
              <a:gd name="adj" fmla="val 133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28231" y="5102352"/>
            <a:ext cx="822960" cy="640080"/>
          </a:xfrm>
          <a:prstGeom prst="rect">
            <a:avLst/>
          </a:prstGeom>
          <a:noFill/>
        </p:spPr>
        <p:txBody>
          <a:bodyPr wrap="square" lIns="0" rIns="0" tIns="0" bIns="0" anchor="ctr">
            <a:noAutofit/>
          </a:bodyPr>
          <a:lstStyle/>
          <a:p>
            <a:pPr algn="l">
              <a:spcAft>
                <a:spcPts val="400"/>
              </a:spcAft>
            </a:pPr>
            <a:r>
              <a:rPr sz="2600" b="1" i="0">
                <a:solidFill>
                  <a:srgbClr val="4A3A8F"/>
                </a:solidFill>
                <a:latin typeface="Cambria"/>
              </a:rPr>
              <a:t>08</a:t>
            </a:r>
          </a:p>
        </p:txBody>
      </p:sp>
      <p:sp>
        <p:nvSpPr>
          <p:cNvPr id="36" name="TextBox 35"/>
          <p:cNvSpPr txBox="1"/>
          <p:nvPr/>
        </p:nvSpPr>
        <p:spPr>
          <a:xfrm>
            <a:off x="7296912" y="5129784"/>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libri"/>
              </a:rPr>
              <a:t>Conclusion</a:t>
            </a:r>
          </a:p>
        </p:txBody>
      </p:sp>
      <p:sp>
        <p:nvSpPr>
          <p:cNvPr id="37" name="TextBox 36"/>
          <p:cNvSpPr txBox="1"/>
          <p:nvPr/>
        </p:nvSpPr>
        <p:spPr>
          <a:xfrm>
            <a:off x="7296912" y="5458968"/>
            <a:ext cx="42062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Summary and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What is Pathik?</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INTRODUCTION</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3</a:t>
            </a:r>
          </a:p>
        </p:txBody>
      </p:sp>
      <p:sp>
        <p:nvSpPr>
          <p:cNvPr id="6" name="TextBox 5"/>
          <p:cNvSpPr txBox="1"/>
          <p:nvPr/>
        </p:nvSpPr>
        <p:spPr>
          <a:xfrm>
            <a:off x="548640" y="1600200"/>
            <a:ext cx="6309360" cy="4480560"/>
          </a:xfrm>
          <a:prstGeom prst="rect">
            <a:avLst/>
          </a:prstGeom>
          <a:noFill/>
        </p:spPr>
        <p:txBody>
          <a:bodyPr wrap="square" lIns="0" rIns="0" tIns="0" bIns="0" anchor="t">
            <a:noAutofit/>
          </a:bodyPr>
          <a:lstStyle/>
          <a:p>
            <a:pPr algn="l">
              <a:lnSpc>
                <a:spcPct val="110000"/>
              </a:lnSpc>
              <a:spcAft>
                <a:spcPts val="1400"/>
              </a:spcAft>
            </a:pPr>
            <a:r>
              <a:rPr sz="1500" b="0" i="0">
                <a:solidFill>
                  <a:srgbClr val="2B2257"/>
                </a:solidFill>
                <a:latin typeface="Calibri"/>
              </a:rPr>
              <a:t>Pathik (पथिक, 'wayfarer') is a trip planner for India. It puts the whole journey of planning a trip in one website: finding a place, learning what it is really like, planning the days, seeing the cost, asking a registered agent and booking.</a:t>
            </a:r>
          </a:p>
          <a:p>
            <a:pPr algn="l">
              <a:lnSpc>
                <a:spcPct val="110000"/>
              </a:lnSpc>
              <a:spcAft>
                <a:spcPts val="1400"/>
              </a:spcAft>
            </a:pPr>
            <a:r>
              <a:rPr sz="1500" b="0" i="0">
                <a:solidFill>
                  <a:srgbClr val="2B2257"/>
                </a:solidFill>
                <a:latin typeface="Calibri"/>
              </a:rPr>
              <a:t>It runs entirely in the browser with HTML, CSS and JavaScript. Two Three.js scenes (the home hero and the Season map), maps that draw India's official outline, and real photos from Wikimedia Commons sit on top of a small shared data and state layer. Trips, carts and enquiries are saved in the browser, so nothing needs a server.</a:t>
            </a:r>
          </a:p>
          <a:p>
            <a:pPr algn="l">
              <a:lnSpc>
                <a:spcPct val="110000"/>
              </a:lnSpc>
              <a:spcAft>
                <a:spcPts val="1400"/>
              </a:spcAft>
            </a:pPr>
            <a:r>
              <a:rPr sz="1500" b="0" i="0">
                <a:solidFill>
                  <a:srgbClr val="2B2257"/>
                </a:solidFill>
                <a:latin typeface="Calibri"/>
              </a:rPr>
              <a:t>Every page works on phones, tablets and desktops, and opens straight from a file as well as from a web server.</a:t>
            </a:r>
          </a:p>
        </p:txBody>
      </p:sp>
      <p:sp>
        <p:nvSpPr>
          <p:cNvPr id="7" name="Rounded Rectangle 6"/>
          <p:cNvSpPr/>
          <p:nvPr/>
        </p:nvSpPr>
        <p:spPr>
          <a:xfrm>
            <a:off x="7315200" y="1600200"/>
            <a:ext cx="4325112" cy="4480560"/>
          </a:xfrm>
          <a:prstGeom prst="roundRect">
            <a:avLst>
              <a:gd name="adj" fmla="val 3382"/>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680960" y="1828800"/>
            <a:ext cx="3657600" cy="685800"/>
          </a:xfrm>
          <a:prstGeom prst="rect">
            <a:avLst/>
          </a:prstGeom>
          <a:noFill/>
        </p:spPr>
        <p:txBody>
          <a:bodyPr wrap="square" lIns="0" rIns="0" tIns="0" bIns="0" anchor="t">
            <a:noAutofit/>
          </a:bodyPr>
          <a:lstStyle/>
          <a:p>
            <a:pPr algn="l">
              <a:spcAft>
                <a:spcPts val="400"/>
              </a:spcAft>
            </a:pPr>
            <a:r>
              <a:rPr sz="4000" b="1" i="0">
                <a:solidFill>
                  <a:srgbClr val="FFC46B"/>
                </a:solidFill>
                <a:latin typeface="Cambria"/>
              </a:rPr>
              <a:t>6</a:t>
            </a:r>
          </a:p>
        </p:txBody>
      </p:sp>
      <p:sp>
        <p:nvSpPr>
          <p:cNvPr id="9" name="TextBox 8"/>
          <p:cNvSpPr txBox="1"/>
          <p:nvPr/>
        </p:nvSpPr>
        <p:spPr>
          <a:xfrm>
            <a:off x="7680960" y="2560320"/>
            <a:ext cx="3657600" cy="365760"/>
          </a:xfrm>
          <a:prstGeom prst="rect">
            <a:avLst/>
          </a:prstGeom>
          <a:noFill/>
        </p:spPr>
        <p:txBody>
          <a:bodyPr wrap="square" lIns="0" rIns="0" tIns="0" bIns="0" anchor="t">
            <a:noAutofit/>
          </a:bodyPr>
          <a:lstStyle/>
          <a:p>
            <a:pPr algn="l">
              <a:spcAft>
                <a:spcPts val="400"/>
              </a:spcAft>
            </a:pPr>
            <a:r>
              <a:rPr sz="1100" b="1" i="0">
                <a:solidFill>
                  <a:srgbClr val="B9A8E6"/>
                </a:solidFill>
                <a:latin typeface="Calibri"/>
              </a:rPr>
              <a:t>MAIN PAGES</a:t>
            </a:r>
          </a:p>
        </p:txBody>
      </p:sp>
      <p:cxnSp>
        <p:nvCxnSpPr>
          <p:cNvPr id="10" name="Connector 9"/>
          <p:cNvCxnSpPr/>
          <p:nvPr/>
        </p:nvCxnSpPr>
        <p:spPr>
          <a:xfrm>
            <a:off x="7680960" y="3044952"/>
            <a:ext cx="3611880" cy="0"/>
          </a:xfrm>
          <a:prstGeom prst="line">
            <a:avLst/>
          </a:prstGeom>
          <a:ln w="12700">
            <a:solidFill>
              <a:srgbClr val="2B225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680960" y="3200400"/>
            <a:ext cx="3657600" cy="685800"/>
          </a:xfrm>
          <a:prstGeom prst="rect">
            <a:avLst/>
          </a:prstGeom>
          <a:noFill/>
        </p:spPr>
        <p:txBody>
          <a:bodyPr wrap="square" lIns="0" rIns="0" tIns="0" bIns="0" anchor="t">
            <a:noAutofit/>
          </a:bodyPr>
          <a:lstStyle/>
          <a:p>
            <a:pPr algn="l">
              <a:spcAft>
                <a:spcPts val="400"/>
              </a:spcAft>
            </a:pPr>
            <a:r>
              <a:rPr sz="4000" b="1" i="0">
                <a:solidFill>
                  <a:srgbClr val="FFC46B"/>
                </a:solidFill>
                <a:latin typeface="Cambria"/>
              </a:rPr>
              <a:t>23</a:t>
            </a:r>
          </a:p>
        </p:txBody>
      </p:sp>
      <p:sp>
        <p:nvSpPr>
          <p:cNvPr id="12" name="TextBox 11"/>
          <p:cNvSpPr txBox="1"/>
          <p:nvPr/>
        </p:nvSpPr>
        <p:spPr>
          <a:xfrm>
            <a:off x="7680960" y="3931920"/>
            <a:ext cx="3657600" cy="365760"/>
          </a:xfrm>
          <a:prstGeom prst="rect">
            <a:avLst/>
          </a:prstGeom>
          <a:noFill/>
        </p:spPr>
        <p:txBody>
          <a:bodyPr wrap="square" lIns="0" rIns="0" tIns="0" bIns="0" anchor="t">
            <a:noAutofit/>
          </a:bodyPr>
          <a:lstStyle/>
          <a:p>
            <a:pPr algn="l">
              <a:spcAft>
                <a:spcPts val="400"/>
              </a:spcAft>
            </a:pPr>
            <a:r>
              <a:rPr sz="1100" b="1" i="0">
                <a:solidFill>
                  <a:srgbClr val="B9A8E6"/>
                </a:solidFill>
                <a:latin typeface="Calibri"/>
              </a:rPr>
              <a:t>DESTINATIONS WITH REAL COSTS</a:t>
            </a:r>
          </a:p>
        </p:txBody>
      </p:sp>
      <p:cxnSp>
        <p:nvCxnSpPr>
          <p:cNvPr id="13" name="Connector 12"/>
          <p:cNvCxnSpPr/>
          <p:nvPr/>
        </p:nvCxnSpPr>
        <p:spPr>
          <a:xfrm>
            <a:off x="7680960" y="4416552"/>
            <a:ext cx="3611880" cy="0"/>
          </a:xfrm>
          <a:prstGeom prst="line">
            <a:avLst/>
          </a:prstGeom>
          <a:ln w="12700">
            <a:solidFill>
              <a:srgbClr val="2B22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4572000"/>
            <a:ext cx="3657600" cy="685800"/>
          </a:xfrm>
          <a:prstGeom prst="rect">
            <a:avLst/>
          </a:prstGeom>
          <a:noFill/>
        </p:spPr>
        <p:txBody>
          <a:bodyPr wrap="square" lIns="0" rIns="0" tIns="0" bIns="0" anchor="t">
            <a:noAutofit/>
          </a:bodyPr>
          <a:lstStyle/>
          <a:p>
            <a:pPr algn="l">
              <a:spcAft>
                <a:spcPts val="400"/>
              </a:spcAft>
            </a:pPr>
            <a:r>
              <a:rPr sz="4000" b="1" i="0">
                <a:solidFill>
                  <a:srgbClr val="FFC46B"/>
                </a:solidFill>
                <a:latin typeface="Cambria"/>
              </a:rPr>
              <a:t>₹0</a:t>
            </a:r>
          </a:p>
        </p:txBody>
      </p:sp>
      <p:sp>
        <p:nvSpPr>
          <p:cNvPr id="15" name="TextBox 14"/>
          <p:cNvSpPr txBox="1"/>
          <p:nvPr/>
        </p:nvSpPr>
        <p:spPr>
          <a:xfrm>
            <a:off x="7680960" y="5303520"/>
            <a:ext cx="3657600" cy="365760"/>
          </a:xfrm>
          <a:prstGeom prst="rect">
            <a:avLst/>
          </a:prstGeom>
          <a:noFill/>
        </p:spPr>
        <p:txBody>
          <a:bodyPr wrap="square" lIns="0" rIns="0" tIns="0" bIns="0" anchor="t">
            <a:noAutofit/>
          </a:bodyPr>
          <a:lstStyle/>
          <a:p>
            <a:pPr algn="l">
              <a:spcAft>
                <a:spcPts val="400"/>
              </a:spcAft>
            </a:pPr>
            <a:r>
              <a:rPr sz="1100" b="1" i="0">
                <a:solidFill>
                  <a:srgbClr val="B9A8E6"/>
                </a:solidFill>
                <a:latin typeface="Calibri"/>
              </a:rPr>
              <a:t>SERVER COST, RUNS IN THE BROWSER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Why build this project?</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PROBLEM &amp; OBJECTIVES</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4</a:t>
            </a:r>
          </a:p>
        </p:txBody>
      </p:sp>
      <p:sp>
        <p:nvSpPr>
          <p:cNvPr id="6" name="Rounded Rectangle 5"/>
          <p:cNvSpPr/>
          <p:nvPr/>
        </p:nvSpPr>
        <p:spPr>
          <a:xfrm>
            <a:off x="548640" y="1554480"/>
            <a:ext cx="5440680" cy="3611880"/>
          </a:xfrm>
          <a:prstGeom prst="roundRect">
            <a:avLst>
              <a:gd name="adj" fmla="val 4050"/>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iangle-alert-w.png"/>
          <p:cNvPicPr>
            <a:picLocks noChangeAspect="1"/>
          </p:cNvPicPr>
          <p:nvPr/>
        </p:nvPicPr>
        <p:blipFill>
          <a:blip r:embed="rId2"/>
          <a:stretch>
            <a:fillRect/>
          </a:stretch>
        </p:blipFill>
        <p:spPr>
          <a:xfrm>
            <a:off x="948689" y="1908810"/>
            <a:ext cx="251460" cy="251460"/>
          </a:xfrm>
          <a:prstGeom prst="rect">
            <a:avLst/>
          </a:prstGeom>
        </p:spPr>
      </p:pic>
      <p:sp>
        <p:nvSpPr>
          <p:cNvPr id="9" name="TextBox 8"/>
          <p:cNvSpPr txBox="1"/>
          <p:nvPr/>
        </p:nvSpPr>
        <p:spPr>
          <a:xfrm>
            <a:off x="1463040" y="1783080"/>
            <a:ext cx="429768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THE PROBLEM</a:t>
            </a:r>
          </a:p>
        </p:txBody>
      </p:sp>
      <p:sp>
        <p:nvSpPr>
          <p:cNvPr id="10" name="TextBox 9"/>
          <p:cNvSpPr txBox="1"/>
          <p:nvPr/>
        </p:nvSpPr>
        <p:spPr>
          <a:xfrm>
            <a:off x="1463040" y="2029968"/>
            <a:ext cx="4297680" cy="365760"/>
          </a:xfrm>
          <a:prstGeom prst="rect">
            <a:avLst/>
          </a:prstGeom>
          <a:noFill/>
        </p:spPr>
        <p:txBody>
          <a:bodyPr wrap="square" lIns="0" rIns="0" tIns="0" bIns="0" anchor="t">
            <a:noAutofit/>
          </a:bodyPr>
          <a:lstStyle/>
          <a:p>
            <a:pPr algn="l">
              <a:spcAft>
                <a:spcPts val="400"/>
              </a:spcAft>
            </a:pPr>
            <a:r>
              <a:rPr sz="1600" b="1" i="0">
                <a:solidFill>
                  <a:srgbClr val="1C1638"/>
                </a:solidFill>
                <a:latin typeface="Cambria"/>
              </a:rPr>
              <a:t>Planning a trip is still a research project</a:t>
            </a:r>
          </a:p>
        </p:txBody>
      </p:sp>
      <p:sp>
        <p:nvSpPr>
          <p:cNvPr id="11" name="TextBox 10"/>
          <p:cNvSpPr txBox="1"/>
          <p:nvPr/>
        </p:nvSpPr>
        <p:spPr>
          <a:xfrm>
            <a:off x="868680" y="2606040"/>
            <a:ext cx="4892040" cy="2468880"/>
          </a:xfrm>
          <a:prstGeom prst="rect">
            <a:avLst/>
          </a:prstGeom>
          <a:noFill/>
        </p:spPr>
        <p:txBody>
          <a:bodyPr wrap="square" lIns="0" rIns="0" tIns="0" bIns="0" anchor="t">
            <a:noAutofit/>
          </a:bodyPr>
          <a:lstStyle/>
          <a:p>
            <a:pPr algn="l" marL="182880" indent="-182880">
              <a:spcAft>
                <a:spcPts val="700"/>
              </a:spcAft>
              <a:buClr>
                <a:srgbClr val="EF7D42"/>
              </a:buClr>
              <a:buFont typeface="Arial"/>
              <a:buChar char="•"/>
            </a:pPr>
            <a:r>
              <a:rPr sz="1250" b="0" i="0">
                <a:solidFill>
                  <a:srgbClr val="2B2257"/>
                </a:solidFill>
                <a:latin typeface="Calibri"/>
              </a:rPr>
              <a:t>Inspiration is spread across Instagram, blogs and booking sites</a:t>
            </a:r>
          </a:p>
          <a:p>
            <a:pPr algn="l" marL="182880" indent="-182880">
              <a:spcAft>
                <a:spcPts val="700"/>
              </a:spcAft>
              <a:buClr>
                <a:srgbClr val="EF7D42"/>
              </a:buClr>
              <a:buFont typeface="Arial"/>
              <a:buChar char="•"/>
            </a:pPr>
            <a:r>
              <a:rPr sz="1250" b="0" i="0">
                <a:solidFill>
                  <a:srgbClr val="2B2257"/>
                </a:solidFill>
                <a:latin typeface="Calibri"/>
              </a:rPr>
              <a:t>Season, routes, real costs and scams sit in old forum threads</a:t>
            </a:r>
          </a:p>
          <a:p>
            <a:pPr algn="l" marL="182880" indent="-182880">
              <a:spcAft>
                <a:spcPts val="700"/>
              </a:spcAft>
              <a:buClr>
                <a:srgbClr val="EF7D42"/>
              </a:buClr>
              <a:buFont typeface="Arial"/>
              <a:buChar char="•"/>
            </a:pPr>
            <a:r>
              <a:rPr sz="1250" b="0" i="0">
                <a:solidFill>
                  <a:srgbClr val="2B2257"/>
                </a:solidFill>
                <a:latin typeface="Calibri"/>
              </a:rPr>
              <a:t>Copied plans put stops 900 km apart or in the wrong season</a:t>
            </a:r>
          </a:p>
          <a:p>
            <a:pPr algn="l" marL="182880" indent="-182880">
              <a:spcAft>
                <a:spcPts val="700"/>
              </a:spcAft>
              <a:buClr>
                <a:srgbClr val="EF7D42"/>
              </a:buClr>
              <a:buFont typeface="Arial"/>
              <a:buChar char="•"/>
            </a:pPr>
            <a:r>
              <a:rPr sz="1250" b="0" i="0">
                <a:solidFill>
                  <a:srgbClr val="2B2257"/>
                </a:solidFill>
                <a:latin typeface="Calibri"/>
              </a:rPr>
              <a:t>Package prices hide transfers, tickets and GST</a:t>
            </a:r>
          </a:p>
          <a:p>
            <a:pPr algn="l" marL="182880" indent="-182880">
              <a:spcAft>
                <a:spcPts val="700"/>
              </a:spcAft>
              <a:buClr>
                <a:srgbClr val="EF7D42"/>
              </a:buClr>
              <a:buFont typeface="Arial"/>
              <a:buChar char="•"/>
            </a:pPr>
            <a:r>
              <a:rPr sz="1250" b="0" i="0">
                <a:solidFill>
                  <a:srgbClr val="2B2257"/>
                </a:solidFill>
                <a:latin typeface="Calibri"/>
              </a:rPr>
              <a:t>The same trip is retyped to five agents on WhatsApp</a:t>
            </a:r>
          </a:p>
        </p:txBody>
      </p:sp>
      <p:sp>
        <p:nvSpPr>
          <p:cNvPr id="12" name="Rounded Rectangle 11"/>
          <p:cNvSpPr/>
          <p:nvPr/>
        </p:nvSpPr>
        <p:spPr>
          <a:xfrm>
            <a:off x="6199631" y="1554480"/>
            <a:ext cx="5440680" cy="3611880"/>
          </a:xfrm>
          <a:prstGeom prst="roundRect">
            <a:avLst>
              <a:gd name="adj" fmla="val 405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73951" y="178308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arget-w.png"/>
          <p:cNvPicPr>
            <a:picLocks noChangeAspect="1"/>
          </p:cNvPicPr>
          <p:nvPr/>
        </p:nvPicPr>
        <p:blipFill>
          <a:blip r:embed="rId3"/>
          <a:stretch>
            <a:fillRect/>
          </a:stretch>
        </p:blipFill>
        <p:spPr>
          <a:xfrm>
            <a:off x="6599681" y="1908810"/>
            <a:ext cx="251460" cy="251460"/>
          </a:xfrm>
          <a:prstGeom prst="rect">
            <a:avLst/>
          </a:prstGeom>
        </p:spPr>
      </p:pic>
      <p:sp>
        <p:nvSpPr>
          <p:cNvPr id="15" name="TextBox 14"/>
          <p:cNvSpPr txBox="1"/>
          <p:nvPr/>
        </p:nvSpPr>
        <p:spPr>
          <a:xfrm>
            <a:off x="7114031" y="1783080"/>
            <a:ext cx="4297680" cy="274320"/>
          </a:xfrm>
          <a:prstGeom prst="rect">
            <a:avLst/>
          </a:prstGeom>
          <a:noFill/>
        </p:spPr>
        <p:txBody>
          <a:bodyPr wrap="square" lIns="0" rIns="0" tIns="0" bIns="0" anchor="t">
            <a:noAutofit/>
          </a:bodyPr>
          <a:lstStyle/>
          <a:p>
            <a:pPr algn="l">
              <a:spcAft>
                <a:spcPts val="400"/>
              </a:spcAft>
            </a:pPr>
            <a:r>
              <a:rPr sz="1100" b="1" i="0">
                <a:solidFill>
                  <a:srgbClr val="4A3A8F"/>
                </a:solidFill>
                <a:latin typeface="Calibri"/>
              </a:rPr>
              <a:t>OUR OBJECTIVES</a:t>
            </a:r>
          </a:p>
        </p:txBody>
      </p:sp>
      <p:sp>
        <p:nvSpPr>
          <p:cNvPr id="16" name="TextBox 15"/>
          <p:cNvSpPr txBox="1"/>
          <p:nvPr/>
        </p:nvSpPr>
        <p:spPr>
          <a:xfrm>
            <a:off x="7114031" y="2029968"/>
            <a:ext cx="4297680" cy="365760"/>
          </a:xfrm>
          <a:prstGeom prst="rect">
            <a:avLst/>
          </a:prstGeom>
          <a:noFill/>
        </p:spPr>
        <p:txBody>
          <a:bodyPr wrap="square" lIns="0" rIns="0" tIns="0" bIns="0" anchor="t">
            <a:noAutofit/>
          </a:bodyPr>
          <a:lstStyle/>
          <a:p>
            <a:pPr algn="l">
              <a:spcAft>
                <a:spcPts val="400"/>
              </a:spcAft>
            </a:pPr>
            <a:r>
              <a:rPr sz="1600" b="1" i="0">
                <a:solidFill>
                  <a:srgbClr val="1C1638"/>
                </a:solidFill>
                <a:latin typeface="Cambria"/>
              </a:rPr>
              <a:t>What Pathik delivers</a:t>
            </a:r>
          </a:p>
        </p:txBody>
      </p:sp>
      <p:sp>
        <p:nvSpPr>
          <p:cNvPr id="17" name="TextBox 16"/>
          <p:cNvSpPr txBox="1"/>
          <p:nvPr/>
        </p:nvSpPr>
        <p:spPr>
          <a:xfrm>
            <a:off x="6519671" y="2606040"/>
            <a:ext cx="4892040" cy="2468880"/>
          </a:xfrm>
          <a:prstGeom prst="rect">
            <a:avLst/>
          </a:prstGeom>
          <a:noFill/>
        </p:spPr>
        <p:txBody>
          <a:bodyPr wrap="square" lIns="0" rIns="0" tIns="0" bIns="0" anchor="t">
            <a:noAutofit/>
          </a:bodyPr>
          <a:lstStyle/>
          <a:p>
            <a:pPr algn="l" marL="182880" indent="-182880">
              <a:spcAft>
                <a:spcPts val="700"/>
              </a:spcAft>
              <a:buClr>
                <a:srgbClr val="EF7D42"/>
              </a:buClr>
              <a:buFont typeface="Arial"/>
              <a:buChar char="•"/>
            </a:pPr>
            <a:r>
              <a:rPr sz="1250" b="0" i="0">
                <a:solidFill>
                  <a:srgbClr val="2B2257"/>
                </a:solidFill>
                <a:latin typeface="Calibri"/>
              </a:rPr>
              <a:t>Find a destination by month, region, type and daily budget</a:t>
            </a:r>
          </a:p>
          <a:p>
            <a:pPr algn="l" marL="182880" indent="-182880">
              <a:spcAft>
                <a:spcPts val="700"/>
              </a:spcAft>
              <a:buClr>
                <a:srgbClr val="EF7D42"/>
              </a:buClr>
              <a:buFont typeface="Arial"/>
              <a:buChar char="•"/>
            </a:pPr>
            <a:r>
              <a:rPr sz="1250" b="0" i="0">
                <a:solidFill>
                  <a:srgbClr val="2B2257"/>
                </a:solidFill>
                <a:latin typeface="Calibri"/>
              </a:rPr>
              <a:t>Know each place: season, routes, costs, tips and scams</a:t>
            </a:r>
          </a:p>
          <a:p>
            <a:pPr algn="l" marL="182880" indent="-182880">
              <a:spcAft>
                <a:spcPts val="700"/>
              </a:spcAft>
              <a:buClr>
                <a:srgbClr val="EF7D42"/>
              </a:buClr>
              <a:buFont typeface="Arial"/>
              <a:buChar char="•"/>
            </a:pPr>
            <a:r>
              <a:rPr sz="1250" b="0" i="0">
                <a:solidFill>
                  <a:srgbClr val="2B2257"/>
                </a:solidFill>
                <a:latin typeface="Calibri"/>
              </a:rPr>
              <a:t>Plan dated days with a live, itemised budget</a:t>
            </a:r>
          </a:p>
          <a:p>
            <a:pPr algn="l" marL="182880" indent="-182880">
              <a:spcAft>
                <a:spcPts val="700"/>
              </a:spcAft>
              <a:buClr>
                <a:srgbClr val="EF7D42"/>
              </a:buClr>
              <a:buFont typeface="Arial"/>
              <a:buChar char="•"/>
            </a:pPr>
            <a:r>
              <a:rPr sz="1250" b="0" i="0">
                <a:solidFill>
                  <a:srgbClr val="2B2257"/>
                </a:solidFill>
                <a:latin typeface="Calibri"/>
              </a:rPr>
              <a:t>Send one enquiry, with the trip attached, to a registered agent</a:t>
            </a:r>
          </a:p>
          <a:p>
            <a:pPr algn="l" marL="182880" indent="-182880">
              <a:spcAft>
                <a:spcPts val="700"/>
              </a:spcAft>
              <a:buClr>
                <a:srgbClr val="EF7D42"/>
              </a:buClr>
              <a:buFont typeface="Arial"/>
              <a:buChar char="•"/>
            </a:pPr>
            <a:r>
              <a:rPr sz="1250" b="0" i="0">
                <a:solidFill>
                  <a:srgbClr val="2B2257"/>
                </a:solidFill>
                <a:latin typeface="Calibri"/>
              </a:rPr>
              <a:t>Book packages with every inclusion and GST shown upfront</a:t>
            </a:r>
          </a:p>
        </p:txBody>
      </p:sp>
      <p:sp>
        <p:nvSpPr>
          <p:cNvPr id="18" name="TextBox 17"/>
          <p:cNvSpPr txBox="1"/>
          <p:nvPr/>
        </p:nvSpPr>
        <p:spPr>
          <a:xfrm>
            <a:off x="548640" y="5349240"/>
            <a:ext cx="1325880" cy="548640"/>
          </a:xfrm>
          <a:prstGeom prst="rect">
            <a:avLst/>
          </a:prstGeom>
          <a:noFill/>
        </p:spPr>
        <p:txBody>
          <a:bodyPr wrap="square" lIns="0" rIns="0" tIns="0" bIns="0" anchor="ctr">
            <a:noAutofit/>
          </a:bodyPr>
          <a:lstStyle/>
          <a:p>
            <a:pPr algn="l">
              <a:spcAft>
                <a:spcPts val="400"/>
              </a:spcAft>
            </a:pPr>
            <a:r>
              <a:rPr sz="2400" b="1" i="0">
                <a:solidFill>
                  <a:srgbClr val="EF7D42"/>
                </a:solidFill>
                <a:latin typeface="Cambria"/>
              </a:rPr>
              <a:t>141</a:t>
            </a:r>
          </a:p>
        </p:txBody>
      </p:sp>
      <p:sp>
        <p:nvSpPr>
          <p:cNvPr id="19" name="TextBox 18"/>
          <p:cNvSpPr txBox="1"/>
          <p:nvPr/>
        </p:nvSpPr>
        <p:spPr>
          <a:xfrm>
            <a:off x="1920240" y="5349240"/>
            <a:ext cx="2240280" cy="640080"/>
          </a:xfrm>
          <a:prstGeom prst="rect">
            <a:avLst/>
          </a:prstGeom>
          <a:noFill/>
        </p:spPr>
        <p:txBody>
          <a:bodyPr wrap="square" lIns="0" rIns="0" tIns="0" bIns="0" anchor="ctr">
            <a:noAutofit/>
          </a:bodyPr>
          <a:lstStyle/>
          <a:p>
            <a:pPr algn="l">
              <a:spcAft>
                <a:spcPts val="400"/>
              </a:spcAft>
            </a:pPr>
            <a:r>
              <a:rPr sz="1050" b="0" i="0">
                <a:solidFill>
                  <a:srgbClr val="6D6585"/>
                </a:solidFill>
                <a:latin typeface="Calibri"/>
              </a:rPr>
              <a:t>pages of travel content read before booking (Expedia Group)</a:t>
            </a:r>
          </a:p>
        </p:txBody>
      </p:sp>
      <p:sp>
        <p:nvSpPr>
          <p:cNvPr id="20" name="TextBox 19"/>
          <p:cNvSpPr txBox="1"/>
          <p:nvPr/>
        </p:nvSpPr>
        <p:spPr>
          <a:xfrm>
            <a:off x="4297679" y="5349240"/>
            <a:ext cx="1325880" cy="548640"/>
          </a:xfrm>
          <a:prstGeom prst="rect">
            <a:avLst/>
          </a:prstGeom>
          <a:noFill/>
        </p:spPr>
        <p:txBody>
          <a:bodyPr wrap="square" lIns="0" rIns="0" tIns="0" bIns="0" anchor="ctr">
            <a:noAutofit/>
          </a:bodyPr>
          <a:lstStyle/>
          <a:p>
            <a:pPr algn="l">
              <a:spcAft>
                <a:spcPts val="400"/>
              </a:spcAft>
            </a:pPr>
            <a:r>
              <a:rPr sz="2400" b="1" i="0">
                <a:solidFill>
                  <a:srgbClr val="EF7D42"/>
                </a:solidFill>
                <a:latin typeface="Cambria"/>
              </a:rPr>
              <a:t>5 hours</a:t>
            </a:r>
          </a:p>
        </p:txBody>
      </p:sp>
      <p:sp>
        <p:nvSpPr>
          <p:cNvPr id="21" name="TextBox 20"/>
          <p:cNvSpPr txBox="1"/>
          <p:nvPr/>
        </p:nvSpPr>
        <p:spPr>
          <a:xfrm>
            <a:off x="5669279" y="5349240"/>
            <a:ext cx="2240280" cy="640080"/>
          </a:xfrm>
          <a:prstGeom prst="rect">
            <a:avLst/>
          </a:prstGeom>
          <a:noFill/>
        </p:spPr>
        <p:txBody>
          <a:bodyPr wrap="square" lIns="0" rIns="0" tIns="0" bIns="0" anchor="ctr">
            <a:noAutofit/>
          </a:bodyPr>
          <a:lstStyle/>
          <a:p>
            <a:pPr algn="l">
              <a:spcAft>
                <a:spcPts val="400"/>
              </a:spcAft>
            </a:pPr>
            <a:r>
              <a:rPr sz="1050" b="0" i="0">
                <a:solidFill>
                  <a:srgbClr val="6D6585"/>
                </a:solidFill>
                <a:latin typeface="Calibri"/>
              </a:rPr>
              <a:t>spent reading it (303 minutes, Expedia Group)</a:t>
            </a:r>
          </a:p>
        </p:txBody>
      </p:sp>
      <p:sp>
        <p:nvSpPr>
          <p:cNvPr id="22" name="TextBox 21"/>
          <p:cNvSpPr txBox="1"/>
          <p:nvPr/>
        </p:nvSpPr>
        <p:spPr>
          <a:xfrm>
            <a:off x="8046719" y="5349240"/>
            <a:ext cx="1325880" cy="548640"/>
          </a:xfrm>
          <a:prstGeom prst="rect">
            <a:avLst/>
          </a:prstGeom>
          <a:noFill/>
        </p:spPr>
        <p:txBody>
          <a:bodyPr wrap="square" lIns="0" rIns="0" tIns="0" bIns="0" anchor="ctr">
            <a:noAutofit/>
          </a:bodyPr>
          <a:lstStyle/>
          <a:p>
            <a:pPr algn="l">
              <a:spcAft>
                <a:spcPts val="400"/>
              </a:spcAft>
            </a:pPr>
            <a:r>
              <a:rPr sz="2400" b="1" i="0">
                <a:solidFill>
                  <a:srgbClr val="EF7D42"/>
                </a:solidFill>
                <a:latin typeface="Cambria"/>
              </a:rPr>
              <a:t>44%</a:t>
            </a:r>
          </a:p>
        </p:txBody>
      </p:sp>
      <p:sp>
        <p:nvSpPr>
          <p:cNvPr id="23" name="TextBox 22"/>
          <p:cNvSpPr txBox="1"/>
          <p:nvPr/>
        </p:nvSpPr>
        <p:spPr>
          <a:xfrm>
            <a:off x="9418319" y="5349240"/>
            <a:ext cx="2240280" cy="640080"/>
          </a:xfrm>
          <a:prstGeom prst="rect">
            <a:avLst/>
          </a:prstGeom>
          <a:noFill/>
        </p:spPr>
        <p:txBody>
          <a:bodyPr wrap="square" lIns="0" rIns="0" tIns="0" bIns="0" anchor="ctr">
            <a:noAutofit/>
          </a:bodyPr>
          <a:lstStyle/>
          <a:p>
            <a:pPr algn="l">
              <a:spcAft>
                <a:spcPts val="400"/>
              </a:spcAft>
            </a:pPr>
            <a:r>
              <a:rPr sz="1050" b="0" i="0">
                <a:solidFill>
                  <a:srgbClr val="6D6585"/>
                </a:solidFill>
                <a:latin typeface="Calibri"/>
              </a:rPr>
              <a:t>worry most about overspending (Go City,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Six core capabilities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KEY FEATURES</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5</a:t>
            </a:r>
          </a:p>
        </p:txBody>
      </p:sp>
      <p:sp>
        <p:nvSpPr>
          <p:cNvPr id="6" name="Rounded Rectangle 5"/>
          <p:cNvSpPr/>
          <p:nvPr/>
        </p:nvSpPr>
        <p:spPr>
          <a:xfrm>
            <a:off x="548640" y="1554480"/>
            <a:ext cx="3584448" cy="2148840"/>
          </a:xfrm>
          <a:prstGeom prst="roundRect">
            <a:avLst>
              <a:gd name="adj" fmla="val 5957"/>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04672" y="1810512"/>
            <a:ext cx="548640" cy="54864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ass-w.png"/>
          <p:cNvPicPr>
            <a:picLocks noChangeAspect="1"/>
          </p:cNvPicPr>
          <p:nvPr/>
        </p:nvPicPr>
        <p:blipFill>
          <a:blip r:embed="rId2"/>
          <a:stretch>
            <a:fillRect/>
          </a:stretch>
        </p:blipFill>
        <p:spPr>
          <a:xfrm>
            <a:off x="941832" y="1947672"/>
            <a:ext cx="274320" cy="274320"/>
          </a:xfrm>
          <a:prstGeom prst="rect">
            <a:avLst/>
          </a:prstGeom>
        </p:spPr>
      </p:pic>
      <p:sp>
        <p:nvSpPr>
          <p:cNvPr id="9" name="TextBox 8"/>
          <p:cNvSpPr txBox="1"/>
          <p:nvPr/>
        </p:nvSpPr>
        <p:spPr>
          <a:xfrm>
            <a:off x="1508760" y="1883664"/>
            <a:ext cx="2468880" cy="41148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Discover</a:t>
            </a:r>
          </a:p>
        </p:txBody>
      </p:sp>
      <p:sp>
        <p:nvSpPr>
          <p:cNvPr id="10" name="TextBox 9"/>
          <p:cNvSpPr txBox="1"/>
          <p:nvPr/>
        </p:nvSpPr>
        <p:spPr>
          <a:xfrm>
            <a:off x="822959" y="2542032"/>
            <a:ext cx="3108960" cy="109728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A Season map lights up places by month, budget and crowd. Search and filters kept in the URL.</a:t>
            </a:r>
          </a:p>
        </p:txBody>
      </p:sp>
      <p:sp>
        <p:nvSpPr>
          <p:cNvPr id="11" name="Rounded Rectangle 10"/>
          <p:cNvSpPr/>
          <p:nvPr/>
        </p:nvSpPr>
        <p:spPr>
          <a:xfrm>
            <a:off x="4297679" y="1554480"/>
            <a:ext cx="3584448" cy="2148840"/>
          </a:xfrm>
          <a:prstGeom prst="roundRect">
            <a:avLst>
              <a:gd name="adj" fmla="val 5957"/>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53712" y="1810512"/>
            <a:ext cx="548640" cy="54864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ook-open-w.png"/>
          <p:cNvPicPr>
            <a:picLocks noChangeAspect="1"/>
          </p:cNvPicPr>
          <p:nvPr/>
        </p:nvPicPr>
        <p:blipFill>
          <a:blip r:embed="rId3"/>
          <a:stretch>
            <a:fillRect/>
          </a:stretch>
        </p:blipFill>
        <p:spPr>
          <a:xfrm>
            <a:off x="4690872" y="1947672"/>
            <a:ext cx="274320" cy="274320"/>
          </a:xfrm>
          <a:prstGeom prst="rect">
            <a:avLst/>
          </a:prstGeom>
        </p:spPr>
      </p:pic>
      <p:sp>
        <p:nvSpPr>
          <p:cNvPr id="14" name="TextBox 13"/>
          <p:cNvSpPr txBox="1"/>
          <p:nvPr/>
        </p:nvSpPr>
        <p:spPr>
          <a:xfrm>
            <a:off x="5257799" y="1883664"/>
            <a:ext cx="2468880" cy="41148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Learn</a:t>
            </a:r>
          </a:p>
        </p:txBody>
      </p:sp>
      <p:sp>
        <p:nvSpPr>
          <p:cNvPr id="15" name="TextBox 14"/>
          <p:cNvSpPr txBox="1"/>
          <p:nvPr/>
        </p:nvSpPr>
        <p:spPr>
          <a:xfrm>
            <a:off x="4571999" y="2542032"/>
            <a:ext cx="3108960" cy="109728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Best months, getting there by air, rail and road, daily costs, tips, scams and a map.</a:t>
            </a:r>
          </a:p>
        </p:txBody>
      </p:sp>
      <p:sp>
        <p:nvSpPr>
          <p:cNvPr id="16" name="Rounded Rectangle 15"/>
          <p:cNvSpPr/>
          <p:nvPr/>
        </p:nvSpPr>
        <p:spPr>
          <a:xfrm>
            <a:off x="8046719" y="1554480"/>
            <a:ext cx="3584448" cy="2148840"/>
          </a:xfrm>
          <a:prstGeom prst="roundRect">
            <a:avLst>
              <a:gd name="adj" fmla="val 5957"/>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2751" y="1810512"/>
            <a:ext cx="548640" cy="54864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oute-w.png"/>
          <p:cNvPicPr>
            <a:picLocks noChangeAspect="1"/>
          </p:cNvPicPr>
          <p:nvPr/>
        </p:nvPicPr>
        <p:blipFill>
          <a:blip r:embed="rId4"/>
          <a:stretch>
            <a:fillRect/>
          </a:stretch>
        </p:blipFill>
        <p:spPr>
          <a:xfrm>
            <a:off x="8439911" y="1947672"/>
            <a:ext cx="274320" cy="274320"/>
          </a:xfrm>
          <a:prstGeom prst="rect">
            <a:avLst/>
          </a:prstGeom>
        </p:spPr>
      </p:pic>
      <p:sp>
        <p:nvSpPr>
          <p:cNvPr id="19" name="TextBox 18"/>
          <p:cNvSpPr txBox="1"/>
          <p:nvPr/>
        </p:nvSpPr>
        <p:spPr>
          <a:xfrm>
            <a:off x="9006840" y="1883664"/>
            <a:ext cx="2468880" cy="41148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Plan</a:t>
            </a:r>
          </a:p>
        </p:txBody>
      </p:sp>
      <p:sp>
        <p:nvSpPr>
          <p:cNvPr id="20" name="TextBox 19"/>
          <p:cNvSpPr txBox="1"/>
          <p:nvPr/>
        </p:nvSpPr>
        <p:spPr>
          <a:xfrm>
            <a:off x="8321040" y="2542032"/>
            <a:ext cx="3108960" cy="109728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Add, reorder and size stops; dated day-by-day plan with season warnings.</a:t>
            </a:r>
          </a:p>
        </p:txBody>
      </p:sp>
      <p:sp>
        <p:nvSpPr>
          <p:cNvPr id="21" name="Rounded Rectangle 20"/>
          <p:cNvSpPr/>
          <p:nvPr/>
        </p:nvSpPr>
        <p:spPr>
          <a:xfrm>
            <a:off x="548640" y="3886200"/>
            <a:ext cx="3584448" cy="2148840"/>
          </a:xfrm>
          <a:prstGeom prst="roundRect">
            <a:avLst>
              <a:gd name="adj" fmla="val 5957"/>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04672" y="4142232"/>
            <a:ext cx="548640" cy="54864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llet-w.png"/>
          <p:cNvPicPr>
            <a:picLocks noChangeAspect="1"/>
          </p:cNvPicPr>
          <p:nvPr/>
        </p:nvPicPr>
        <p:blipFill>
          <a:blip r:embed="rId5"/>
          <a:stretch>
            <a:fillRect/>
          </a:stretch>
        </p:blipFill>
        <p:spPr>
          <a:xfrm>
            <a:off x="941832" y="4279392"/>
            <a:ext cx="274320" cy="274320"/>
          </a:xfrm>
          <a:prstGeom prst="rect">
            <a:avLst/>
          </a:prstGeom>
        </p:spPr>
      </p:pic>
      <p:sp>
        <p:nvSpPr>
          <p:cNvPr id="24" name="TextBox 23"/>
          <p:cNvSpPr txBox="1"/>
          <p:nvPr/>
        </p:nvSpPr>
        <p:spPr>
          <a:xfrm>
            <a:off x="1508760" y="4215384"/>
            <a:ext cx="2468880" cy="41148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Budget</a:t>
            </a:r>
          </a:p>
        </p:txBody>
      </p:sp>
      <p:sp>
        <p:nvSpPr>
          <p:cNvPr id="25" name="TextBox 24"/>
          <p:cNvSpPr txBox="1"/>
          <p:nvPr/>
        </p:nvSpPr>
        <p:spPr>
          <a:xfrm>
            <a:off x="822959" y="4873752"/>
            <a:ext cx="3108960" cy="109728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Stay, food, transport, sights and travel between stops, with a 10% buffer and a target meter.</a:t>
            </a:r>
          </a:p>
        </p:txBody>
      </p:sp>
      <p:sp>
        <p:nvSpPr>
          <p:cNvPr id="26" name="Rounded Rectangle 25"/>
          <p:cNvSpPr/>
          <p:nvPr/>
        </p:nvSpPr>
        <p:spPr>
          <a:xfrm>
            <a:off x="4297679" y="3886200"/>
            <a:ext cx="3584448" cy="2148840"/>
          </a:xfrm>
          <a:prstGeom prst="roundRect">
            <a:avLst>
              <a:gd name="adj" fmla="val 5957"/>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553712" y="4142232"/>
            <a:ext cx="548640" cy="54864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end-w.png"/>
          <p:cNvPicPr>
            <a:picLocks noChangeAspect="1"/>
          </p:cNvPicPr>
          <p:nvPr/>
        </p:nvPicPr>
        <p:blipFill>
          <a:blip r:embed="rId6"/>
          <a:stretch>
            <a:fillRect/>
          </a:stretch>
        </p:blipFill>
        <p:spPr>
          <a:xfrm>
            <a:off x="4690872" y="4279392"/>
            <a:ext cx="274320" cy="274320"/>
          </a:xfrm>
          <a:prstGeom prst="rect">
            <a:avLst/>
          </a:prstGeom>
        </p:spPr>
      </p:pic>
      <p:sp>
        <p:nvSpPr>
          <p:cNvPr id="29" name="TextBox 28"/>
          <p:cNvSpPr txBox="1"/>
          <p:nvPr/>
        </p:nvSpPr>
        <p:spPr>
          <a:xfrm>
            <a:off x="5257799" y="4215384"/>
            <a:ext cx="2468880" cy="41148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Enquire</a:t>
            </a:r>
          </a:p>
        </p:txBody>
      </p:sp>
      <p:sp>
        <p:nvSpPr>
          <p:cNvPr id="30" name="TextBox 29"/>
          <p:cNvSpPr txBox="1"/>
          <p:nvPr/>
        </p:nvSpPr>
        <p:spPr>
          <a:xfrm>
            <a:off x="4571999" y="4873752"/>
            <a:ext cx="3108960" cy="109728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Send the trip to one of 11 registered agents, or share it as a link.</a:t>
            </a:r>
          </a:p>
        </p:txBody>
      </p:sp>
      <p:sp>
        <p:nvSpPr>
          <p:cNvPr id="31" name="Rounded Rectangle 30"/>
          <p:cNvSpPr/>
          <p:nvPr/>
        </p:nvSpPr>
        <p:spPr>
          <a:xfrm>
            <a:off x="8046719" y="3886200"/>
            <a:ext cx="3584448" cy="2148840"/>
          </a:xfrm>
          <a:prstGeom prst="roundRect">
            <a:avLst>
              <a:gd name="adj" fmla="val 5957"/>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02751" y="4142232"/>
            <a:ext cx="548640" cy="54864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ticket-w.png"/>
          <p:cNvPicPr>
            <a:picLocks noChangeAspect="1"/>
          </p:cNvPicPr>
          <p:nvPr/>
        </p:nvPicPr>
        <p:blipFill>
          <a:blip r:embed="rId7"/>
          <a:stretch>
            <a:fillRect/>
          </a:stretch>
        </p:blipFill>
        <p:spPr>
          <a:xfrm>
            <a:off x="8439911" y="4279392"/>
            <a:ext cx="274320" cy="274320"/>
          </a:xfrm>
          <a:prstGeom prst="rect">
            <a:avLst/>
          </a:prstGeom>
        </p:spPr>
      </p:pic>
      <p:sp>
        <p:nvSpPr>
          <p:cNvPr id="34" name="TextBox 33"/>
          <p:cNvSpPr txBox="1"/>
          <p:nvPr/>
        </p:nvSpPr>
        <p:spPr>
          <a:xfrm>
            <a:off x="9006840" y="4215384"/>
            <a:ext cx="2468880" cy="41148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Book</a:t>
            </a:r>
          </a:p>
        </p:txBody>
      </p:sp>
      <p:sp>
        <p:nvSpPr>
          <p:cNvPr id="35" name="TextBox 34"/>
          <p:cNvSpPr txBox="1"/>
          <p:nvPr/>
        </p:nvSpPr>
        <p:spPr>
          <a:xfrm>
            <a:off x="8321040" y="4873752"/>
            <a:ext cx="3108960" cy="109728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Packages with inclusions listed, a cart with GST, and a 20% reservation.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The landing experience</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 01 · HOME</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6</a:t>
            </a:r>
          </a:p>
        </p:txBody>
      </p:sp>
      <p:sp>
        <p:nvSpPr>
          <p:cNvPr id="6" name="Rounded Rectangle 5"/>
          <p:cNvSpPr/>
          <p:nvPr/>
        </p:nvSpPr>
        <p:spPr>
          <a:xfrm>
            <a:off x="5056632" y="1463040"/>
            <a:ext cx="6583680" cy="4341114"/>
          </a:xfrm>
          <a:prstGeom prst="roundRect">
            <a:avLst>
              <a:gd name="adj" fmla="val 2106"/>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84648"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21808"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58968"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85432" y="1517904"/>
            <a:ext cx="292608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85432" y="1513332"/>
            <a:ext cx="292608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index.html</a:t>
            </a:r>
          </a:p>
        </p:txBody>
      </p:sp>
      <p:pic>
        <p:nvPicPr>
          <p:cNvPr id="12" name="Picture 11" descr="Screenshot of the Pathik website: pathik / index.html"/>
          <p:cNvPicPr>
            <a:picLocks noChangeAspect="1"/>
          </p:cNvPicPr>
          <p:nvPr/>
        </p:nvPicPr>
        <p:blipFill>
          <a:blip r:embed="rId2"/>
          <a:stretch>
            <a:fillRect/>
          </a:stretch>
        </p:blipFill>
        <p:spPr>
          <a:xfrm>
            <a:off x="5102352" y="1700784"/>
            <a:ext cx="6492240" cy="4057650"/>
          </a:xfrm>
          <a:prstGeom prst="rect">
            <a:avLst/>
          </a:prstGeom>
        </p:spPr>
      </p:pic>
      <p:sp>
        <p:nvSpPr>
          <p:cNvPr id="13" name="TextBox 12"/>
          <p:cNvSpPr txBox="1"/>
          <p:nvPr/>
        </p:nvSpPr>
        <p:spPr>
          <a:xfrm>
            <a:off x="548640" y="1554480"/>
            <a:ext cx="4206240" cy="1463040"/>
          </a:xfrm>
          <a:prstGeom prst="rect">
            <a:avLst/>
          </a:prstGeom>
          <a:noFill/>
        </p:spPr>
        <p:txBody>
          <a:bodyPr wrap="square" lIns="0" rIns="0" tIns="0" bIns="0" anchor="t">
            <a:noAutofit/>
          </a:bodyPr>
          <a:lstStyle/>
          <a:p>
            <a:pPr algn="l">
              <a:lnSpc>
                <a:spcPct val="110000"/>
              </a:lnSpc>
              <a:spcAft>
                <a:spcPts val="400"/>
              </a:spcAft>
            </a:pPr>
            <a:r>
              <a:rPr sz="1350" b="0" i="0">
                <a:solidFill>
                  <a:srgbClr val="2B2257"/>
                </a:solidFill>
                <a:latin typeface="Calibri"/>
              </a:rPr>
              <a:t>The home page opens on a 3D dusk scene built in Three.js: a snow peak, towering clouds and birds in flight. Then it gets straight to work with a search bar, trip types, places in season and offers.</a:t>
            </a:r>
          </a:p>
        </p:txBody>
      </p:sp>
      <p:pic>
        <p:nvPicPr>
          <p:cNvPr id="14" name="Picture 13" descr="check-e.png"/>
          <p:cNvPicPr>
            <a:picLocks noChangeAspect="1"/>
          </p:cNvPicPr>
          <p:nvPr/>
        </p:nvPicPr>
        <p:blipFill>
          <a:blip r:embed="rId3"/>
          <a:stretch>
            <a:fillRect/>
          </a:stretch>
        </p:blipFill>
        <p:spPr>
          <a:xfrm>
            <a:off x="548640" y="3182112"/>
            <a:ext cx="219456" cy="219456"/>
          </a:xfrm>
          <a:prstGeom prst="rect">
            <a:avLst/>
          </a:prstGeom>
        </p:spPr>
      </p:pic>
      <p:sp>
        <p:nvSpPr>
          <p:cNvPr id="15" name="TextBox 14"/>
          <p:cNvSpPr txBox="1"/>
          <p:nvPr/>
        </p:nvSpPr>
        <p:spPr>
          <a:xfrm>
            <a:off x="877824" y="3154680"/>
            <a:ext cx="3877055" cy="384048"/>
          </a:xfrm>
          <a:prstGeom prst="rect">
            <a:avLst/>
          </a:prstGeom>
          <a:noFill/>
        </p:spPr>
        <p:txBody>
          <a:bodyPr wrap="square" lIns="0" rIns="0" tIns="0" bIns="0" anchor="t">
            <a:noAutofit/>
          </a:bodyPr>
          <a:lstStyle/>
          <a:p>
            <a:pPr algn="l">
              <a:spcAft>
                <a:spcPts val="400"/>
              </a:spcAft>
            </a:pPr>
            <a:r>
              <a:rPr sz="1200" b="0" i="0">
                <a:solidFill>
                  <a:srgbClr val="2B2257"/>
                </a:solidFill>
                <a:latin typeface="Calibri"/>
              </a:rPr>
              <a:t>Search box visible on first load</a:t>
            </a:r>
          </a:p>
        </p:txBody>
      </p:sp>
      <p:pic>
        <p:nvPicPr>
          <p:cNvPr id="16" name="Picture 15" descr="check-e.png"/>
          <p:cNvPicPr>
            <a:picLocks noChangeAspect="1"/>
          </p:cNvPicPr>
          <p:nvPr/>
        </p:nvPicPr>
        <p:blipFill>
          <a:blip r:embed="rId3"/>
          <a:stretch>
            <a:fillRect/>
          </a:stretch>
        </p:blipFill>
        <p:spPr>
          <a:xfrm>
            <a:off x="548640" y="3566160"/>
            <a:ext cx="219456" cy="219456"/>
          </a:xfrm>
          <a:prstGeom prst="rect">
            <a:avLst/>
          </a:prstGeom>
        </p:spPr>
      </p:pic>
      <p:sp>
        <p:nvSpPr>
          <p:cNvPr id="17" name="TextBox 16"/>
          <p:cNvSpPr txBox="1"/>
          <p:nvPr/>
        </p:nvSpPr>
        <p:spPr>
          <a:xfrm>
            <a:off x="877824" y="3538728"/>
            <a:ext cx="3877055" cy="384048"/>
          </a:xfrm>
          <a:prstGeom prst="rect">
            <a:avLst/>
          </a:prstGeom>
          <a:noFill/>
        </p:spPr>
        <p:txBody>
          <a:bodyPr wrap="square" lIns="0" rIns="0" tIns="0" bIns="0" anchor="t">
            <a:noAutofit/>
          </a:bodyPr>
          <a:lstStyle/>
          <a:p>
            <a:pPr algn="l">
              <a:spcAft>
                <a:spcPts val="400"/>
              </a:spcAft>
            </a:pPr>
            <a:r>
              <a:rPr sz="1200" b="0" i="0">
                <a:solidFill>
                  <a:srgbClr val="2B2257"/>
                </a:solidFill>
                <a:latin typeface="Calibri"/>
              </a:rPr>
              <a:t>Search sends place, month and style to Explore</a:t>
            </a:r>
          </a:p>
        </p:txBody>
      </p:sp>
      <p:pic>
        <p:nvPicPr>
          <p:cNvPr id="18" name="Picture 17" descr="check-e.png"/>
          <p:cNvPicPr>
            <a:picLocks noChangeAspect="1"/>
          </p:cNvPicPr>
          <p:nvPr/>
        </p:nvPicPr>
        <p:blipFill>
          <a:blip r:embed="rId3"/>
          <a:stretch>
            <a:fillRect/>
          </a:stretch>
        </p:blipFill>
        <p:spPr>
          <a:xfrm>
            <a:off x="548640" y="3950208"/>
            <a:ext cx="219456" cy="219456"/>
          </a:xfrm>
          <a:prstGeom prst="rect">
            <a:avLst/>
          </a:prstGeom>
        </p:spPr>
      </p:pic>
      <p:sp>
        <p:nvSpPr>
          <p:cNvPr id="19" name="TextBox 18"/>
          <p:cNvSpPr txBox="1"/>
          <p:nvPr/>
        </p:nvSpPr>
        <p:spPr>
          <a:xfrm>
            <a:off x="877824" y="3922776"/>
            <a:ext cx="3877055" cy="384048"/>
          </a:xfrm>
          <a:prstGeom prst="rect">
            <a:avLst/>
          </a:prstGeom>
          <a:noFill/>
        </p:spPr>
        <p:txBody>
          <a:bodyPr wrap="square" lIns="0" rIns="0" tIns="0" bIns="0" anchor="t">
            <a:noAutofit/>
          </a:bodyPr>
          <a:lstStyle/>
          <a:p>
            <a:pPr algn="l">
              <a:spcAft>
                <a:spcPts val="400"/>
              </a:spcAft>
            </a:pPr>
            <a:r>
              <a:rPr sz="1200" b="0" i="0">
                <a:solidFill>
                  <a:srgbClr val="2B2257"/>
                </a:solidFill>
                <a:latin typeface="Calibri"/>
              </a:rPr>
              <a:t>In-season carousel for the current month</a:t>
            </a:r>
          </a:p>
        </p:txBody>
      </p:sp>
      <p:pic>
        <p:nvPicPr>
          <p:cNvPr id="20" name="Picture 19" descr="check-e.png"/>
          <p:cNvPicPr>
            <a:picLocks noChangeAspect="1"/>
          </p:cNvPicPr>
          <p:nvPr/>
        </p:nvPicPr>
        <p:blipFill>
          <a:blip r:embed="rId3"/>
          <a:stretch>
            <a:fillRect/>
          </a:stretch>
        </p:blipFill>
        <p:spPr>
          <a:xfrm>
            <a:off x="548640" y="4334256"/>
            <a:ext cx="219456" cy="219456"/>
          </a:xfrm>
          <a:prstGeom prst="rect">
            <a:avLst/>
          </a:prstGeom>
        </p:spPr>
      </p:pic>
      <p:sp>
        <p:nvSpPr>
          <p:cNvPr id="21" name="TextBox 20"/>
          <p:cNvSpPr txBox="1"/>
          <p:nvPr/>
        </p:nvSpPr>
        <p:spPr>
          <a:xfrm>
            <a:off x="877824" y="4306824"/>
            <a:ext cx="3877055" cy="384048"/>
          </a:xfrm>
          <a:prstGeom prst="rect">
            <a:avLst/>
          </a:prstGeom>
          <a:noFill/>
        </p:spPr>
        <p:txBody>
          <a:bodyPr wrap="square" lIns="0" rIns="0" tIns="0" bIns="0" anchor="t">
            <a:noAutofit/>
          </a:bodyPr>
          <a:lstStyle/>
          <a:p>
            <a:pPr algn="l">
              <a:spcAft>
                <a:spcPts val="400"/>
              </a:spcAft>
            </a:pPr>
            <a:r>
              <a:rPr sz="1200" b="0" i="0">
                <a:solidFill>
                  <a:srgbClr val="2B2257"/>
                </a:solidFill>
                <a:latin typeface="Calibri"/>
              </a:rPr>
              <a:t>Offers, reviews and travel notes</a:t>
            </a:r>
          </a:p>
        </p:txBody>
      </p:sp>
      <p:sp>
        <p:nvSpPr>
          <p:cNvPr id="22" name="TextBox 21"/>
          <p:cNvSpPr txBox="1"/>
          <p:nvPr/>
        </p:nvSpPr>
        <p:spPr>
          <a:xfrm>
            <a:off x="5056632" y="5925312"/>
            <a:ext cx="6583680" cy="274320"/>
          </a:xfrm>
          <a:prstGeom prst="rect">
            <a:avLst/>
          </a:prstGeom>
          <a:noFill/>
        </p:spPr>
        <p:txBody>
          <a:bodyPr wrap="square" lIns="0" rIns="0" tIns="0" bIns="0" anchor="t">
            <a:noAutofit/>
          </a:bodyPr>
          <a:lstStyle/>
          <a:p>
            <a:pPr algn="l">
              <a:spcAft>
                <a:spcPts val="400"/>
              </a:spcAft>
            </a:pPr>
            <a:r>
              <a:rPr sz="1000" b="0" i="1">
                <a:solidFill>
                  <a:srgbClr val="6D6585"/>
                </a:solidFill>
                <a:latin typeface="Calibri"/>
              </a:rPr>
              <a:t>Home page with the Three.js hero and the search bar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Inside the 3D hero</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 01 · HOME · THREE.JS SCENE</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7</a:t>
            </a:r>
          </a:p>
        </p:txBody>
      </p:sp>
      <p:pic>
        <p:nvPicPr>
          <p:cNvPr id="6" name="Picture 5" descr="Close-up of the hero scene: Snow peak"/>
          <p:cNvPicPr>
            <a:picLocks noChangeAspect="1"/>
          </p:cNvPicPr>
          <p:nvPr/>
        </p:nvPicPr>
        <p:blipFill>
          <a:blip r:embed="rId2"/>
          <a:stretch>
            <a:fillRect/>
          </a:stretch>
        </p:blipFill>
        <p:spPr>
          <a:xfrm>
            <a:off x="548640" y="1508760"/>
            <a:ext cx="3584448" cy="2688336"/>
          </a:xfrm>
          <a:prstGeom prst="rect">
            <a:avLst/>
          </a:prstGeom>
          <a:effectLst>
            <a:outerShdw blurRad="177800" dist="38100" dir="5400000" algn="t" rotWithShape="0">
              <a:srgbClr val="1C1638">
                <a:alpha val="22000"/>
              </a:srgbClr>
            </a:outerShdw>
          </a:effectLst>
        </p:spPr>
      </p:pic>
      <p:sp>
        <p:nvSpPr>
          <p:cNvPr id="7" name="Oval 6"/>
          <p:cNvSpPr/>
          <p:nvPr/>
        </p:nvSpPr>
        <p:spPr>
          <a:xfrm>
            <a:off x="548640" y="4407408"/>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untain-snow-w.png"/>
          <p:cNvPicPr>
            <a:picLocks noChangeAspect="1"/>
          </p:cNvPicPr>
          <p:nvPr/>
        </p:nvPicPr>
        <p:blipFill>
          <a:blip r:embed="rId3"/>
          <a:stretch>
            <a:fillRect/>
          </a:stretch>
        </p:blipFill>
        <p:spPr>
          <a:xfrm>
            <a:off x="662940" y="4521708"/>
            <a:ext cx="228600" cy="228600"/>
          </a:xfrm>
          <a:prstGeom prst="rect">
            <a:avLst/>
          </a:prstGeom>
        </p:spPr>
      </p:pic>
      <p:sp>
        <p:nvSpPr>
          <p:cNvPr id="9" name="TextBox 8"/>
          <p:cNvSpPr txBox="1"/>
          <p:nvPr/>
        </p:nvSpPr>
        <p:spPr>
          <a:xfrm>
            <a:off x="1143000" y="4462272"/>
            <a:ext cx="292608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mbria"/>
              </a:rPr>
              <a:t>Snow peak</a:t>
            </a:r>
          </a:p>
        </p:txBody>
      </p:sp>
      <p:sp>
        <p:nvSpPr>
          <p:cNvPr id="10" name="TextBox 9"/>
          <p:cNvSpPr txBox="1"/>
          <p:nvPr/>
        </p:nvSpPr>
        <p:spPr>
          <a:xfrm>
            <a:off x="548640" y="4983480"/>
            <a:ext cx="3584448" cy="1097280"/>
          </a:xfrm>
          <a:prstGeom prst="rect">
            <a:avLst/>
          </a:prstGeom>
          <a:noFill/>
        </p:spPr>
        <p:txBody>
          <a:bodyPr wrap="square" lIns="0" rIns="0" tIns="0" bIns="0" anchor="t">
            <a:noAutofit/>
          </a:bodyPr>
          <a:lstStyle/>
          <a:p>
            <a:pPr algn="l">
              <a:lnSpc>
                <a:spcPct val="105000"/>
              </a:lnSpc>
              <a:spcAft>
                <a:spcPts val="400"/>
              </a:spcAft>
            </a:pPr>
            <a:r>
              <a:rPr sz="1150" b="0" i="0">
                <a:solidFill>
                  <a:srgbClr val="2B2257"/>
                </a:solidFill>
                <a:latin typeface="Calibri"/>
              </a:rPr>
              <a:t>Ridges fan out from the summit. Snow fills the gullies and runs down in fingers; steep flanks stay bare rock, lit warm on the sun side.</a:t>
            </a:r>
          </a:p>
        </p:txBody>
      </p:sp>
      <p:pic>
        <p:nvPicPr>
          <p:cNvPr id="11" name="Picture 10" descr="Close-up of the hero scene: Cumulus clouds"/>
          <p:cNvPicPr>
            <a:picLocks noChangeAspect="1"/>
          </p:cNvPicPr>
          <p:nvPr/>
        </p:nvPicPr>
        <p:blipFill>
          <a:blip r:embed="rId4"/>
          <a:stretch>
            <a:fillRect/>
          </a:stretch>
        </p:blipFill>
        <p:spPr>
          <a:xfrm>
            <a:off x="4297679" y="1508760"/>
            <a:ext cx="3584448" cy="2688336"/>
          </a:xfrm>
          <a:prstGeom prst="rect">
            <a:avLst/>
          </a:prstGeom>
          <a:effectLst>
            <a:outerShdw blurRad="177800" dist="38100" dir="5400000" algn="t" rotWithShape="0">
              <a:srgbClr val="1C1638">
                <a:alpha val="22000"/>
              </a:srgbClr>
            </a:outerShdw>
          </a:effectLst>
        </p:spPr>
      </p:pic>
      <p:sp>
        <p:nvSpPr>
          <p:cNvPr id="12" name="Oval 11"/>
          <p:cNvSpPr/>
          <p:nvPr/>
        </p:nvSpPr>
        <p:spPr>
          <a:xfrm>
            <a:off x="4297679" y="4407408"/>
            <a:ext cx="457200" cy="4572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oud-sun-w.png"/>
          <p:cNvPicPr>
            <a:picLocks noChangeAspect="1"/>
          </p:cNvPicPr>
          <p:nvPr/>
        </p:nvPicPr>
        <p:blipFill>
          <a:blip r:embed="rId5"/>
          <a:stretch>
            <a:fillRect/>
          </a:stretch>
        </p:blipFill>
        <p:spPr>
          <a:xfrm>
            <a:off x="4411979" y="4521708"/>
            <a:ext cx="228600" cy="228600"/>
          </a:xfrm>
          <a:prstGeom prst="rect">
            <a:avLst/>
          </a:prstGeom>
        </p:spPr>
      </p:pic>
      <p:sp>
        <p:nvSpPr>
          <p:cNvPr id="14" name="TextBox 13"/>
          <p:cNvSpPr txBox="1"/>
          <p:nvPr/>
        </p:nvSpPr>
        <p:spPr>
          <a:xfrm>
            <a:off x="4892040" y="4462272"/>
            <a:ext cx="292608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mbria"/>
              </a:rPr>
              <a:t>Cumulus clouds</a:t>
            </a:r>
          </a:p>
        </p:txBody>
      </p:sp>
      <p:sp>
        <p:nvSpPr>
          <p:cNvPr id="15" name="TextBox 14"/>
          <p:cNvSpPr txBox="1"/>
          <p:nvPr/>
        </p:nvSpPr>
        <p:spPr>
          <a:xfrm>
            <a:off x="4297679" y="4983480"/>
            <a:ext cx="3584448" cy="1097280"/>
          </a:xfrm>
          <a:prstGeom prst="rect">
            <a:avLst/>
          </a:prstGeom>
          <a:noFill/>
        </p:spPr>
        <p:txBody>
          <a:bodyPr wrap="square" lIns="0" rIns="0" tIns="0" bIns="0" anchor="t">
            <a:noAutofit/>
          </a:bodyPr>
          <a:lstStyle/>
          <a:p>
            <a:pPr algn="l">
              <a:lnSpc>
                <a:spcPct val="105000"/>
              </a:lnSpc>
              <a:spcAft>
                <a:spcPts val="400"/>
              </a:spcAft>
            </a:pPr>
            <a:r>
              <a:rPr sz="1150" b="0" i="0">
                <a:solidFill>
                  <a:srgbClr val="2B2257"/>
                </a:solidFill>
                <a:latin typeface="Calibri"/>
              </a:rPr>
              <a:t>Billowing towers behind the peak and two clouds drifting in front. Each is painted once on the GPU and lit from the sun's position.</a:t>
            </a:r>
          </a:p>
        </p:txBody>
      </p:sp>
      <p:pic>
        <p:nvPicPr>
          <p:cNvPr id="16" name="Picture 15" descr="Close-up of the hero scene: Birds in flight"/>
          <p:cNvPicPr>
            <a:picLocks noChangeAspect="1"/>
          </p:cNvPicPr>
          <p:nvPr/>
        </p:nvPicPr>
        <p:blipFill>
          <a:blip r:embed="rId6"/>
          <a:stretch>
            <a:fillRect/>
          </a:stretch>
        </p:blipFill>
        <p:spPr>
          <a:xfrm>
            <a:off x="8046719" y="1508760"/>
            <a:ext cx="3584448" cy="2688336"/>
          </a:xfrm>
          <a:prstGeom prst="rect">
            <a:avLst/>
          </a:prstGeom>
          <a:effectLst>
            <a:outerShdw blurRad="177800" dist="38100" dir="5400000" algn="t" rotWithShape="0">
              <a:srgbClr val="1C1638">
                <a:alpha val="22000"/>
              </a:srgbClr>
            </a:outerShdw>
          </a:effectLst>
        </p:spPr>
      </p:pic>
      <p:sp>
        <p:nvSpPr>
          <p:cNvPr id="17" name="Oval 16"/>
          <p:cNvSpPr/>
          <p:nvPr/>
        </p:nvSpPr>
        <p:spPr>
          <a:xfrm>
            <a:off x="8046719" y="4407408"/>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ird-w.png"/>
          <p:cNvPicPr>
            <a:picLocks noChangeAspect="1"/>
          </p:cNvPicPr>
          <p:nvPr/>
        </p:nvPicPr>
        <p:blipFill>
          <a:blip r:embed="rId7"/>
          <a:stretch>
            <a:fillRect/>
          </a:stretch>
        </p:blipFill>
        <p:spPr>
          <a:xfrm>
            <a:off x="8161019" y="4521708"/>
            <a:ext cx="228600" cy="228600"/>
          </a:xfrm>
          <a:prstGeom prst="rect">
            <a:avLst/>
          </a:prstGeom>
        </p:spPr>
      </p:pic>
      <p:sp>
        <p:nvSpPr>
          <p:cNvPr id="19" name="TextBox 18"/>
          <p:cNvSpPr txBox="1"/>
          <p:nvPr/>
        </p:nvSpPr>
        <p:spPr>
          <a:xfrm>
            <a:off x="8641080" y="4462272"/>
            <a:ext cx="292608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mbria"/>
              </a:rPr>
              <a:t>Birds in flight</a:t>
            </a:r>
          </a:p>
        </p:txBody>
      </p:sp>
      <p:sp>
        <p:nvSpPr>
          <p:cNvPr id="20" name="TextBox 19"/>
          <p:cNvSpPr txBox="1"/>
          <p:nvPr/>
        </p:nvSpPr>
        <p:spPr>
          <a:xfrm>
            <a:off x="8046719" y="4983480"/>
            <a:ext cx="3584448" cy="1097280"/>
          </a:xfrm>
          <a:prstGeom prst="rect">
            <a:avLst/>
          </a:prstGeom>
          <a:noFill/>
        </p:spPr>
        <p:txBody>
          <a:bodyPr wrap="square" lIns="0" rIns="0" tIns="0" bIns="0" anchor="t">
            <a:noAutofit/>
          </a:bodyPr>
          <a:lstStyle/>
          <a:p>
            <a:pPr algn="l">
              <a:lnSpc>
                <a:spcPct val="105000"/>
              </a:lnSpc>
              <a:spcAft>
                <a:spcPts val="400"/>
              </a:spcAft>
            </a:pPr>
            <a:r>
              <a:rPr sz="1150" b="0" i="0">
                <a:solidFill>
                  <a:srgbClr val="2B2257"/>
                </a:solidFill>
                <a:latin typeface="Calibri"/>
              </a:rPr>
              <a:t>3D gulls whose wings bend at the elbow as they flap, then glide. A distant flock and a closer pair give depth.</a:t>
            </a:r>
          </a:p>
        </p:txBody>
      </p:sp>
      <p:sp>
        <p:nvSpPr>
          <p:cNvPr id="21" name="Rounded Rectangle 20"/>
          <p:cNvSpPr/>
          <p:nvPr/>
        </p:nvSpPr>
        <p:spPr>
          <a:xfrm>
            <a:off x="548640" y="5897880"/>
            <a:ext cx="11091672" cy="411480"/>
          </a:xfrm>
          <a:prstGeom prst="roundRect">
            <a:avLst>
              <a:gd name="adj" fmla="val 2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v.png"/>
          <p:cNvPicPr>
            <a:picLocks noChangeAspect="1"/>
          </p:cNvPicPr>
          <p:nvPr/>
        </p:nvPicPr>
        <p:blipFill>
          <a:blip r:embed="rId8"/>
          <a:stretch>
            <a:fillRect/>
          </a:stretch>
        </p:blipFill>
        <p:spPr>
          <a:xfrm>
            <a:off x="731520" y="5971032"/>
            <a:ext cx="265176" cy="265176"/>
          </a:xfrm>
          <a:prstGeom prst="rect">
            <a:avLst/>
          </a:prstGeom>
        </p:spPr>
      </p:pic>
      <p:sp>
        <p:nvSpPr>
          <p:cNvPr id="23" name="TextBox 22"/>
          <p:cNvSpPr txBox="1"/>
          <p:nvPr/>
        </p:nvSpPr>
        <p:spPr>
          <a:xfrm>
            <a:off x="1097280" y="5897880"/>
            <a:ext cx="10424160" cy="411480"/>
          </a:xfrm>
          <a:prstGeom prst="rect">
            <a:avLst/>
          </a:prstGeom>
          <a:noFill/>
        </p:spPr>
        <p:txBody>
          <a:bodyPr wrap="square" lIns="0" rIns="0" tIns="0" bIns="0" anchor="ctr">
            <a:noAutofit/>
          </a:bodyPr>
          <a:lstStyle/>
          <a:p>
            <a:pPr algn="l">
              <a:spcAft>
                <a:spcPts val="400"/>
              </a:spcAft>
            </a:pPr>
            <a:r>
              <a:rPr sz="1150" b="0" i="0">
                <a:solidFill>
                  <a:srgbClr val="2B2257"/>
                </a:solidFill>
                <a:latin typeface="Calibri"/>
              </a:rPr>
              <a:t>Built for speed: loads after the page is usable, draws only while visible, and keeps a still frame for reduced-motion users.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Find the right place</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 02 · EXPLORE</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8</a:t>
            </a:r>
          </a:p>
        </p:txBody>
      </p:sp>
      <p:sp>
        <p:nvSpPr>
          <p:cNvPr id="6" name="Rounded Rectangle 5"/>
          <p:cNvSpPr/>
          <p:nvPr/>
        </p:nvSpPr>
        <p:spPr>
          <a:xfrm>
            <a:off x="548640" y="1463040"/>
            <a:ext cx="5760720" cy="3826763"/>
          </a:xfrm>
          <a:prstGeom prst="roundRect">
            <a:avLst>
              <a:gd name="adj" fmla="val 2389"/>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132838" y="1517904"/>
            <a:ext cx="2592324"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132838" y="1513332"/>
            <a:ext cx="2592324"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explore.html?month=12</a:t>
            </a:r>
          </a:p>
        </p:txBody>
      </p:sp>
      <p:pic>
        <p:nvPicPr>
          <p:cNvPr id="12" name="Picture 11" descr="Screenshot of the Pathik website: pathik / explore.html?month=12"/>
          <p:cNvPicPr>
            <a:picLocks noChangeAspect="1"/>
          </p:cNvPicPr>
          <p:nvPr/>
        </p:nvPicPr>
        <p:blipFill>
          <a:blip r:embed="rId2"/>
          <a:stretch>
            <a:fillRect/>
          </a:stretch>
        </p:blipFill>
        <p:spPr>
          <a:xfrm>
            <a:off x="594360" y="1700784"/>
            <a:ext cx="5669280" cy="3543300"/>
          </a:xfrm>
          <a:prstGeom prst="rect">
            <a:avLst/>
          </a:prstGeom>
        </p:spPr>
      </p:pic>
      <p:sp>
        <p:nvSpPr>
          <p:cNvPr id="13" name="Rounded Rectangle 12"/>
          <p:cNvSpPr/>
          <p:nvPr/>
        </p:nvSpPr>
        <p:spPr>
          <a:xfrm>
            <a:off x="6949440" y="1463040"/>
            <a:ext cx="4690872" cy="3821488"/>
          </a:xfrm>
          <a:prstGeom prst="roundRect">
            <a:avLst>
              <a:gd name="adj" fmla="val 2392"/>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077455"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2146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51775"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39429" y="1517904"/>
            <a:ext cx="2110892"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9429" y="1513332"/>
            <a:ext cx="2110892"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explore.html#leh</a:t>
            </a:r>
          </a:p>
        </p:txBody>
      </p:sp>
      <p:pic>
        <p:nvPicPr>
          <p:cNvPr id="19" name="Picture 18" descr="Screenshot of the Pathik website: pathik / explore.html#leh"/>
          <p:cNvPicPr>
            <a:picLocks noChangeAspect="1"/>
          </p:cNvPicPr>
          <p:nvPr/>
        </p:nvPicPr>
        <p:blipFill>
          <a:blip r:embed="rId3"/>
          <a:stretch>
            <a:fillRect/>
          </a:stretch>
        </p:blipFill>
        <p:spPr>
          <a:xfrm>
            <a:off x="6995159" y="1700784"/>
            <a:ext cx="4599432" cy="3538024"/>
          </a:xfrm>
          <a:prstGeom prst="rect">
            <a:avLst/>
          </a:prstGeom>
        </p:spPr>
      </p:pic>
      <p:sp>
        <p:nvSpPr>
          <p:cNvPr id="20" name="TextBox 19"/>
          <p:cNvSpPr txBox="1"/>
          <p:nvPr/>
        </p:nvSpPr>
        <p:spPr>
          <a:xfrm>
            <a:off x="548640" y="5440680"/>
            <a:ext cx="5669280" cy="292608"/>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Filters that stack</a:t>
            </a:r>
          </a:p>
        </p:txBody>
      </p:sp>
      <p:sp>
        <p:nvSpPr>
          <p:cNvPr id="21" name="TextBox 20"/>
          <p:cNvSpPr txBox="1"/>
          <p:nvPr/>
        </p:nvSpPr>
        <p:spPr>
          <a:xfrm>
            <a:off x="548640" y="5733288"/>
            <a:ext cx="5669280" cy="54864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Month, style, daily budget, region and type. Places in season sort first.</a:t>
            </a:r>
          </a:p>
        </p:txBody>
      </p:sp>
      <p:sp>
        <p:nvSpPr>
          <p:cNvPr id="22" name="TextBox 21"/>
          <p:cNvSpPr txBox="1"/>
          <p:nvPr/>
        </p:nvSpPr>
        <p:spPr>
          <a:xfrm>
            <a:off x="6949440" y="5440680"/>
            <a:ext cx="4663440" cy="292608"/>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Everything about a place</a:t>
            </a:r>
          </a:p>
        </p:txBody>
      </p:sp>
      <p:sp>
        <p:nvSpPr>
          <p:cNvPr id="23" name="TextBox 22"/>
          <p:cNvSpPr txBox="1"/>
          <p:nvPr/>
        </p:nvSpPr>
        <p:spPr>
          <a:xfrm>
            <a:off x="6949440" y="5733288"/>
            <a:ext cx="4663440" cy="54864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Best months, getting there, a day's cost at three comfort levels, tips, scams and a Google map.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Where is good this month?</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 03 · SEASON MAP</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9</a:t>
            </a:r>
          </a:p>
        </p:txBody>
      </p:sp>
      <p:sp>
        <p:nvSpPr>
          <p:cNvPr id="6" name="Rounded Rectangle 5"/>
          <p:cNvSpPr/>
          <p:nvPr/>
        </p:nvSpPr>
        <p:spPr>
          <a:xfrm>
            <a:off x="548640" y="1463040"/>
            <a:ext cx="6629400" cy="4369689"/>
          </a:xfrm>
          <a:prstGeom prst="roundRect">
            <a:avLst>
              <a:gd name="adj" fmla="val 2092"/>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00300" y="1517904"/>
            <a:ext cx="292608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00300" y="1513332"/>
            <a:ext cx="292608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season.html?m=6</a:t>
            </a:r>
          </a:p>
        </p:txBody>
      </p:sp>
      <p:pic>
        <p:nvPicPr>
          <p:cNvPr id="12" name="Picture 11" descr="Screenshot of the Pathik website: pathik / season.html?m=6"/>
          <p:cNvPicPr>
            <a:picLocks noChangeAspect="1"/>
          </p:cNvPicPr>
          <p:nvPr/>
        </p:nvPicPr>
        <p:blipFill>
          <a:blip r:embed="rId2"/>
          <a:stretch>
            <a:fillRect/>
          </a:stretch>
        </p:blipFill>
        <p:spPr>
          <a:xfrm>
            <a:off x="594360" y="1700784"/>
            <a:ext cx="6537960" cy="4086225"/>
          </a:xfrm>
          <a:prstGeom prst="rect">
            <a:avLst/>
          </a:prstGeom>
        </p:spPr>
      </p:pic>
      <p:sp>
        <p:nvSpPr>
          <p:cNvPr id="13" name="TextBox 12"/>
          <p:cNvSpPr txBox="1"/>
          <p:nvPr/>
        </p:nvSpPr>
        <p:spPr>
          <a:xfrm>
            <a:off x="7498079" y="1481328"/>
            <a:ext cx="4160520" cy="1371600"/>
          </a:xfrm>
          <a:prstGeom prst="rect">
            <a:avLst/>
          </a:prstGeom>
          <a:noFill/>
        </p:spPr>
        <p:txBody>
          <a:bodyPr wrap="square" lIns="0" rIns="0" tIns="0" bIns="0" anchor="t">
            <a:noAutofit/>
          </a:bodyPr>
          <a:lstStyle/>
          <a:p>
            <a:pPr algn="l">
              <a:lnSpc>
                <a:spcPct val="108000"/>
              </a:lnSpc>
              <a:spcAft>
                <a:spcPts val="400"/>
              </a:spcAft>
            </a:pPr>
            <a:r>
              <a:rPr sz="1300" b="0" i="0">
                <a:solidFill>
                  <a:srgbClr val="2B2257"/>
                </a:solidFill>
                <a:latin typeface="Calibri"/>
              </a:rPr>
              <a:t>Turn a dial to your month and set a daily budget. A 3D map of India lights up every place: taller light means better season, colour shows how crowded it is.</a:t>
            </a:r>
          </a:p>
        </p:txBody>
      </p:sp>
      <p:sp>
        <p:nvSpPr>
          <p:cNvPr id="14" name="Rounded Rectangle 13"/>
          <p:cNvSpPr/>
          <p:nvPr/>
        </p:nvSpPr>
        <p:spPr>
          <a:xfrm>
            <a:off x="7498079" y="2734056"/>
            <a:ext cx="128016" cy="237744"/>
          </a:xfrm>
          <a:prstGeom prst="roundRect">
            <a:avLst>
              <a:gd name="adj" fmla="val 35714"/>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26679" y="2697480"/>
            <a:ext cx="1645920" cy="310896"/>
          </a:xfrm>
          <a:prstGeom prst="rect">
            <a:avLst/>
          </a:prstGeom>
          <a:noFill/>
        </p:spPr>
        <p:txBody>
          <a:bodyPr wrap="square" lIns="0" rIns="0" tIns="0" bIns="0" anchor="ctr">
            <a:noAutofit/>
          </a:bodyPr>
          <a:lstStyle/>
          <a:p>
            <a:pPr algn="l">
              <a:spcAft>
                <a:spcPts val="400"/>
              </a:spcAft>
            </a:pPr>
            <a:r>
              <a:rPr sz="1150" b="1" i="0">
                <a:solidFill>
                  <a:srgbClr val="2B2257"/>
                </a:solidFill>
                <a:latin typeface="Calibri"/>
              </a:rPr>
              <a:t>Calm</a:t>
            </a:r>
          </a:p>
        </p:txBody>
      </p:sp>
      <p:sp>
        <p:nvSpPr>
          <p:cNvPr id="16" name="Rounded Rectangle 15"/>
          <p:cNvSpPr/>
          <p:nvPr/>
        </p:nvSpPr>
        <p:spPr>
          <a:xfrm>
            <a:off x="9509759" y="2734056"/>
            <a:ext cx="128016" cy="237744"/>
          </a:xfrm>
          <a:prstGeom prst="roundRect">
            <a:avLst>
              <a:gd name="adj" fmla="val 35714"/>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38359" y="2697480"/>
            <a:ext cx="1645920" cy="310896"/>
          </a:xfrm>
          <a:prstGeom prst="rect">
            <a:avLst/>
          </a:prstGeom>
          <a:noFill/>
        </p:spPr>
        <p:txBody>
          <a:bodyPr wrap="square" lIns="0" rIns="0" tIns="0" bIns="0" anchor="ctr">
            <a:noAutofit/>
          </a:bodyPr>
          <a:lstStyle/>
          <a:p>
            <a:pPr algn="l">
              <a:spcAft>
                <a:spcPts val="400"/>
              </a:spcAft>
            </a:pPr>
            <a:r>
              <a:rPr sz="1150" b="1" i="0">
                <a:solidFill>
                  <a:srgbClr val="2B2257"/>
                </a:solidFill>
                <a:latin typeface="Calibri"/>
              </a:rPr>
              <a:t>Busy</a:t>
            </a:r>
          </a:p>
        </p:txBody>
      </p:sp>
      <p:sp>
        <p:nvSpPr>
          <p:cNvPr id="18" name="Rounded Rectangle 17"/>
          <p:cNvSpPr/>
          <p:nvPr/>
        </p:nvSpPr>
        <p:spPr>
          <a:xfrm>
            <a:off x="7498079" y="3118104"/>
            <a:ext cx="128016" cy="237744"/>
          </a:xfrm>
          <a:prstGeom prst="roundRect">
            <a:avLst>
              <a:gd name="adj" fmla="val 35714"/>
            </a:avLst>
          </a:prstGeom>
          <a:solidFill>
            <a:srgbClr val="FF4A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26679" y="3081528"/>
            <a:ext cx="1645920" cy="310896"/>
          </a:xfrm>
          <a:prstGeom prst="rect">
            <a:avLst/>
          </a:prstGeom>
          <a:noFill/>
        </p:spPr>
        <p:txBody>
          <a:bodyPr wrap="square" lIns="0" rIns="0" tIns="0" bIns="0" anchor="ctr">
            <a:noAutofit/>
          </a:bodyPr>
          <a:lstStyle/>
          <a:p>
            <a:pPr algn="l">
              <a:spcAft>
                <a:spcPts val="400"/>
              </a:spcAft>
            </a:pPr>
            <a:r>
              <a:rPr sz="1150" b="1" i="0">
                <a:solidFill>
                  <a:srgbClr val="2B2257"/>
                </a:solidFill>
                <a:latin typeface="Calibri"/>
              </a:rPr>
              <a:t>Packed</a:t>
            </a:r>
          </a:p>
        </p:txBody>
      </p:sp>
      <p:sp>
        <p:nvSpPr>
          <p:cNvPr id="20" name="Rounded Rectangle 19"/>
          <p:cNvSpPr/>
          <p:nvPr/>
        </p:nvSpPr>
        <p:spPr>
          <a:xfrm>
            <a:off x="9509759" y="3118104"/>
            <a:ext cx="128016" cy="237744"/>
          </a:xfrm>
          <a:prstGeom prst="roundRect">
            <a:avLst>
              <a:gd name="adj" fmla="val 35714"/>
            </a:avLst>
          </a:prstGeom>
          <a:solidFill>
            <a:srgbClr val="6D65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38359" y="3081528"/>
            <a:ext cx="1645920" cy="310896"/>
          </a:xfrm>
          <a:prstGeom prst="rect">
            <a:avLst/>
          </a:prstGeom>
          <a:noFill/>
        </p:spPr>
        <p:txBody>
          <a:bodyPr wrap="square" lIns="0" rIns="0" tIns="0" bIns="0" anchor="ctr">
            <a:noAutofit/>
          </a:bodyPr>
          <a:lstStyle/>
          <a:p>
            <a:pPr algn="l">
              <a:spcAft>
                <a:spcPts val="400"/>
              </a:spcAft>
            </a:pPr>
            <a:r>
              <a:rPr sz="1150" b="1" i="0">
                <a:solidFill>
                  <a:srgbClr val="2B2257"/>
                </a:solidFill>
                <a:latin typeface="Calibri"/>
              </a:rPr>
              <a:t>Over budget</a:t>
            </a:r>
          </a:p>
        </p:txBody>
      </p:sp>
      <p:pic>
        <p:nvPicPr>
          <p:cNvPr id="22" name="Picture 21" descr="check-e.png"/>
          <p:cNvPicPr>
            <a:picLocks noChangeAspect="1"/>
          </p:cNvPicPr>
          <p:nvPr/>
        </p:nvPicPr>
        <p:blipFill>
          <a:blip r:embed="rId3"/>
          <a:stretch>
            <a:fillRect/>
          </a:stretch>
        </p:blipFill>
        <p:spPr>
          <a:xfrm>
            <a:off x="7498079" y="3685032"/>
            <a:ext cx="219456" cy="219456"/>
          </a:xfrm>
          <a:prstGeom prst="rect">
            <a:avLst/>
          </a:prstGeom>
        </p:spPr>
      </p:pic>
      <p:sp>
        <p:nvSpPr>
          <p:cNvPr id="23" name="TextBox 22"/>
          <p:cNvSpPr txBox="1"/>
          <p:nvPr/>
        </p:nvSpPr>
        <p:spPr>
          <a:xfrm>
            <a:off x="7827263" y="3657600"/>
            <a:ext cx="3831335" cy="38404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Ranked list updates as you turn the dial</a:t>
            </a:r>
          </a:p>
        </p:txBody>
      </p:sp>
      <p:pic>
        <p:nvPicPr>
          <p:cNvPr id="24" name="Picture 23" descr="check-e.png"/>
          <p:cNvPicPr>
            <a:picLocks noChangeAspect="1"/>
          </p:cNvPicPr>
          <p:nvPr/>
        </p:nvPicPr>
        <p:blipFill>
          <a:blip r:embed="rId3"/>
          <a:stretch>
            <a:fillRect/>
          </a:stretch>
        </p:blipFill>
        <p:spPr>
          <a:xfrm>
            <a:off x="7498079" y="4069080"/>
            <a:ext cx="219456" cy="219456"/>
          </a:xfrm>
          <a:prstGeom prst="rect">
            <a:avLst/>
          </a:prstGeom>
        </p:spPr>
      </p:pic>
      <p:sp>
        <p:nvSpPr>
          <p:cNvPr id="25" name="TextBox 24"/>
          <p:cNvSpPr txBox="1"/>
          <p:nvPr/>
        </p:nvSpPr>
        <p:spPr>
          <a:xfrm>
            <a:off x="7827263" y="4041648"/>
            <a:ext cx="3831335" cy="38404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Season, budget and crowd in one score</a:t>
            </a:r>
          </a:p>
        </p:txBody>
      </p:sp>
      <p:pic>
        <p:nvPicPr>
          <p:cNvPr id="26" name="Picture 25" descr="check-e.png"/>
          <p:cNvPicPr>
            <a:picLocks noChangeAspect="1"/>
          </p:cNvPicPr>
          <p:nvPr/>
        </p:nvPicPr>
        <p:blipFill>
          <a:blip r:embed="rId3"/>
          <a:stretch>
            <a:fillRect/>
          </a:stretch>
        </p:blipFill>
        <p:spPr>
          <a:xfrm>
            <a:off x="7498079" y="4453128"/>
            <a:ext cx="219456" cy="219456"/>
          </a:xfrm>
          <a:prstGeom prst="rect">
            <a:avLst/>
          </a:prstGeom>
        </p:spPr>
      </p:pic>
      <p:sp>
        <p:nvSpPr>
          <p:cNvPr id="27" name="TextBox 26"/>
          <p:cNvSpPr txBox="1"/>
          <p:nvPr/>
        </p:nvSpPr>
        <p:spPr>
          <a:xfrm>
            <a:off x="7827263" y="4425696"/>
            <a:ext cx="3831335" cy="38404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Click a pillar: the camera flies to it</a:t>
            </a:r>
          </a:p>
        </p:txBody>
      </p:sp>
      <p:pic>
        <p:nvPicPr>
          <p:cNvPr id="28" name="Picture 27" descr="check-e.png"/>
          <p:cNvPicPr>
            <a:picLocks noChangeAspect="1"/>
          </p:cNvPicPr>
          <p:nvPr/>
        </p:nvPicPr>
        <p:blipFill>
          <a:blip r:embed="rId3"/>
          <a:stretch>
            <a:fillRect/>
          </a:stretch>
        </p:blipFill>
        <p:spPr>
          <a:xfrm>
            <a:off x="7498079" y="4837176"/>
            <a:ext cx="219456" cy="219456"/>
          </a:xfrm>
          <a:prstGeom prst="rect">
            <a:avLst/>
          </a:prstGeom>
        </p:spPr>
      </p:pic>
      <p:sp>
        <p:nvSpPr>
          <p:cNvPr id="29" name="TextBox 28"/>
          <p:cNvSpPr txBox="1"/>
          <p:nvPr/>
        </p:nvSpPr>
        <p:spPr>
          <a:xfrm>
            <a:off x="7827263" y="4809744"/>
            <a:ext cx="3831335" cy="38404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Trip stops joined by glowing arcs</a:t>
            </a:r>
          </a:p>
        </p:txBody>
      </p:sp>
      <p:sp>
        <p:nvSpPr>
          <p:cNvPr id="30" name="TextBox 29"/>
          <p:cNvSpPr txBox="1"/>
          <p:nvPr/>
        </p:nvSpPr>
        <p:spPr>
          <a:xfrm>
            <a:off x="548640" y="5943600"/>
            <a:ext cx="6629400" cy="274320"/>
          </a:xfrm>
          <a:prstGeom prst="rect">
            <a:avLst/>
          </a:prstGeom>
          <a:noFill/>
        </p:spPr>
        <p:txBody>
          <a:bodyPr wrap="square" lIns="0" rIns="0" tIns="0" bIns="0" anchor="t">
            <a:noAutofit/>
          </a:bodyPr>
          <a:lstStyle/>
          <a:p>
            <a:pPr algn="l">
              <a:spcAft>
                <a:spcPts val="400"/>
              </a:spcAft>
            </a:pPr>
            <a:r>
              <a:rPr sz="1000" b="0" i="1">
                <a:solidFill>
                  <a:srgbClr val="6D6585"/>
                </a:solidFill>
                <a:latin typeface="Calibri"/>
              </a:rPr>
              <a:t>June with a ₹7,000 a day budget: the Himalaya is in season; Manali, Srinagar and Leh are packed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Quieter places and shareable trips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 03 · SEASON MAP IN ACTION</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10</a:t>
            </a:r>
          </a:p>
        </p:txBody>
      </p:sp>
      <p:sp>
        <p:nvSpPr>
          <p:cNvPr id="6" name="Rounded Rectangle 5"/>
          <p:cNvSpPr/>
          <p:nvPr/>
        </p:nvSpPr>
        <p:spPr>
          <a:xfrm>
            <a:off x="548640" y="1463040"/>
            <a:ext cx="6035040" cy="3998213"/>
          </a:xfrm>
          <a:prstGeom prst="roundRect">
            <a:avLst>
              <a:gd name="adj" fmla="val 2287"/>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208276" y="1517904"/>
            <a:ext cx="2715768"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208276" y="1513332"/>
            <a:ext cx="2715768"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season.html?m=5&amp;d=manali</a:t>
            </a:r>
          </a:p>
        </p:txBody>
      </p:sp>
      <p:pic>
        <p:nvPicPr>
          <p:cNvPr id="12" name="Picture 11" descr="Screenshot of the Pathik website: pathik / season.html?m=5&amp;d=manali"/>
          <p:cNvPicPr>
            <a:picLocks noChangeAspect="1"/>
          </p:cNvPicPr>
          <p:nvPr/>
        </p:nvPicPr>
        <p:blipFill>
          <a:blip r:embed="rId2"/>
          <a:stretch>
            <a:fillRect/>
          </a:stretch>
        </p:blipFill>
        <p:spPr>
          <a:xfrm>
            <a:off x="594360" y="1700784"/>
            <a:ext cx="5943600" cy="3714750"/>
          </a:xfrm>
          <a:prstGeom prst="rect">
            <a:avLst/>
          </a:prstGeom>
        </p:spPr>
      </p:pic>
      <p:sp>
        <p:nvSpPr>
          <p:cNvPr id="13" name="Rounded Rectangle 12"/>
          <p:cNvSpPr/>
          <p:nvPr/>
        </p:nvSpPr>
        <p:spPr>
          <a:xfrm>
            <a:off x="6858000" y="1463040"/>
            <a:ext cx="1965960" cy="3698044"/>
          </a:xfrm>
          <a:prstGeom prst="roundRect">
            <a:avLst>
              <a:gd name="adj" fmla="val 13023"/>
            </a:avLst>
          </a:prstGeom>
          <a:solidFill>
            <a:srgbClr val="1C1638"/>
          </a:solidFill>
          <a:ln>
            <a:noFill/>
          </a:ln>
          <a:effectLst>
            <a:outerShdw blurRad="228600" dist="50800" dir="5400000" algn="t" rotWithShape="0">
              <a:srgbClr val="1C16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creenshot of the Pathik website on a phone"/>
          <p:cNvPicPr>
            <a:picLocks noChangeAspect="1"/>
          </p:cNvPicPr>
          <p:nvPr/>
        </p:nvPicPr>
        <p:blipFill>
          <a:blip r:embed="rId3"/>
          <a:stretch>
            <a:fillRect/>
          </a:stretch>
        </p:blipFill>
        <p:spPr>
          <a:xfrm>
            <a:off x="6940296" y="1545336"/>
            <a:ext cx="1801368" cy="3533452"/>
          </a:xfrm>
          <a:prstGeom prst="rect">
            <a:avLst/>
          </a:prstGeom>
        </p:spPr>
      </p:pic>
      <p:sp>
        <p:nvSpPr>
          <p:cNvPr id="15" name="Rounded Rectangle 14"/>
          <p:cNvSpPr/>
          <p:nvPr/>
        </p:nvSpPr>
        <p:spPr>
          <a:xfrm>
            <a:off x="9098280" y="1463040"/>
            <a:ext cx="2542032" cy="1353312"/>
          </a:xfrm>
          <a:prstGeom prst="roundRect">
            <a:avLst>
              <a:gd name="adj" fmla="val 8108"/>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235440" y="1600200"/>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s-w.png"/>
          <p:cNvPicPr>
            <a:picLocks noChangeAspect="1"/>
          </p:cNvPicPr>
          <p:nvPr/>
        </p:nvPicPr>
        <p:blipFill>
          <a:blip r:embed="rId4"/>
          <a:stretch>
            <a:fillRect/>
          </a:stretch>
        </p:blipFill>
        <p:spPr>
          <a:xfrm>
            <a:off x="9331452" y="1696212"/>
            <a:ext cx="192024" cy="192024"/>
          </a:xfrm>
          <a:prstGeom prst="rect">
            <a:avLst/>
          </a:prstGeom>
        </p:spPr>
      </p:pic>
      <p:sp>
        <p:nvSpPr>
          <p:cNvPr id="18" name="TextBox 17"/>
          <p:cNvSpPr txBox="1"/>
          <p:nvPr/>
        </p:nvSpPr>
        <p:spPr>
          <a:xfrm>
            <a:off x="9710928" y="1618488"/>
            <a:ext cx="1828800" cy="347472"/>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Quieter twin</a:t>
            </a:r>
          </a:p>
        </p:txBody>
      </p:sp>
      <p:sp>
        <p:nvSpPr>
          <p:cNvPr id="19" name="TextBox 18"/>
          <p:cNvSpPr txBox="1"/>
          <p:nvPr/>
        </p:nvSpPr>
        <p:spPr>
          <a:xfrm>
            <a:off x="9235440" y="2066544"/>
            <a:ext cx="2331720" cy="73152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Manali is packed in May, so the card suggests Tirthan Valley: 28% cheaper a day, calm, in season.</a:t>
            </a:r>
          </a:p>
        </p:txBody>
      </p:sp>
      <p:sp>
        <p:nvSpPr>
          <p:cNvPr id="20" name="Rounded Rectangle 19"/>
          <p:cNvSpPr/>
          <p:nvPr/>
        </p:nvSpPr>
        <p:spPr>
          <a:xfrm>
            <a:off x="9098280" y="2944368"/>
            <a:ext cx="2542032" cy="1353312"/>
          </a:xfrm>
          <a:prstGeom prst="roundRect">
            <a:avLst>
              <a:gd name="adj" fmla="val 8108"/>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235440" y="3081528"/>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hare-2-w.png"/>
          <p:cNvPicPr>
            <a:picLocks noChangeAspect="1"/>
          </p:cNvPicPr>
          <p:nvPr/>
        </p:nvPicPr>
        <p:blipFill>
          <a:blip r:embed="rId5"/>
          <a:stretch>
            <a:fillRect/>
          </a:stretch>
        </p:blipFill>
        <p:spPr>
          <a:xfrm>
            <a:off x="9331452" y="3177540"/>
            <a:ext cx="192024" cy="192024"/>
          </a:xfrm>
          <a:prstGeom prst="rect">
            <a:avLst/>
          </a:prstGeom>
        </p:spPr>
      </p:pic>
      <p:sp>
        <p:nvSpPr>
          <p:cNvPr id="23" name="TextBox 22"/>
          <p:cNvSpPr txBox="1"/>
          <p:nvPr/>
        </p:nvSpPr>
        <p:spPr>
          <a:xfrm>
            <a:off x="9710928" y="3099816"/>
            <a:ext cx="1828800" cy="347472"/>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Share as a link</a:t>
            </a:r>
          </a:p>
        </p:txBody>
      </p:sp>
      <p:sp>
        <p:nvSpPr>
          <p:cNvPr id="24" name="TextBox 23"/>
          <p:cNvSpPr txBox="1"/>
          <p:nvPr/>
        </p:nvSpPr>
        <p:spPr>
          <a:xfrm>
            <a:off x="9235440" y="3547872"/>
            <a:ext cx="2331720" cy="73152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The whole trip fits in one link. Friends or an agent open it and see the same plan.</a:t>
            </a:r>
          </a:p>
        </p:txBody>
      </p:sp>
      <p:sp>
        <p:nvSpPr>
          <p:cNvPr id="25" name="Rounded Rectangle 24"/>
          <p:cNvSpPr/>
          <p:nvPr/>
        </p:nvSpPr>
        <p:spPr>
          <a:xfrm>
            <a:off x="9098280" y="4425696"/>
            <a:ext cx="2542032" cy="1353312"/>
          </a:xfrm>
          <a:prstGeom prst="roundRect">
            <a:avLst>
              <a:gd name="adj" fmla="val 8108"/>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235440" y="4562856"/>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martphone-w.png"/>
          <p:cNvPicPr>
            <a:picLocks noChangeAspect="1"/>
          </p:cNvPicPr>
          <p:nvPr/>
        </p:nvPicPr>
        <p:blipFill>
          <a:blip r:embed="rId6"/>
          <a:stretch>
            <a:fillRect/>
          </a:stretch>
        </p:blipFill>
        <p:spPr>
          <a:xfrm>
            <a:off x="9331452" y="4658868"/>
            <a:ext cx="192024" cy="192024"/>
          </a:xfrm>
          <a:prstGeom prst="rect">
            <a:avLst/>
          </a:prstGeom>
        </p:spPr>
      </p:pic>
      <p:sp>
        <p:nvSpPr>
          <p:cNvPr id="28" name="TextBox 27"/>
          <p:cNvSpPr txBox="1"/>
          <p:nvPr/>
        </p:nvSpPr>
        <p:spPr>
          <a:xfrm>
            <a:off x="9710928" y="4581144"/>
            <a:ext cx="1828800" cy="347472"/>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On phones</a:t>
            </a:r>
          </a:p>
        </p:txBody>
      </p:sp>
      <p:sp>
        <p:nvSpPr>
          <p:cNvPr id="29" name="TextBox 28"/>
          <p:cNvSpPr txBox="1"/>
          <p:nvPr/>
        </p:nvSpPr>
        <p:spPr>
          <a:xfrm>
            <a:off x="9235440" y="5029200"/>
            <a:ext cx="2331720" cy="73152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A near top-down map, with the dial and the list stacked below.</a:t>
            </a:r>
          </a:p>
        </p:txBody>
      </p:sp>
      <p:sp>
        <p:nvSpPr>
          <p:cNvPr id="30" name="TextBox 29"/>
          <p:cNvSpPr txBox="1"/>
          <p:nvPr/>
        </p:nvSpPr>
        <p:spPr>
          <a:xfrm>
            <a:off x="548640" y="5989320"/>
            <a:ext cx="6035040" cy="274320"/>
          </a:xfrm>
          <a:prstGeom prst="rect">
            <a:avLst/>
          </a:prstGeom>
          <a:noFill/>
        </p:spPr>
        <p:txBody>
          <a:bodyPr wrap="square" lIns="0" rIns="0" tIns="0" bIns="0" anchor="t">
            <a:noAutofit/>
          </a:bodyPr>
          <a:lstStyle/>
          <a:p>
            <a:pPr algn="l">
              <a:spcAft>
                <a:spcPts val="400"/>
              </a:spcAft>
            </a:pPr>
            <a:r>
              <a:rPr sz="1000" b="0" i="1">
                <a:solidFill>
                  <a:srgbClr val="6D6585"/>
                </a:solidFill>
                <a:latin typeface="Calibri"/>
              </a:rPr>
              <a:t>A packed place points to a calmer alternative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One correct map of India</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MAPS</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11</a:t>
            </a:r>
          </a:p>
        </p:txBody>
      </p:sp>
      <p:sp>
        <p:nvSpPr>
          <p:cNvPr id="6" name="Rounded Rectangle 5"/>
          <p:cNvSpPr/>
          <p:nvPr/>
        </p:nvSpPr>
        <p:spPr>
          <a:xfrm>
            <a:off x="1188720" y="1417320"/>
            <a:ext cx="4754880" cy="4642766"/>
          </a:xfrm>
          <a:prstGeom prst="roundRect">
            <a:avLst>
              <a:gd name="adj" fmla="val 1969"/>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16736" y="149504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53895" y="149504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91056" y="149504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96312" y="1472184"/>
            <a:ext cx="2139696"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96312" y="1467612"/>
            <a:ext cx="2139696"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explore.html (map view)</a:t>
            </a:r>
          </a:p>
        </p:txBody>
      </p:sp>
      <p:pic>
        <p:nvPicPr>
          <p:cNvPr id="12" name="Picture 11" descr="Screenshot of the Pathik website: pathik / explore.html (map view)"/>
          <p:cNvPicPr>
            <a:picLocks noChangeAspect="1"/>
          </p:cNvPicPr>
          <p:nvPr/>
        </p:nvPicPr>
        <p:blipFill>
          <a:blip r:embed="rId2"/>
          <a:stretch>
            <a:fillRect/>
          </a:stretch>
        </p:blipFill>
        <p:spPr>
          <a:xfrm>
            <a:off x="1234440" y="1655064"/>
            <a:ext cx="4663440" cy="4359302"/>
          </a:xfrm>
          <a:prstGeom prst="rect">
            <a:avLst/>
          </a:prstGeom>
        </p:spPr>
      </p:pic>
      <p:sp>
        <p:nvSpPr>
          <p:cNvPr id="13" name="TextBox 12"/>
          <p:cNvSpPr txBox="1"/>
          <p:nvPr/>
        </p:nvSpPr>
        <p:spPr>
          <a:xfrm>
            <a:off x="7178040" y="1481328"/>
            <a:ext cx="4480560" cy="1737360"/>
          </a:xfrm>
          <a:prstGeom prst="rect">
            <a:avLst/>
          </a:prstGeom>
          <a:noFill/>
        </p:spPr>
        <p:txBody>
          <a:bodyPr wrap="square" lIns="0" rIns="0" tIns="0" bIns="0" anchor="t">
            <a:noAutofit/>
          </a:bodyPr>
          <a:lstStyle/>
          <a:p>
            <a:pPr algn="l">
              <a:lnSpc>
                <a:spcPct val="108000"/>
              </a:lnSpc>
              <a:spcAft>
                <a:spcPts val="400"/>
              </a:spcAft>
            </a:pPr>
            <a:r>
              <a:rPr sz="1300" b="0" i="0">
                <a:solidFill>
                  <a:srgbClr val="2B2257"/>
                </a:solidFill>
                <a:latin typeface="Calibri"/>
              </a:rPr>
              <a:t>World map services draw India's borders the way international maps show them. Pathik draws India's official outline itself, as published by the Survey of India, on every map on the site.</a:t>
            </a:r>
          </a:p>
        </p:txBody>
      </p:sp>
      <p:sp>
        <p:nvSpPr>
          <p:cNvPr id="14" name="Oval 13"/>
          <p:cNvSpPr/>
          <p:nvPr/>
        </p:nvSpPr>
        <p:spPr>
          <a:xfrm>
            <a:off x="7178040" y="2788920"/>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lag-w.png"/>
          <p:cNvPicPr>
            <a:picLocks noChangeAspect="1"/>
          </p:cNvPicPr>
          <p:nvPr/>
        </p:nvPicPr>
        <p:blipFill>
          <a:blip r:embed="rId3"/>
          <a:stretch>
            <a:fillRect/>
          </a:stretch>
        </p:blipFill>
        <p:spPr>
          <a:xfrm>
            <a:off x="7292340" y="2903220"/>
            <a:ext cx="228600" cy="228600"/>
          </a:xfrm>
          <a:prstGeom prst="rect">
            <a:avLst/>
          </a:prstGeom>
        </p:spPr>
      </p:pic>
      <p:sp>
        <p:nvSpPr>
          <p:cNvPr id="16" name="TextBox 15"/>
          <p:cNvSpPr txBox="1"/>
          <p:nvPr/>
        </p:nvSpPr>
        <p:spPr>
          <a:xfrm>
            <a:off x="7772400" y="2770632"/>
            <a:ext cx="3886200" cy="310896"/>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Official boundary</a:t>
            </a:r>
          </a:p>
        </p:txBody>
      </p:sp>
      <p:sp>
        <p:nvSpPr>
          <p:cNvPr id="17" name="TextBox 16"/>
          <p:cNvSpPr txBox="1"/>
          <p:nvPr/>
        </p:nvSpPr>
        <p:spPr>
          <a:xfrm>
            <a:off x="7772400" y="3081527"/>
            <a:ext cx="3886200" cy="685800"/>
          </a:xfrm>
          <a:prstGeom prst="rect">
            <a:avLst/>
          </a:prstGeom>
          <a:noFill/>
        </p:spPr>
        <p:txBody>
          <a:bodyPr wrap="square" lIns="0" rIns="0" tIns="0" bIns="0" anchor="t">
            <a:noAutofit/>
          </a:bodyPr>
          <a:lstStyle/>
          <a:p>
            <a:pPr algn="l">
              <a:spcAft>
                <a:spcPts val="400"/>
              </a:spcAft>
            </a:pPr>
            <a:r>
              <a:rPr sz="1100" b="0" i="0">
                <a:solidFill>
                  <a:srgbClr val="2B2257"/>
                </a:solidFill>
                <a:latin typeface="Calibri"/>
              </a:rPr>
              <a:t>All of Jammu &amp; Kashmir and Ladakh, Arunachal Pradesh, the Andaman &amp; Nicobar and Lakshadweep islands.</a:t>
            </a:r>
          </a:p>
        </p:txBody>
      </p:sp>
      <p:sp>
        <p:nvSpPr>
          <p:cNvPr id="18" name="Oval 17"/>
          <p:cNvSpPr/>
          <p:nvPr/>
        </p:nvSpPr>
        <p:spPr>
          <a:xfrm>
            <a:off x="7178040" y="3840479"/>
            <a:ext cx="457200" cy="4572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atabase-w.png"/>
          <p:cNvPicPr>
            <a:picLocks noChangeAspect="1"/>
          </p:cNvPicPr>
          <p:nvPr/>
        </p:nvPicPr>
        <p:blipFill>
          <a:blip r:embed="rId4"/>
          <a:stretch>
            <a:fillRect/>
          </a:stretch>
        </p:blipFill>
        <p:spPr>
          <a:xfrm>
            <a:off x="7292340" y="3954779"/>
            <a:ext cx="228600" cy="228600"/>
          </a:xfrm>
          <a:prstGeom prst="rect">
            <a:avLst/>
          </a:prstGeom>
        </p:spPr>
      </p:pic>
      <p:sp>
        <p:nvSpPr>
          <p:cNvPr id="20" name="TextBox 19"/>
          <p:cNvSpPr txBox="1"/>
          <p:nvPr/>
        </p:nvSpPr>
        <p:spPr>
          <a:xfrm>
            <a:off x="7772400" y="3822191"/>
            <a:ext cx="3886200" cy="310896"/>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Open data</a:t>
            </a:r>
          </a:p>
        </p:txBody>
      </p:sp>
      <p:sp>
        <p:nvSpPr>
          <p:cNvPr id="21" name="TextBox 20"/>
          <p:cNvSpPr txBox="1"/>
          <p:nvPr/>
        </p:nvSpPr>
        <p:spPr>
          <a:xfrm>
            <a:off x="7772400" y="4133087"/>
            <a:ext cx="3886200" cy="685800"/>
          </a:xfrm>
          <a:prstGeom prst="rect">
            <a:avLst/>
          </a:prstGeom>
          <a:noFill/>
        </p:spPr>
        <p:txBody>
          <a:bodyPr wrap="square" lIns="0" rIns="0" tIns="0" bIns="0" anchor="t">
            <a:noAutofit/>
          </a:bodyPr>
          <a:lstStyle/>
          <a:p>
            <a:pPr algn="l">
              <a:spcAft>
                <a:spcPts val="400"/>
              </a:spcAft>
            </a:pPr>
            <a:r>
              <a:rPr sz="1100" b="0" i="0">
                <a:solidFill>
                  <a:srgbClr val="2B2257"/>
                </a:solidFill>
                <a:latin typeface="Calibri"/>
              </a:rPr>
              <a:t>Simplified from DataMeet's India boundaries (CC BY 4.0) to a 37 KB file, credited on every map.</a:t>
            </a:r>
          </a:p>
        </p:txBody>
      </p:sp>
      <p:sp>
        <p:nvSpPr>
          <p:cNvPr id="22" name="Oval 21"/>
          <p:cNvSpPr/>
          <p:nvPr/>
        </p:nvSpPr>
        <p:spPr>
          <a:xfrm>
            <a:off x="7178040" y="4892040"/>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map-w.png"/>
          <p:cNvPicPr>
            <a:picLocks noChangeAspect="1"/>
          </p:cNvPicPr>
          <p:nvPr/>
        </p:nvPicPr>
        <p:blipFill>
          <a:blip r:embed="rId5"/>
          <a:stretch>
            <a:fillRect/>
          </a:stretch>
        </p:blipFill>
        <p:spPr>
          <a:xfrm>
            <a:off x="7292340" y="5006340"/>
            <a:ext cx="228600" cy="228600"/>
          </a:xfrm>
          <a:prstGeom prst="rect">
            <a:avLst/>
          </a:prstGeom>
        </p:spPr>
      </p:pic>
      <p:sp>
        <p:nvSpPr>
          <p:cNvPr id="24" name="TextBox 23"/>
          <p:cNvSpPr txBox="1"/>
          <p:nvPr/>
        </p:nvSpPr>
        <p:spPr>
          <a:xfrm>
            <a:off x="7772400" y="4873752"/>
            <a:ext cx="3886200" cy="310896"/>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Used everywhere</a:t>
            </a:r>
          </a:p>
        </p:txBody>
      </p:sp>
      <p:sp>
        <p:nvSpPr>
          <p:cNvPr id="25" name="TextBox 24"/>
          <p:cNvSpPr txBox="1"/>
          <p:nvPr/>
        </p:nvSpPr>
        <p:spPr>
          <a:xfrm>
            <a:off x="7772400" y="5184648"/>
            <a:ext cx="3886200" cy="685800"/>
          </a:xfrm>
          <a:prstGeom prst="rect">
            <a:avLst/>
          </a:prstGeom>
          <a:noFill/>
        </p:spPr>
        <p:txBody>
          <a:bodyPr wrap="square" lIns="0" rIns="0" tIns="0" bIns="0" anchor="t">
            <a:noAutofit/>
          </a:bodyPr>
          <a:lstStyle/>
          <a:p>
            <a:pPr algn="l">
              <a:spcAft>
                <a:spcPts val="400"/>
              </a:spcAft>
            </a:pPr>
            <a:r>
              <a:rPr sz="1100" b="0" i="0">
                <a:solidFill>
                  <a:srgbClr val="2B2257"/>
                </a:solidFill>
                <a:latin typeface="Calibri"/>
              </a:rPr>
              <a:t>The Season map's 3D slab, the Explore map and the planner's route map share the same outline.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Plan the days, see the cost</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 04 · PLAN &amp; BUDGET</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12</a:t>
            </a:r>
          </a:p>
        </p:txBody>
      </p:sp>
      <p:sp>
        <p:nvSpPr>
          <p:cNvPr id="6" name="Rounded Rectangle 5"/>
          <p:cNvSpPr/>
          <p:nvPr/>
        </p:nvSpPr>
        <p:spPr>
          <a:xfrm>
            <a:off x="548640" y="1463040"/>
            <a:ext cx="6675120" cy="4398264"/>
          </a:xfrm>
          <a:prstGeom prst="roundRect">
            <a:avLst>
              <a:gd name="adj" fmla="val 2079"/>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23160" y="1517904"/>
            <a:ext cx="292608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23160" y="1513332"/>
            <a:ext cx="292608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planner.html</a:t>
            </a:r>
          </a:p>
        </p:txBody>
      </p:sp>
      <p:pic>
        <p:nvPicPr>
          <p:cNvPr id="12" name="Picture 11" descr="Screenshot of the Pathik website: pathik / planner.html"/>
          <p:cNvPicPr>
            <a:picLocks noChangeAspect="1"/>
          </p:cNvPicPr>
          <p:nvPr/>
        </p:nvPicPr>
        <p:blipFill>
          <a:blip r:embed="rId2"/>
          <a:stretch>
            <a:fillRect/>
          </a:stretch>
        </p:blipFill>
        <p:spPr>
          <a:xfrm>
            <a:off x="594360" y="1700784"/>
            <a:ext cx="6583680" cy="4114800"/>
          </a:xfrm>
          <a:prstGeom prst="rect">
            <a:avLst/>
          </a:prstGeom>
        </p:spPr>
      </p:pic>
      <p:sp>
        <p:nvSpPr>
          <p:cNvPr id="13" name="TextBox 12"/>
          <p:cNvSpPr txBox="1"/>
          <p:nvPr/>
        </p:nvSpPr>
        <p:spPr>
          <a:xfrm>
            <a:off x="7498079" y="1481328"/>
            <a:ext cx="416052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mbria"/>
              </a:rPr>
              <a:t>How the estimate is calculated</a:t>
            </a:r>
          </a:p>
        </p:txBody>
      </p:sp>
      <p:sp>
        <p:nvSpPr>
          <p:cNvPr id="14" name="Rounded Rectangle 13"/>
          <p:cNvSpPr/>
          <p:nvPr/>
        </p:nvSpPr>
        <p:spPr>
          <a:xfrm>
            <a:off x="7498079" y="1920240"/>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5240" y="1965960"/>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Stay</a:t>
            </a:r>
          </a:p>
        </p:txBody>
      </p:sp>
      <p:sp>
        <p:nvSpPr>
          <p:cNvPr id="16" name="TextBox 15"/>
          <p:cNvSpPr txBox="1"/>
          <p:nvPr/>
        </p:nvSpPr>
        <p:spPr>
          <a:xfrm>
            <a:off x="8961120" y="1965960"/>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room rate × rooms × nights (2 adults per room)</a:t>
            </a:r>
          </a:p>
        </p:txBody>
      </p:sp>
      <p:sp>
        <p:nvSpPr>
          <p:cNvPr id="17" name="Rounded Rectangle 16"/>
          <p:cNvSpPr/>
          <p:nvPr/>
        </p:nvSpPr>
        <p:spPr>
          <a:xfrm>
            <a:off x="7498079" y="2560320"/>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35240" y="2606039"/>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Food, sights</a:t>
            </a:r>
          </a:p>
        </p:txBody>
      </p:sp>
      <p:sp>
        <p:nvSpPr>
          <p:cNvPr id="19" name="TextBox 18"/>
          <p:cNvSpPr txBox="1"/>
          <p:nvPr/>
        </p:nvSpPr>
        <p:spPr>
          <a:xfrm>
            <a:off x="8961120" y="2606039"/>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daily rate × (adults + 0.6 × children)</a:t>
            </a:r>
          </a:p>
        </p:txBody>
      </p:sp>
      <p:sp>
        <p:nvSpPr>
          <p:cNvPr id="20" name="Rounded Rectangle 19"/>
          <p:cNvSpPr/>
          <p:nvPr/>
        </p:nvSpPr>
        <p:spPr>
          <a:xfrm>
            <a:off x="7498079" y="3200400"/>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35240" y="3246120"/>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Local transport</a:t>
            </a:r>
          </a:p>
        </p:txBody>
      </p:sp>
      <p:sp>
        <p:nvSpPr>
          <p:cNvPr id="22" name="TextBox 21"/>
          <p:cNvSpPr txBox="1"/>
          <p:nvPr/>
        </p:nvSpPr>
        <p:spPr>
          <a:xfrm>
            <a:off x="8961120" y="3246120"/>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daily rate × travellers</a:t>
            </a:r>
          </a:p>
        </p:txBody>
      </p:sp>
      <p:sp>
        <p:nvSpPr>
          <p:cNvPr id="23" name="Rounded Rectangle 22"/>
          <p:cNvSpPr/>
          <p:nvPr/>
        </p:nvSpPr>
        <p:spPr>
          <a:xfrm>
            <a:off x="7498079" y="3840479"/>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635240" y="3886199"/>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Between stops</a:t>
            </a:r>
          </a:p>
        </p:txBody>
      </p:sp>
      <p:sp>
        <p:nvSpPr>
          <p:cNvPr id="25" name="TextBox 24"/>
          <p:cNvSpPr txBox="1"/>
          <p:nvPr/>
        </p:nvSpPr>
        <p:spPr>
          <a:xfrm>
            <a:off x="8961120" y="3886199"/>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distance × 1.3 road factor × rate per km</a:t>
            </a:r>
          </a:p>
        </p:txBody>
      </p:sp>
      <p:sp>
        <p:nvSpPr>
          <p:cNvPr id="26" name="Rounded Rectangle 25"/>
          <p:cNvSpPr/>
          <p:nvPr/>
        </p:nvSpPr>
        <p:spPr>
          <a:xfrm>
            <a:off x="7498079" y="4480560"/>
            <a:ext cx="4160520" cy="548640"/>
          </a:xfrm>
          <a:prstGeom prst="roundRect">
            <a:avLst>
              <a:gd name="adj" fmla="val 16666"/>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35240" y="4526280"/>
            <a:ext cx="1325880" cy="457200"/>
          </a:xfrm>
          <a:prstGeom prst="rect">
            <a:avLst/>
          </a:prstGeom>
          <a:noFill/>
        </p:spPr>
        <p:txBody>
          <a:bodyPr wrap="square" lIns="0" rIns="0" tIns="0" bIns="0" anchor="ctr">
            <a:noAutofit/>
          </a:bodyPr>
          <a:lstStyle/>
          <a:p>
            <a:pPr algn="l">
              <a:spcAft>
                <a:spcPts val="400"/>
              </a:spcAft>
            </a:pPr>
            <a:r>
              <a:rPr sz="1150" b="1" i="0">
                <a:solidFill>
                  <a:srgbClr val="EF7D42"/>
                </a:solidFill>
                <a:latin typeface="Calibri"/>
              </a:rPr>
              <a:t>Buffer</a:t>
            </a:r>
          </a:p>
        </p:txBody>
      </p:sp>
      <p:sp>
        <p:nvSpPr>
          <p:cNvPr id="28" name="TextBox 27"/>
          <p:cNvSpPr txBox="1"/>
          <p:nvPr/>
        </p:nvSpPr>
        <p:spPr>
          <a:xfrm>
            <a:off x="8961120" y="4526280"/>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+10% for tips, tickets, SIM, laundry</a:t>
            </a:r>
          </a:p>
        </p:txBody>
      </p:sp>
      <p:pic>
        <p:nvPicPr>
          <p:cNvPr id="29" name="Picture 28" descr="check-e.png"/>
          <p:cNvPicPr>
            <a:picLocks noChangeAspect="1"/>
          </p:cNvPicPr>
          <p:nvPr/>
        </p:nvPicPr>
        <p:blipFill>
          <a:blip r:embed="rId3"/>
          <a:stretch>
            <a:fillRect/>
          </a:stretch>
        </p:blipFill>
        <p:spPr>
          <a:xfrm>
            <a:off x="7498079" y="5239512"/>
            <a:ext cx="219456" cy="219456"/>
          </a:xfrm>
          <a:prstGeom prst="rect">
            <a:avLst/>
          </a:prstGeom>
        </p:spPr>
      </p:pic>
      <p:sp>
        <p:nvSpPr>
          <p:cNvPr id="30" name="TextBox 29"/>
          <p:cNvSpPr txBox="1"/>
          <p:nvPr/>
        </p:nvSpPr>
        <p:spPr>
          <a:xfrm>
            <a:off x="7827263" y="5212080"/>
            <a:ext cx="3831335"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Route map, dated days, season warnings</a:t>
            </a:r>
          </a:p>
        </p:txBody>
      </p:sp>
      <p:pic>
        <p:nvPicPr>
          <p:cNvPr id="31" name="Picture 30" descr="check-e.png"/>
          <p:cNvPicPr>
            <a:picLocks noChangeAspect="1"/>
          </p:cNvPicPr>
          <p:nvPr/>
        </p:nvPicPr>
        <p:blipFill>
          <a:blip r:embed="rId3"/>
          <a:stretch>
            <a:fillRect/>
          </a:stretch>
        </p:blipFill>
        <p:spPr>
          <a:xfrm>
            <a:off x="7498079" y="5586984"/>
            <a:ext cx="219456" cy="219456"/>
          </a:xfrm>
          <a:prstGeom prst="rect">
            <a:avLst/>
          </a:prstGeom>
        </p:spPr>
      </p:pic>
      <p:sp>
        <p:nvSpPr>
          <p:cNvPr id="32" name="TextBox 31"/>
          <p:cNvSpPr txBox="1"/>
          <p:nvPr/>
        </p:nvSpPr>
        <p:spPr>
          <a:xfrm>
            <a:off x="7827263" y="5559552"/>
            <a:ext cx="3831335"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Target budget meter with advice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Fixed-price trips and registered agents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PAGES 05 &amp; 06</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13</a:t>
            </a:r>
          </a:p>
        </p:txBody>
      </p:sp>
      <p:sp>
        <p:nvSpPr>
          <p:cNvPr id="6" name="Rounded Rectangle 5"/>
          <p:cNvSpPr/>
          <p:nvPr/>
        </p:nvSpPr>
        <p:spPr>
          <a:xfrm>
            <a:off x="548640" y="1463040"/>
            <a:ext cx="5440680" cy="3626738"/>
          </a:xfrm>
          <a:prstGeom prst="roundRect">
            <a:avLst>
              <a:gd name="adj" fmla="val 2521"/>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44827" y="1517904"/>
            <a:ext cx="2448306"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044827" y="1513332"/>
            <a:ext cx="2448306"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packages.html</a:t>
            </a:r>
          </a:p>
        </p:txBody>
      </p:sp>
      <p:pic>
        <p:nvPicPr>
          <p:cNvPr id="12" name="Picture 11" descr="Screenshot of the Pathik website: pathik / packages.html"/>
          <p:cNvPicPr>
            <a:picLocks noChangeAspect="1"/>
          </p:cNvPicPr>
          <p:nvPr/>
        </p:nvPicPr>
        <p:blipFill>
          <a:blip r:embed="rId2"/>
          <a:stretch>
            <a:fillRect/>
          </a:stretch>
        </p:blipFill>
        <p:spPr>
          <a:xfrm>
            <a:off x="594360" y="1700784"/>
            <a:ext cx="5349240" cy="3343275"/>
          </a:xfrm>
          <a:prstGeom prst="rect">
            <a:avLst/>
          </a:prstGeom>
        </p:spPr>
      </p:pic>
      <p:sp>
        <p:nvSpPr>
          <p:cNvPr id="13" name="Rounded Rectangle 12"/>
          <p:cNvSpPr/>
          <p:nvPr/>
        </p:nvSpPr>
        <p:spPr>
          <a:xfrm>
            <a:off x="548640" y="5257800"/>
            <a:ext cx="1143000" cy="292608"/>
          </a:xfrm>
          <a:prstGeom prst="roundRect">
            <a:avLst>
              <a:gd name="adj" fmla="val 50000"/>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5257800"/>
            <a:ext cx="1143000" cy="292608"/>
          </a:xfrm>
          <a:prstGeom prst="rect">
            <a:avLst/>
          </a:prstGeom>
          <a:noFill/>
        </p:spPr>
        <p:txBody>
          <a:bodyPr wrap="square" lIns="0" rIns="0" tIns="0" bIns="0" anchor="ctr">
            <a:noAutofit/>
          </a:bodyPr>
          <a:lstStyle/>
          <a:p>
            <a:pPr algn="ctr">
              <a:spcAft>
                <a:spcPts val="400"/>
              </a:spcAft>
            </a:pPr>
            <a:r>
              <a:rPr sz="1000" b="1" i="0">
                <a:solidFill>
                  <a:srgbClr val="EF7D42"/>
                </a:solidFill>
                <a:latin typeface="Calibri"/>
              </a:rPr>
              <a:t>PACKAGES</a:t>
            </a:r>
          </a:p>
        </p:txBody>
      </p:sp>
      <p:sp>
        <p:nvSpPr>
          <p:cNvPr id="15" name="TextBox 14"/>
          <p:cNvSpPr txBox="1"/>
          <p:nvPr/>
        </p:nvSpPr>
        <p:spPr>
          <a:xfrm>
            <a:off x="548640" y="5623560"/>
            <a:ext cx="5440680" cy="685800"/>
          </a:xfrm>
          <a:prstGeom prst="rect">
            <a:avLst/>
          </a:prstGeom>
          <a:noFill/>
        </p:spPr>
        <p:txBody>
          <a:bodyPr wrap="square" lIns="0" rIns="0" tIns="0" bIns="0" anchor="t">
            <a:noAutofit/>
          </a:bodyPr>
          <a:lstStyle/>
          <a:p>
            <a:pPr algn="l">
              <a:spcAft>
                <a:spcPts val="400"/>
              </a:spcAft>
            </a:pPr>
            <a:r>
              <a:rPr sz="1200" b="0" i="0">
                <a:solidFill>
                  <a:srgbClr val="2B2257"/>
                </a:solidFill>
                <a:latin typeface="Calibri"/>
              </a:rPr>
              <a:t>8 trips with nights, agent rating and any saving. Every card lists what is and isn't included.</a:t>
            </a:r>
          </a:p>
        </p:txBody>
      </p:sp>
      <p:sp>
        <p:nvSpPr>
          <p:cNvPr id="16" name="Rounded Rectangle 15"/>
          <p:cNvSpPr/>
          <p:nvPr/>
        </p:nvSpPr>
        <p:spPr>
          <a:xfrm>
            <a:off x="6199631" y="1463040"/>
            <a:ext cx="5440680" cy="3626738"/>
          </a:xfrm>
          <a:prstGeom prst="roundRect">
            <a:avLst>
              <a:gd name="adj" fmla="val 2521"/>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327647"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64807"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01967"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95819" y="1517904"/>
            <a:ext cx="2448306"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95819" y="1513332"/>
            <a:ext cx="2448306"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agents.html</a:t>
            </a:r>
          </a:p>
        </p:txBody>
      </p:sp>
      <p:pic>
        <p:nvPicPr>
          <p:cNvPr id="22" name="Picture 21" descr="Screenshot of the Pathik website: pathik / agents.html"/>
          <p:cNvPicPr>
            <a:picLocks noChangeAspect="1"/>
          </p:cNvPicPr>
          <p:nvPr/>
        </p:nvPicPr>
        <p:blipFill>
          <a:blip r:embed="rId3"/>
          <a:stretch>
            <a:fillRect/>
          </a:stretch>
        </p:blipFill>
        <p:spPr>
          <a:xfrm>
            <a:off x="6245351" y="1700784"/>
            <a:ext cx="5349240" cy="3343275"/>
          </a:xfrm>
          <a:prstGeom prst="rect">
            <a:avLst/>
          </a:prstGeom>
        </p:spPr>
      </p:pic>
      <p:sp>
        <p:nvSpPr>
          <p:cNvPr id="23" name="Rounded Rectangle 22"/>
          <p:cNvSpPr/>
          <p:nvPr/>
        </p:nvSpPr>
        <p:spPr>
          <a:xfrm>
            <a:off x="6199631" y="5257800"/>
            <a:ext cx="1143000" cy="292608"/>
          </a:xfrm>
          <a:prstGeom prst="roundRect">
            <a:avLst>
              <a:gd name="adj" fmla="val 5000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99631" y="5257800"/>
            <a:ext cx="1143000" cy="292608"/>
          </a:xfrm>
          <a:prstGeom prst="rect">
            <a:avLst/>
          </a:prstGeom>
          <a:noFill/>
        </p:spPr>
        <p:txBody>
          <a:bodyPr wrap="square" lIns="0" rIns="0" tIns="0" bIns="0" anchor="ctr">
            <a:noAutofit/>
          </a:bodyPr>
          <a:lstStyle/>
          <a:p>
            <a:pPr algn="ctr">
              <a:spcAft>
                <a:spcPts val="400"/>
              </a:spcAft>
            </a:pPr>
            <a:r>
              <a:rPr sz="1000" b="1" i="0">
                <a:solidFill>
                  <a:srgbClr val="4A3A8F"/>
                </a:solidFill>
                <a:latin typeface="Calibri"/>
              </a:rPr>
              <a:t>AGENTS</a:t>
            </a:r>
          </a:p>
        </p:txBody>
      </p:sp>
      <p:sp>
        <p:nvSpPr>
          <p:cNvPr id="25" name="TextBox 24"/>
          <p:cNvSpPr txBox="1"/>
          <p:nvPr/>
        </p:nvSpPr>
        <p:spPr>
          <a:xfrm>
            <a:off x="6199631" y="5623560"/>
            <a:ext cx="5440680" cy="685800"/>
          </a:xfrm>
          <a:prstGeom prst="rect">
            <a:avLst/>
          </a:prstGeom>
          <a:noFill/>
        </p:spPr>
        <p:txBody>
          <a:bodyPr wrap="square" lIns="0" rIns="0" tIns="0" bIns="0" anchor="t">
            <a:noAutofit/>
          </a:bodyPr>
          <a:lstStyle/>
          <a:p>
            <a:pPr algn="l">
              <a:spcAft>
                <a:spcPts val="400"/>
              </a:spcAft>
            </a:pPr>
            <a:r>
              <a:rPr sz="1200" b="0" i="0">
                <a:solidFill>
                  <a:srgbClr val="2B2257"/>
                </a:solidFill>
                <a:latin typeface="Calibri"/>
              </a:rPr>
              <a:t>11 registered agents with reply time, rating and languages. The enquiry form attaches your planned trip.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Booking and enquiry in action</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WEBSITE WALKTHROUGH  ·  PAGES 05 &amp; 06 · INTERACTIVE FLOW</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14</a:t>
            </a:r>
          </a:p>
        </p:txBody>
      </p:sp>
      <p:sp>
        <p:nvSpPr>
          <p:cNvPr id="6" name="Rounded Rectangle 5"/>
          <p:cNvSpPr/>
          <p:nvPr/>
        </p:nvSpPr>
        <p:spPr>
          <a:xfrm>
            <a:off x="1394460" y="1463040"/>
            <a:ext cx="3749039" cy="3209544"/>
          </a:xfrm>
          <a:prstGeom prst="roundRect">
            <a:avLst>
              <a:gd name="adj" fmla="val 2849"/>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2247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5963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79679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25446" y="1517904"/>
            <a:ext cx="1687068"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25446" y="1513332"/>
            <a:ext cx="1687068"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packages.html · Book</a:t>
            </a:r>
          </a:p>
        </p:txBody>
      </p:sp>
      <p:pic>
        <p:nvPicPr>
          <p:cNvPr id="12" name="Picture 11" descr="Screenshot of the Pathik website: packages.html · Book"/>
          <p:cNvPicPr>
            <a:picLocks noChangeAspect="1"/>
          </p:cNvPicPr>
          <p:nvPr/>
        </p:nvPicPr>
        <p:blipFill>
          <a:blip r:embed="rId2"/>
          <a:stretch>
            <a:fillRect/>
          </a:stretch>
        </p:blipFill>
        <p:spPr>
          <a:xfrm>
            <a:off x="1440180" y="1700784"/>
            <a:ext cx="3657599" cy="2926079"/>
          </a:xfrm>
          <a:prstGeom prst="rect">
            <a:avLst/>
          </a:prstGeom>
        </p:spPr>
      </p:pic>
      <p:sp>
        <p:nvSpPr>
          <p:cNvPr id="13" name="TextBox 12"/>
          <p:cNvSpPr txBox="1"/>
          <p:nvPr/>
        </p:nvSpPr>
        <p:spPr>
          <a:xfrm>
            <a:off x="548640" y="4846320"/>
            <a:ext cx="5440680" cy="320040"/>
          </a:xfrm>
          <a:prstGeom prst="rect">
            <a:avLst/>
          </a:prstGeom>
          <a:noFill/>
        </p:spPr>
        <p:txBody>
          <a:bodyPr wrap="square" lIns="0" rIns="0" tIns="0" bIns="0" anchor="t">
            <a:noAutofit/>
          </a:bodyPr>
          <a:lstStyle/>
          <a:p>
            <a:pPr algn="l">
              <a:spcAft>
                <a:spcPts val="400"/>
              </a:spcAft>
            </a:pPr>
            <a:r>
              <a:rPr sz="1500" b="1" i="0">
                <a:solidFill>
                  <a:srgbClr val="1C1638"/>
                </a:solidFill>
                <a:latin typeface="Cambria"/>
              </a:rPr>
              <a:t>Quick book</a:t>
            </a:r>
          </a:p>
        </p:txBody>
      </p:sp>
      <p:pic>
        <p:nvPicPr>
          <p:cNvPr id="14" name="Picture 13" descr="check-e.png"/>
          <p:cNvPicPr>
            <a:picLocks noChangeAspect="1"/>
          </p:cNvPicPr>
          <p:nvPr/>
        </p:nvPicPr>
        <p:blipFill>
          <a:blip r:embed="rId3"/>
          <a:stretch>
            <a:fillRect/>
          </a:stretch>
        </p:blipFill>
        <p:spPr>
          <a:xfrm>
            <a:off x="548640" y="5257800"/>
            <a:ext cx="219456" cy="219456"/>
          </a:xfrm>
          <a:prstGeom prst="rect">
            <a:avLst/>
          </a:prstGeom>
        </p:spPr>
      </p:pic>
      <p:sp>
        <p:nvSpPr>
          <p:cNvPr id="15" name="TextBox 14"/>
          <p:cNvSpPr txBox="1"/>
          <p:nvPr/>
        </p:nvSpPr>
        <p:spPr>
          <a:xfrm>
            <a:off x="877824" y="5230368"/>
            <a:ext cx="5111496"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Pick a start date and travellers; total updates live</a:t>
            </a:r>
          </a:p>
        </p:txBody>
      </p:sp>
      <p:pic>
        <p:nvPicPr>
          <p:cNvPr id="16" name="Picture 15" descr="check-e.png"/>
          <p:cNvPicPr>
            <a:picLocks noChangeAspect="1"/>
          </p:cNvPicPr>
          <p:nvPr/>
        </p:nvPicPr>
        <p:blipFill>
          <a:blip r:embed="rId3"/>
          <a:stretch>
            <a:fillRect/>
          </a:stretch>
        </p:blipFill>
        <p:spPr>
          <a:xfrm>
            <a:off x="548640" y="5605272"/>
            <a:ext cx="219456" cy="219456"/>
          </a:xfrm>
          <a:prstGeom prst="rect">
            <a:avLst/>
          </a:prstGeom>
        </p:spPr>
      </p:pic>
      <p:sp>
        <p:nvSpPr>
          <p:cNvPr id="17" name="TextBox 16"/>
          <p:cNvSpPr txBox="1"/>
          <p:nvPr/>
        </p:nvSpPr>
        <p:spPr>
          <a:xfrm>
            <a:off x="877824" y="5577840"/>
            <a:ext cx="5111496"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Cart shows a 5% GST line and the 20% due now</a:t>
            </a:r>
          </a:p>
        </p:txBody>
      </p:sp>
      <p:pic>
        <p:nvPicPr>
          <p:cNvPr id="18" name="Picture 17" descr="check-e.png"/>
          <p:cNvPicPr>
            <a:picLocks noChangeAspect="1"/>
          </p:cNvPicPr>
          <p:nvPr/>
        </p:nvPicPr>
        <p:blipFill>
          <a:blip r:embed="rId3"/>
          <a:stretch>
            <a:fillRect/>
          </a:stretch>
        </p:blipFill>
        <p:spPr>
          <a:xfrm>
            <a:off x="548640" y="5952744"/>
            <a:ext cx="219456" cy="219456"/>
          </a:xfrm>
          <a:prstGeom prst="rect">
            <a:avLst/>
          </a:prstGeom>
        </p:spPr>
      </p:pic>
      <p:sp>
        <p:nvSpPr>
          <p:cNvPr id="19" name="TextBox 18"/>
          <p:cNvSpPr txBox="1"/>
          <p:nvPr/>
        </p:nvSpPr>
        <p:spPr>
          <a:xfrm>
            <a:off x="877824" y="5925312"/>
            <a:ext cx="5111496"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Checkout form is validated; you get a reference</a:t>
            </a:r>
          </a:p>
        </p:txBody>
      </p:sp>
      <p:sp>
        <p:nvSpPr>
          <p:cNvPr id="20" name="Rounded Rectangle 19"/>
          <p:cNvSpPr/>
          <p:nvPr/>
        </p:nvSpPr>
        <p:spPr>
          <a:xfrm>
            <a:off x="6633971" y="1463040"/>
            <a:ext cx="4572000" cy="3083814"/>
          </a:xfrm>
          <a:prstGeom prst="roundRect">
            <a:avLst>
              <a:gd name="adj" fmla="val 2965"/>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761987"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99147"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36307"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891271" y="1517904"/>
            <a:ext cx="205740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91271" y="1513332"/>
            <a:ext cx="205740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agents.html · Your enquiries</a:t>
            </a:r>
          </a:p>
        </p:txBody>
      </p:sp>
      <p:pic>
        <p:nvPicPr>
          <p:cNvPr id="26" name="Picture 25" descr="Screenshot of the Pathik website: agents.html · Your enquiries"/>
          <p:cNvPicPr>
            <a:picLocks noChangeAspect="1"/>
          </p:cNvPicPr>
          <p:nvPr/>
        </p:nvPicPr>
        <p:blipFill>
          <a:blip r:embed="rId4"/>
          <a:stretch>
            <a:fillRect/>
          </a:stretch>
        </p:blipFill>
        <p:spPr>
          <a:xfrm>
            <a:off x="6679691" y="1700784"/>
            <a:ext cx="4480560" cy="2800350"/>
          </a:xfrm>
          <a:prstGeom prst="rect">
            <a:avLst/>
          </a:prstGeom>
        </p:spPr>
      </p:pic>
      <p:sp>
        <p:nvSpPr>
          <p:cNvPr id="27" name="TextBox 26"/>
          <p:cNvSpPr txBox="1"/>
          <p:nvPr/>
        </p:nvSpPr>
        <p:spPr>
          <a:xfrm>
            <a:off x="6199631" y="4846320"/>
            <a:ext cx="5440680" cy="320040"/>
          </a:xfrm>
          <a:prstGeom prst="rect">
            <a:avLst/>
          </a:prstGeom>
          <a:noFill/>
        </p:spPr>
        <p:txBody>
          <a:bodyPr wrap="square" lIns="0" rIns="0" tIns="0" bIns="0" anchor="t">
            <a:noAutofit/>
          </a:bodyPr>
          <a:lstStyle/>
          <a:p>
            <a:pPr algn="l">
              <a:spcAft>
                <a:spcPts val="400"/>
              </a:spcAft>
            </a:pPr>
            <a:r>
              <a:rPr sz="1500" b="1" i="0">
                <a:solidFill>
                  <a:srgbClr val="1C1638"/>
                </a:solidFill>
                <a:latin typeface="Cambria"/>
              </a:rPr>
              <a:t>Enquiry tracker</a:t>
            </a:r>
          </a:p>
        </p:txBody>
      </p:sp>
      <p:pic>
        <p:nvPicPr>
          <p:cNvPr id="28" name="Picture 27" descr="check-e.png"/>
          <p:cNvPicPr>
            <a:picLocks noChangeAspect="1"/>
          </p:cNvPicPr>
          <p:nvPr/>
        </p:nvPicPr>
        <p:blipFill>
          <a:blip r:embed="rId3"/>
          <a:stretch>
            <a:fillRect/>
          </a:stretch>
        </p:blipFill>
        <p:spPr>
          <a:xfrm>
            <a:off x="6199631" y="5257800"/>
            <a:ext cx="219456" cy="219456"/>
          </a:xfrm>
          <a:prstGeom prst="rect">
            <a:avLst/>
          </a:prstGeom>
        </p:spPr>
      </p:pic>
      <p:sp>
        <p:nvSpPr>
          <p:cNvPr id="29" name="TextBox 28"/>
          <p:cNvSpPr txBox="1"/>
          <p:nvPr/>
        </p:nvSpPr>
        <p:spPr>
          <a:xfrm>
            <a:off x="6528816" y="5230368"/>
            <a:ext cx="5111496"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Name, 10-digit mobile and email checked before sending</a:t>
            </a:r>
          </a:p>
        </p:txBody>
      </p:sp>
      <p:pic>
        <p:nvPicPr>
          <p:cNvPr id="30" name="Picture 29" descr="check-e.png"/>
          <p:cNvPicPr>
            <a:picLocks noChangeAspect="1"/>
          </p:cNvPicPr>
          <p:nvPr/>
        </p:nvPicPr>
        <p:blipFill>
          <a:blip r:embed="rId3"/>
          <a:stretch>
            <a:fillRect/>
          </a:stretch>
        </p:blipFill>
        <p:spPr>
          <a:xfrm>
            <a:off x="6199631" y="5605272"/>
            <a:ext cx="219456" cy="219456"/>
          </a:xfrm>
          <a:prstGeom prst="rect">
            <a:avLst/>
          </a:prstGeom>
        </p:spPr>
      </p:pic>
      <p:sp>
        <p:nvSpPr>
          <p:cNvPr id="31" name="TextBox 30"/>
          <p:cNvSpPr txBox="1"/>
          <p:nvPr/>
        </p:nvSpPr>
        <p:spPr>
          <a:xfrm>
            <a:off x="6528816" y="5577840"/>
            <a:ext cx="5111496"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Status moves from sent to seen to quote ready</a:t>
            </a:r>
          </a:p>
        </p:txBody>
      </p:sp>
      <p:pic>
        <p:nvPicPr>
          <p:cNvPr id="32" name="Picture 31" descr="check-e.png"/>
          <p:cNvPicPr>
            <a:picLocks noChangeAspect="1"/>
          </p:cNvPicPr>
          <p:nvPr/>
        </p:nvPicPr>
        <p:blipFill>
          <a:blip r:embed="rId3"/>
          <a:stretch>
            <a:fillRect/>
          </a:stretch>
        </p:blipFill>
        <p:spPr>
          <a:xfrm>
            <a:off x="6199631" y="5952744"/>
            <a:ext cx="219456" cy="219456"/>
          </a:xfrm>
          <a:prstGeom prst="rect">
            <a:avLst/>
          </a:prstGeom>
        </p:spPr>
      </p:pic>
      <p:sp>
        <p:nvSpPr>
          <p:cNvPr id="33" name="TextBox 32"/>
          <p:cNvSpPr txBox="1"/>
          <p:nvPr/>
        </p:nvSpPr>
        <p:spPr>
          <a:xfrm>
            <a:off x="6528816" y="5925312"/>
            <a:ext cx="5111496" cy="347472"/>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Accept or decline the agent's quote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Built with the web fundamentals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TECH STACK</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15</a:t>
            </a:r>
          </a:p>
        </p:txBody>
      </p:sp>
      <p:sp>
        <p:nvSpPr>
          <p:cNvPr id="6" name="Rounded Rectangle 5"/>
          <p:cNvSpPr/>
          <p:nvPr/>
        </p:nvSpPr>
        <p:spPr>
          <a:xfrm>
            <a:off x="548640" y="155448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xml-w.png"/>
          <p:cNvPicPr>
            <a:picLocks noChangeAspect="1"/>
          </p:cNvPicPr>
          <p:nvPr/>
        </p:nvPicPr>
        <p:blipFill>
          <a:blip r:embed="rId2"/>
          <a:stretch>
            <a:fillRect/>
          </a:stretch>
        </p:blipFill>
        <p:spPr>
          <a:xfrm>
            <a:off x="902970" y="1908810"/>
            <a:ext cx="251460" cy="251460"/>
          </a:xfrm>
          <a:prstGeom prst="rect">
            <a:avLst/>
          </a:prstGeom>
        </p:spPr>
      </p:pic>
      <p:sp>
        <p:nvSpPr>
          <p:cNvPr id="9" name="TextBox 8"/>
          <p:cNvSpPr txBox="1"/>
          <p:nvPr/>
        </p:nvSpPr>
        <p:spPr>
          <a:xfrm>
            <a:off x="1417319" y="1856231"/>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Programming languages</a:t>
            </a:r>
          </a:p>
        </p:txBody>
      </p:sp>
      <p:sp>
        <p:nvSpPr>
          <p:cNvPr id="10" name="TextBox 9"/>
          <p:cNvSpPr txBox="1"/>
          <p:nvPr/>
        </p:nvSpPr>
        <p:spPr>
          <a:xfrm>
            <a:off x="822959" y="246888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HTML5 (semantic, accessible markup)</a:t>
            </a:r>
          </a:p>
          <a:p>
            <a:pPr algn="l" marL="182880" indent="-182880">
              <a:spcAft>
                <a:spcPts val="500"/>
              </a:spcAft>
              <a:buClr>
                <a:srgbClr val="EF7D42"/>
              </a:buClr>
              <a:buFont typeface="Arial"/>
              <a:buChar char="•"/>
            </a:pPr>
            <a:r>
              <a:rPr sz="1200" b="0" i="0">
                <a:solidFill>
                  <a:srgbClr val="2B2257"/>
                </a:solidFill>
                <a:latin typeface="Calibri"/>
              </a:rPr>
              <a:t>CSS3 (grid, flexbox, custom properties)</a:t>
            </a:r>
          </a:p>
          <a:p>
            <a:pPr algn="l" marL="182880" indent="-182880">
              <a:spcAft>
                <a:spcPts val="500"/>
              </a:spcAft>
              <a:buClr>
                <a:srgbClr val="EF7D42"/>
              </a:buClr>
              <a:buFont typeface="Arial"/>
              <a:buChar char="•"/>
            </a:pPr>
            <a:r>
              <a:rPr sz="1200" b="0" i="0">
                <a:solidFill>
                  <a:srgbClr val="2B2257"/>
                </a:solidFill>
                <a:latin typeface="Calibri"/>
              </a:rPr>
              <a:t>JavaScript ES2019+ (no framework)</a:t>
            </a:r>
          </a:p>
        </p:txBody>
      </p:sp>
      <p:sp>
        <p:nvSpPr>
          <p:cNvPr id="11" name="Rounded Rectangle 10"/>
          <p:cNvSpPr/>
          <p:nvPr/>
        </p:nvSpPr>
        <p:spPr>
          <a:xfrm>
            <a:off x="4297679" y="155448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26279" y="178308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ayers-w.png"/>
          <p:cNvPicPr>
            <a:picLocks noChangeAspect="1"/>
          </p:cNvPicPr>
          <p:nvPr/>
        </p:nvPicPr>
        <p:blipFill>
          <a:blip r:embed="rId3"/>
          <a:stretch>
            <a:fillRect/>
          </a:stretch>
        </p:blipFill>
        <p:spPr>
          <a:xfrm>
            <a:off x="4652009" y="1908810"/>
            <a:ext cx="251460" cy="251460"/>
          </a:xfrm>
          <a:prstGeom prst="rect">
            <a:avLst/>
          </a:prstGeom>
        </p:spPr>
      </p:pic>
      <p:sp>
        <p:nvSpPr>
          <p:cNvPr id="14" name="TextBox 13"/>
          <p:cNvSpPr txBox="1"/>
          <p:nvPr/>
        </p:nvSpPr>
        <p:spPr>
          <a:xfrm>
            <a:off x="5166359" y="1856231"/>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Libraries</a:t>
            </a:r>
          </a:p>
        </p:txBody>
      </p:sp>
      <p:sp>
        <p:nvSpPr>
          <p:cNvPr id="15" name="TextBox 14"/>
          <p:cNvSpPr txBox="1"/>
          <p:nvPr/>
        </p:nvSpPr>
        <p:spPr>
          <a:xfrm>
            <a:off x="4571999" y="246888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Three.js r169: 3D hero and Season map</a:t>
            </a:r>
          </a:p>
          <a:p>
            <a:pPr algn="l" marL="182880" indent="-182880">
              <a:spcAft>
                <a:spcPts val="500"/>
              </a:spcAft>
              <a:buClr>
                <a:srgbClr val="EF7D42"/>
              </a:buClr>
              <a:buFont typeface="Arial"/>
              <a:buChar char="•"/>
            </a:pPr>
            <a:r>
              <a:rPr sz="1200" b="0" i="0">
                <a:solidFill>
                  <a:srgbClr val="2B2257"/>
                </a:solidFill>
                <a:latin typeface="Calibri"/>
              </a:rPr>
              <a:t>Leaflet 1.9 with India's official outline</a:t>
            </a:r>
          </a:p>
          <a:p>
            <a:pPr algn="l" marL="182880" indent="-182880">
              <a:spcAft>
                <a:spcPts val="500"/>
              </a:spcAft>
              <a:buClr>
                <a:srgbClr val="EF7D42"/>
              </a:buClr>
              <a:buFont typeface="Arial"/>
              <a:buChar char="•"/>
            </a:pPr>
            <a:r>
              <a:rPr sz="1200" b="0" i="0">
                <a:solidFill>
                  <a:srgbClr val="2B2257"/>
                </a:solidFill>
                <a:latin typeface="Calibri"/>
              </a:rPr>
              <a:t>Lucide icons, Google Fonts</a:t>
            </a:r>
          </a:p>
        </p:txBody>
      </p:sp>
      <p:sp>
        <p:nvSpPr>
          <p:cNvPr id="16" name="Rounded Rectangle 15"/>
          <p:cNvSpPr/>
          <p:nvPr/>
        </p:nvSpPr>
        <p:spPr>
          <a:xfrm>
            <a:off x="8046719" y="155448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75319" y="1783080"/>
            <a:ext cx="502920" cy="502920"/>
          </a:xfrm>
          <a:prstGeom prst="ellipse">
            <a:avLst/>
          </a:prstGeom>
          <a:solidFill>
            <a:srgbClr val="6A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w.png"/>
          <p:cNvPicPr>
            <a:picLocks noChangeAspect="1"/>
          </p:cNvPicPr>
          <p:nvPr/>
        </p:nvPicPr>
        <p:blipFill>
          <a:blip r:embed="rId4"/>
          <a:stretch>
            <a:fillRect/>
          </a:stretch>
        </p:blipFill>
        <p:spPr>
          <a:xfrm>
            <a:off x="8401049" y="1908810"/>
            <a:ext cx="251460" cy="251460"/>
          </a:xfrm>
          <a:prstGeom prst="rect">
            <a:avLst/>
          </a:prstGeom>
        </p:spPr>
      </p:pic>
      <p:sp>
        <p:nvSpPr>
          <p:cNvPr id="19" name="TextBox 18"/>
          <p:cNvSpPr txBox="1"/>
          <p:nvPr/>
        </p:nvSpPr>
        <p:spPr>
          <a:xfrm>
            <a:off x="8915399" y="1856231"/>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Data and storage</a:t>
            </a:r>
          </a:p>
        </p:txBody>
      </p:sp>
      <p:sp>
        <p:nvSpPr>
          <p:cNvPr id="20" name="TextBox 19"/>
          <p:cNvSpPr txBox="1"/>
          <p:nvPr/>
        </p:nvSpPr>
        <p:spPr>
          <a:xfrm>
            <a:off x="8321040" y="246888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localStorage: trip, cart, enquiries, bookings</a:t>
            </a:r>
          </a:p>
          <a:p>
            <a:pPr algn="l" marL="182880" indent="-182880">
              <a:spcAft>
                <a:spcPts val="500"/>
              </a:spcAft>
              <a:buClr>
                <a:srgbClr val="EF7D42"/>
              </a:buClr>
              <a:buFont typeface="Arial"/>
              <a:buChar char="•"/>
            </a:pPr>
            <a:r>
              <a:rPr sz="1200" b="0" i="0">
                <a:solidFill>
                  <a:srgbClr val="2B2257"/>
                </a:solidFill>
                <a:latin typeface="Calibri"/>
              </a:rPr>
              <a:t>JSON data: 23 places, 8 packages, 11 agents</a:t>
            </a:r>
          </a:p>
          <a:p>
            <a:pPr algn="l" marL="182880" indent="-182880">
              <a:spcAft>
                <a:spcPts val="500"/>
              </a:spcAft>
              <a:buClr>
                <a:srgbClr val="EF7D42"/>
              </a:buClr>
              <a:buFont typeface="Arial"/>
              <a:buChar char="•"/>
            </a:pPr>
            <a:r>
              <a:rPr sz="1200" b="0" i="0">
                <a:solidFill>
                  <a:srgbClr val="2B2257"/>
                </a:solidFill>
                <a:latin typeface="Calibri"/>
              </a:rPr>
              <a:t>Trips shared as links, no server needed</a:t>
            </a:r>
          </a:p>
        </p:txBody>
      </p:sp>
      <p:sp>
        <p:nvSpPr>
          <p:cNvPr id="21" name="Rounded Rectangle 20"/>
          <p:cNvSpPr/>
          <p:nvPr/>
        </p:nvSpPr>
        <p:spPr>
          <a:xfrm>
            <a:off x="2423160" y="393192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2651760" y="416052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rench-w.png"/>
          <p:cNvPicPr>
            <a:picLocks noChangeAspect="1"/>
          </p:cNvPicPr>
          <p:nvPr/>
        </p:nvPicPr>
        <p:blipFill>
          <a:blip r:embed="rId5"/>
          <a:stretch>
            <a:fillRect/>
          </a:stretch>
        </p:blipFill>
        <p:spPr>
          <a:xfrm>
            <a:off x="2777490" y="4286250"/>
            <a:ext cx="251460" cy="251460"/>
          </a:xfrm>
          <a:prstGeom prst="rect">
            <a:avLst/>
          </a:prstGeom>
        </p:spPr>
      </p:pic>
      <p:sp>
        <p:nvSpPr>
          <p:cNvPr id="24" name="TextBox 23"/>
          <p:cNvSpPr txBox="1"/>
          <p:nvPr/>
        </p:nvSpPr>
        <p:spPr>
          <a:xfrm>
            <a:off x="3291839" y="4233672"/>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Tools</a:t>
            </a:r>
          </a:p>
        </p:txBody>
      </p:sp>
      <p:sp>
        <p:nvSpPr>
          <p:cNvPr id="25" name="TextBox 24"/>
          <p:cNvSpPr txBox="1"/>
          <p:nvPr/>
        </p:nvSpPr>
        <p:spPr>
          <a:xfrm>
            <a:off x="2697479" y="484632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Node.js, npm and esbuild (bundling)</a:t>
            </a:r>
          </a:p>
          <a:p>
            <a:pPr algn="l" marL="182880" indent="-182880">
              <a:spcAft>
                <a:spcPts val="500"/>
              </a:spcAft>
              <a:buClr>
                <a:srgbClr val="EF7D42"/>
              </a:buClr>
              <a:buFont typeface="Arial"/>
              <a:buChar char="•"/>
            </a:pPr>
            <a:r>
              <a:rPr sz="1200" b="0" i="0">
                <a:solidFill>
                  <a:srgbClr val="2B2257"/>
                </a:solidFill>
                <a:latin typeface="Calibri"/>
              </a:rPr>
              <a:t>Playwright (automated UI tests)</a:t>
            </a:r>
          </a:p>
          <a:p>
            <a:pPr algn="l" marL="182880" indent="-182880">
              <a:spcAft>
                <a:spcPts val="500"/>
              </a:spcAft>
              <a:buClr>
                <a:srgbClr val="EF7D42"/>
              </a:buClr>
              <a:buFont typeface="Arial"/>
              <a:buChar char="•"/>
            </a:pPr>
            <a:r>
              <a:rPr sz="1200" b="0" i="0">
                <a:solidFill>
                  <a:srgbClr val="2B2257"/>
                </a:solidFill>
                <a:latin typeface="Calibri"/>
              </a:rPr>
              <a:t>Git and GitHub (pull requests)</a:t>
            </a:r>
          </a:p>
        </p:txBody>
      </p:sp>
      <p:sp>
        <p:nvSpPr>
          <p:cNvPr id="26" name="Rounded Rectangle 25"/>
          <p:cNvSpPr/>
          <p:nvPr/>
        </p:nvSpPr>
        <p:spPr>
          <a:xfrm>
            <a:off x="6172199" y="393192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0799"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loud-w.png"/>
          <p:cNvPicPr>
            <a:picLocks noChangeAspect="1"/>
          </p:cNvPicPr>
          <p:nvPr/>
        </p:nvPicPr>
        <p:blipFill>
          <a:blip r:embed="rId6"/>
          <a:stretch>
            <a:fillRect/>
          </a:stretch>
        </p:blipFill>
        <p:spPr>
          <a:xfrm>
            <a:off x="6526529" y="4286250"/>
            <a:ext cx="251460" cy="251460"/>
          </a:xfrm>
          <a:prstGeom prst="rect">
            <a:avLst/>
          </a:prstGeom>
        </p:spPr>
      </p:pic>
      <p:sp>
        <p:nvSpPr>
          <p:cNvPr id="29" name="TextBox 28"/>
          <p:cNvSpPr txBox="1"/>
          <p:nvPr/>
        </p:nvSpPr>
        <p:spPr>
          <a:xfrm>
            <a:off x="7040879" y="4233672"/>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Services</a:t>
            </a:r>
          </a:p>
        </p:txBody>
      </p:sp>
      <p:sp>
        <p:nvSpPr>
          <p:cNvPr id="30" name="TextBox 29"/>
          <p:cNvSpPr txBox="1"/>
          <p:nvPr/>
        </p:nvSpPr>
        <p:spPr>
          <a:xfrm>
            <a:off x="6446519" y="484632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Wikimedia Commons (licensed photos)</a:t>
            </a:r>
          </a:p>
          <a:p>
            <a:pPr algn="l" marL="182880" indent="-182880">
              <a:spcAft>
                <a:spcPts val="500"/>
              </a:spcAft>
              <a:buClr>
                <a:srgbClr val="EF7D42"/>
              </a:buClr>
              <a:buFont typeface="Arial"/>
              <a:buChar char="•"/>
            </a:pPr>
            <a:r>
              <a:rPr sz="1200" b="0" i="0">
                <a:solidFill>
                  <a:srgbClr val="2B2257"/>
                </a:solidFill>
                <a:latin typeface="Calibri"/>
              </a:rPr>
              <a:t>DataMeet open map data (Survey of India)</a:t>
            </a:r>
          </a:p>
          <a:p>
            <a:pPr algn="l" marL="182880" indent="-182880">
              <a:spcAft>
                <a:spcPts val="500"/>
              </a:spcAft>
              <a:buClr>
                <a:srgbClr val="EF7D42"/>
              </a:buClr>
              <a:buFont typeface="Arial"/>
              <a:buChar char="•"/>
            </a:pPr>
            <a:r>
              <a:rPr sz="1200" b="0" i="0">
                <a:solidFill>
                  <a:srgbClr val="2B2257"/>
                </a:solidFill>
                <a:latin typeface="Calibri"/>
              </a:rPr>
              <a:t>Google Maps embed, Google Fonts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How a visitor uses the site</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USER JOURNEY</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16</a:t>
            </a:r>
          </a:p>
        </p:txBody>
      </p:sp>
      <p:sp>
        <p:nvSpPr>
          <p:cNvPr id="6" name="Rounded Rectangle 5"/>
          <p:cNvSpPr/>
          <p:nvPr/>
        </p:nvSpPr>
        <p:spPr>
          <a:xfrm>
            <a:off x="548640" y="1920240"/>
            <a:ext cx="1664208" cy="2743200"/>
          </a:xfrm>
          <a:prstGeom prst="roundRect">
            <a:avLst>
              <a:gd name="adj" fmla="val 769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85800"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8" name="Oval 7"/>
          <p:cNvSpPr/>
          <p:nvPr/>
        </p:nvSpPr>
        <p:spPr>
          <a:xfrm>
            <a:off x="1037844" y="2240280"/>
            <a:ext cx="685800" cy="6858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mpass-w.png"/>
          <p:cNvPicPr>
            <a:picLocks noChangeAspect="1"/>
          </p:cNvPicPr>
          <p:nvPr/>
        </p:nvPicPr>
        <p:blipFill>
          <a:blip r:embed="rId2"/>
          <a:stretch>
            <a:fillRect/>
          </a:stretch>
        </p:blipFill>
        <p:spPr>
          <a:xfrm>
            <a:off x="1209294" y="2411730"/>
            <a:ext cx="342900" cy="342900"/>
          </a:xfrm>
          <a:prstGeom prst="rect">
            <a:avLst/>
          </a:prstGeom>
        </p:spPr>
      </p:pic>
      <p:sp>
        <p:nvSpPr>
          <p:cNvPr id="10" name="TextBox 9"/>
          <p:cNvSpPr txBox="1"/>
          <p:nvPr/>
        </p:nvSpPr>
        <p:spPr>
          <a:xfrm>
            <a:off x="548640"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Discover</a:t>
            </a:r>
          </a:p>
        </p:txBody>
      </p:sp>
      <p:sp>
        <p:nvSpPr>
          <p:cNvPr id="11" name="Rounded Rectangle 10"/>
          <p:cNvSpPr/>
          <p:nvPr/>
        </p:nvSpPr>
        <p:spPr>
          <a:xfrm>
            <a:off x="923544" y="3493008"/>
            <a:ext cx="914400"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23544" y="3493008"/>
            <a:ext cx="914400"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Season map</a:t>
            </a:r>
          </a:p>
        </p:txBody>
      </p:sp>
      <p:sp>
        <p:nvSpPr>
          <p:cNvPr id="13" name="TextBox 12"/>
          <p:cNvSpPr txBox="1"/>
          <p:nvPr/>
        </p:nvSpPr>
        <p:spPr>
          <a:xfrm>
            <a:off x="685800"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Pick a month and budget, see what fits</a:t>
            </a:r>
          </a:p>
        </p:txBody>
      </p:sp>
      <p:cxnSp>
        <p:nvCxnSpPr>
          <p:cNvPr id="14" name="Connector 13"/>
          <p:cNvCxnSpPr/>
          <p:nvPr/>
        </p:nvCxnSpPr>
        <p:spPr>
          <a:xfrm>
            <a:off x="2231136"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32304" y="1920240"/>
            <a:ext cx="1664208" cy="2743200"/>
          </a:xfrm>
          <a:prstGeom prst="roundRect">
            <a:avLst>
              <a:gd name="adj" fmla="val 7692"/>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2569464"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17" name="Oval 16"/>
          <p:cNvSpPr/>
          <p:nvPr/>
        </p:nvSpPr>
        <p:spPr>
          <a:xfrm>
            <a:off x="2921508" y="2240280"/>
            <a:ext cx="685800" cy="6858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ok-open-w.png"/>
          <p:cNvPicPr>
            <a:picLocks noChangeAspect="1"/>
          </p:cNvPicPr>
          <p:nvPr/>
        </p:nvPicPr>
        <p:blipFill>
          <a:blip r:embed="rId3"/>
          <a:stretch>
            <a:fillRect/>
          </a:stretch>
        </p:blipFill>
        <p:spPr>
          <a:xfrm>
            <a:off x="3092958" y="2411730"/>
            <a:ext cx="342900" cy="342900"/>
          </a:xfrm>
          <a:prstGeom prst="rect">
            <a:avLst/>
          </a:prstGeom>
        </p:spPr>
      </p:pic>
      <p:sp>
        <p:nvSpPr>
          <p:cNvPr id="19" name="TextBox 18"/>
          <p:cNvSpPr txBox="1"/>
          <p:nvPr/>
        </p:nvSpPr>
        <p:spPr>
          <a:xfrm>
            <a:off x="2432304"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Learn</a:t>
            </a:r>
          </a:p>
        </p:txBody>
      </p:sp>
      <p:sp>
        <p:nvSpPr>
          <p:cNvPr id="20" name="Rounded Rectangle 19"/>
          <p:cNvSpPr/>
          <p:nvPr/>
        </p:nvSpPr>
        <p:spPr>
          <a:xfrm>
            <a:off x="2916936" y="3493008"/>
            <a:ext cx="694944"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916936" y="3493008"/>
            <a:ext cx="694944"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Explore</a:t>
            </a:r>
          </a:p>
        </p:txBody>
      </p:sp>
      <p:sp>
        <p:nvSpPr>
          <p:cNvPr id="22" name="TextBox 21"/>
          <p:cNvSpPr txBox="1"/>
          <p:nvPr/>
        </p:nvSpPr>
        <p:spPr>
          <a:xfrm>
            <a:off x="2569464"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Season, routes, daily cost, scams, map</a:t>
            </a:r>
          </a:p>
        </p:txBody>
      </p:sp>
      <p:cxnSp>
        <p:nvCxnSpPr>
          <p:cNvPr id="23" name="Connector 22"/>
          <p:cNvCxnSpPr/>
          <p:nvPr/>
        </p:nvCxnSpPr>
        <p:spPr>
          <a:xfrm>
            <a:off x="4114800"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15968" y="1920240"/>
            <a:ext cx="1664208" cy="2743200"/>
          </a:xfrm>
          <a:prstGeom prst="roundRect">
            <a:avLst>
              <a:gd name="adj" fmla="val 769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453128"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26" name="Oval 25"/>
          <p:cNvSpPr/>
          <p:nvPr/>
        </p:nvSpPr>
        <p:spPr>
          <a:xfrm>
            <a:off x="4805172" y="2240280"/>
            <a:ext cx="685800" cy="6858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oute-w.png"/>
          <p:cNvPicPr>
            <a:picLocks noChangeAspect="1"/>
          </p:cNvPicPr>
          <p:nvPr/>
        </p:nvPicPr>
        <p:blipFill>
          <a:blip r:embed="rId4"/>
          <a:stretch>
            <a:fillRect/>
          </a:stretch>
        </p:blipFill>
        <p:spPr>
          <a:xfrm>
            <a:off x="4976622" y="2411730"/>
            <a:ext cx="342900" cy="342900"/>
          </a:xfrm>
          <a:prstGeom prst="rect">
            <a:avLst/>
          </a:prstGeom>
        </p:spPr>
      </p:pic>
      <p:sp>
        <p:nvSpPr>
          <p:cNvPr id="28" name="TextBox 27"/>
          <p:cNvSpPr txBox="1"/>
          <p:nvPr/>
        </p:nvSpPr>
        <p:spPr>
          <a:xfrm>
            <a:off x="4315968"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Plan</a:t>
            </a:r>
          </a:p>
        </p:txBody>
      </p:sp>
      <p:sp>
        <p:nvSpPr>
          <p:cNvPr id="29" name="Rounded Rectangle 28"/>
          <p:cNvSpPr/>
          <p:nvPr/>
        </p:nvSpPr>
        <p:spPr>
          <a:xfrm>
            <a:off x="4581144" y="3493008"/>
            <a:ext cx="1133856"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81144" y="3493008"/>
            <a:ext cx="1133856"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Plan &amp; budget</a:t>
            </a:r>
          </a:p>
        </p:txBody>
      </p:sp>
      <p:sp>
        <p:nvSpPr>
          <p:cNvPr id="31" name="TextBox 30"/>
          <p:cNvSpPr txBox="1"/>
          <p:nvPr/>
        </p:nvSpPr>
        <p:spPr>
          <a:xfrm>
            <a:off x="4453128"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Add stops, reorder, set nights and dates</a:t>
            </a:r>
          </a:p>
        </p:txBody>
      </p:sp>
      <p:cxnSp>
        <p:nvCxnSpPr>
          <p:cNvPr id="32" name="Connector 31"/>
          <p:cNvCxnSpPr/>
          <p:nvPr/>
        </p:nvCxnSpPr>
        <p:spPr>
          <a:xfrm>
            <a:off x="5998464"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199631" y="1920240"/>
            <a:ext cx="1664208" cy="2743200"/>
          </a:xfrm>
          <a:prstGeom prst="roundRect">
            <a:avLst>
              <a:gd name="adj" fmla="val 7692"/>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336792"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35" name="Oval 34"/>
          <p:cNvSpPr/>
          <p:nvPr/>
        </p:nvSpPr>
        <p:spPr>
          <a:xfrm>
            <a:off x="6688836" y="2240280"/>
            <a:ext cx="685800" cy="6858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wallet-w.png"/>
          <p:cNvPicPr>
            <a:picLocks noChangeAspect="1"/>
          </p:cNvPicPr>
          <p:nvPr/>
        </p:nvPicPr>
        <p:blipFill>
          <a:blip r:embed="rId5"/>
          <a:stretch>
            <a:fillRect/>
          </a:stretch>
        </p:blipFill>
        <p:spPr>
          <a:xfrm>
            <a:off x="6860286" y="2411730"/>
            <a:ext cx="342900" cy="342900"/>
          </a:xfrm>
          <a:prstGeom prst="rect">
            <a:avLst/>
          </a:prstGeom>
        </p:spPr>
      </p:pic>
      <p:sp>
        <p:nvSpPr>
          <p:cNvPr id="37" name="TextBox 36"/>
          <p:cNvSpPr txBox="1"/>
          <p:nvPr/>
        </p:nvSpPr>
        <p:spPr>
          <a:xfrm>
            <a:off x="6199631"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Budget</a:t>
            </a:r>
          </a:p>
        </p:txBody>
      </p:sp>
      <p:sp>
        <p:nvSpPr>
          <p:cNvPr id="38" name="Rounded Rectangle 37"/>
          <p:cNvSpPr/>
          <p:nvPr/>
        </p:nvSpPr>
        <p:spPr>
          <a:xfrm>
            <a:off x="6464807" y="3493008"/>
            <a:ext cx="1133856"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64807" y="3493008"/>
            <a:ext cx="1133856"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Plan &amp; budget</a:t>
            </a:r>
          </a:p>
        </p:txBody>
      </p:sp>
      <p:sp>
        <p:nvSpPr>
          <p:cNvPr id="40" name="TextBox 39"/>
          <p:cNvSpPr txBox="1"/>
          <p:nvPr/>
        </p:nvSpPr>
        <p:spPr>
          <a:xfrm>
            <a:off x="6336792"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Live breakdown, target meter, warnings</a:t>
            </a:r>
          </a:p>
        </p:txBody>
      </p:sp>
      <p:cxnSp>
        <p:nvCxnSpPr>
          <p:cNvPr id="41" name="Connector 40"/>
          <p:cNvCxnSpPr/>
          <p:nvPr/>
        </p:nvCxnSpPr>
        <p:spPr>
          <a:xfrm>
            <a:off x="7882127" y="3291840"/>
            <a:ext cx="182881"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083296" y="1920240"/>
            <a:ext cx="1664208" cy="2743200"/>
          </a:xfrm>
          <a:prstGeom prst="roundRect">
            <a:avLst>
              <a:gd name="adj" fmla="val 769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8220456"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44" name="Oval 43"/>
          <p:cNvSpPr/>
          <p:nvPr/>
        </p:nvSpPr>
        <p:spPr>
          <a:xfrm>
            <a:off x="8572500" y="2240280"/>
            <a:ext cx="685800" cy="6858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send-w.png"/>
          <p:cNvPicPr>
            <a:picLocks noChangeAspect="1"/>
          </p:cNvPicPr>
          <p:nvPr/>
        </p:nvPicPr>
        <p:blipFill>
          <a:blip r:embed="rId6"/>
          <a:stretch>
            <a:fillRect/>
          </a:stretch>
        </p:blipFill>
        <p:spPr>
          <a:xfrm>
            <a:off x="8743950" y="2411730"/>
            <a:ext cx="342900" cy="342900"/>
          </a:xfrm>
          <a:prstGeom prst="rect">
            <a:avLst/>
          </a:prstGeom>
        </p:spPr>
      </p:pic>
      <p:sp>
        <p:nvSpPr>
          <p:cNvPr id="46" name="TextBox 45"/>
          <p:cNvSpPr txBox="1"/>
          <p:nvPr/>
        </p:nvSpPr>
        <p:spPr>
          <a:xfrm>
            <a:off x="8083296"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Enquire</a:t>
            </a:r>
          </a:p>
        </p:txBody>
      </p:sp>
      <p:sp>
        <p:nvSpPr>
          <p:cNvPr id="47" name="Rounded Rectangle 46"/>
          <p:cNvSpPr/>
          <p:nvPr/>
        </p:nvSpPr>
        <p:spPr>
          <a:xfrm>
            <a:off x="8604504" y="3493008"/>
            <a:ext cx="621792"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604504" y="3493008"/>
            <a:ext cx="621792"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Agents</a:t>
            </a:r>
          </a:p>
        </p:txBody>
      </p:sp>
      <p:sp>
        <p:nvSpPr>
          <p:cNvPr id="49" name="TextBox 48"/>
          <p:cNvSpPr txBox="1"/>
          <p:nvPr/>
        </p:nvSpPr>
        <p:spPr>
          <a:xfrm>
            <a:off x="8220456"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Send or share the trip, track the quote</a:t>
            </a:r>
          </a:p>
        </p:txBody>
      </p:sp>
      <p:cxnSp>
        <p:nvCxnSpPr>
          <p:cNvPr id="50" name="Connector 49"/>
          <p:cNvCxnSpPr/>
          <p:nvPr/>
        </p:nvCxnSpPr>
        <p:spPr>
          <a:xfrm>
            <a:off x="9765792"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966960" y="1920240"/>
            <a:ext cx="1664208" cy="2743200"/>
          </a:xfrm>
          <a:prstGeom prst="roundRect">
            <a:avLst>
              <a:gd name="adj" fmla="val 7692"/>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10104120"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6</a:t>
            </a:r>
          </a:p>
        </p:txBody>
      </p:sp>
      <p:sp>
        <p:nvSpPr>
          <p:cNvPr id="53" name="Oval 52"/>
          <p:cNvSpPr/>
          <p:nvPr/>
        </p:nvSpPr>
        <p:spPr>
          <a:xfrm>
            <a:off x="10456164" y="2240280"/>
            <a:ext cx="685800" cy="6858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ticket-w.png"/>
          <p:cNvPicPr>
            <a:picLocks noChangeAspect="1"/>
          </p:cNvPicPr>
          <p:nvPr/>
        </p:nvPicPr>
        <p:blipFill>
          <a:blip r:embed="rId7"/>
          <a:stretch>
            <a:fillRect/>
          </a:stretch>
        </p:blipFill>
        <p:spPr>
          <a:xfrm>
            <a:off x="10627614" y="2411730"/>
            <a:ext cx="342900" cy="342900"/>
          </a:xfrm>
          <a:prstGeom prst="rect">
            <a:avLst/>
          </a:prstGeom>
        </p:spPr>
      </p:pic>
      <p:sp>
        <p:nvSpPr>
          <p:cNvPr id="55" name="TextBox 54"/>
          <p:cNvSpPr txBox="1"/>
          <p:nvPr/>
        </p:nvSpPr>
        <p:spPr>
          <a:xfrm>
            <a:off x="9966960"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Book</a:t>
            </a:r>
          </a:p>
        </p:txBody>
      </p:sp>
      <p:sp>
        <p:nvSpPr>
          <p:cNvPr id="56" name="Rounded Rectangle 55"/>
          <p:cNvSpPr/>
          <p:nvPr/>
        </p:nvSpPr>
        <p:spPr>
          <a:xfrm>
            <a:off x="10415016" y="3493008"/>
            <a:ext cx="768096"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0415016" y="3493008"/>
            <a:ext cx="768096"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Packages</a:t>
            </a:r>
          </a:p>
        </p:txBody>
      </p:sp>
      <p:sp>
        <p:nvSpPr>
          <p:cNvPr id="58" name="TextBox 57"/>
          <p:cNvSpPr txBox="1"/>
          <p:nvPr/>
        </p:nvSpPr>
        <p:spPr>
          <a:xfrm>
            <a:off x="10104120"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Cart with GST, reserve with 20%</a:t>
            </a:r>
          </a:p>
        </p:txBody>
      </p:sp>
      <p:cxnSp>
        <p:nvCxnSpPr>
          <p:cNvPr id="59" name="Connector 58"/>
          <p:cNvCxnSpPr/>
          <p:nvPr/>
        </p:nvCxnSpPr>
        <p:spPr>
          <a:xfrm>
            <a:off x="3264408" y="4681728"/>
            <a:ext cx="0" cy="393192"/>
          </a:xfrm>
          <a:prstGeom prst="line">
            <a:avLst/>
          </a:prstGeom>
          <a:ln w="19050">
            <a:solidFill>
              <a:srgbClr val="6A57B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264408" y="5074920"/>
            <a:ext cx="7534656" cy="0"/>
          </a:xfrm>
          <a:prstGeom prst="line">
            <a:avLst/>
          </a:prstGeom>
          <a:ln w="19050">
            <a:solidFill>
              <a:srgbClr val="6A57B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0799064" y="4690872"/>
            <a:ext cx="0" cy="384048"/>
          </a:xfrm>
          <a:prstGeom prst="line">
            <a:avLst/>
          </a:prstGeom>
          <a:ln w="19050">
            <a:solidFill>
              <a:srgbClr val="6A57B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4206240" y="4919472"/>
            <a:ext cx="3749039" cy="329184"/>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4206240" y="4919472"/>
            <a:ext cx="3749039" cy="329184"/>
          </a:xfrm>
          <a:prstGeom prst="rect">
            <a:avLst/>
          </a:prstGeom>
          <a:noFill/>
        </p:spPr>
        <p:txBody>
          <a:bodyPr wrap="square" lIns="0" rIns="0" tIns="0" bIns="0" anchor="ctr">
            <a:noAutofit/>
          </a:bodyPr>
          <a:lstStyle/>
          <a:p>
            <a:pPr algn="ctr">
              <a:spcAft>
                <a:spcPts val="400"/>
              </a:spcAft>
            </a:pPr>
            <a:r>
              <a:rPr sz="1100" b="1" i="0">
                <a:solidFill>
                  <a:srgbClr val="4A3A8F"/>
                </a:solidFill>
                <a:latin typeface="Calibri"/>
              </a:rPr>
              <a:t>Shortcut: like a fixed package? Book it directly</a:t>
            </a:r>
          </a:p>
        </p:txBody>
      </p:sp>
      <p:sp>
        <p:nvSpPr>
          <p:cNvPr id="64" name="Rounded Rectangle 63"/>
          <p:cNvSpPr/>
          <p:nvPr/>
        </p:nvSpPr>
        <p:spPr>
          <a:xfrm>
            <a:off x="548640" y="5532120"/>
            <a:ext cx="11091672" cy="640080"/>
          </a:xfrm>
          <a:prstGeom prst="roundRect">
            <a:avLst>
              <a:gd name="adj" fmla="val 17142"/>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5" name="Picture 64" descr="refresh-cw-w.png"/>
          <p:cNvPicPr>
            <a:picLocks noChangeAspect="1"/>
          </p:cNvPicPr>
          <p:nvPr/>
        </p:nvPicPr>
        <p:blipFill>
          <a:blip r:embed="rId8"/>
          <a:stretch>
            <a:fillRect/>
          </a:stretch>
        </p:blipFill>
        <p:spPr>
          <a:xfrm>
            <a:off x="777240" y="5687568"/>
            <a:ext cx="329184" cy="329184"/>
          </a:xfrm>
          <a:prstGeom prst="rect">
            <a:avLst/>
          </a:prstGeom>
        </p:spPr>
      </p:pic>
      <p:sp>
        <p:nvSpPr>
          <p:cNvPr id="66" name="TextBox 65"/>
          <p:cNvSpPr txBox="1"/>
          <p:nvPr/>
        </p:nvSpPr>
        <p:spPr>
          <a:xfrm>
            <a:off x="1280160" y="5532120"/>
            <a:ext cx="10149840" cy="640080"/>
          </a:xfrm>
          <a:prstGeom prst="rect">
            <a:avLst/>
          </a:prstGeom>
          <a:noFill/>
        </p:spPr>
        <p:txBody>
          <a:bodyPr wrap="square" lIns="0" rIns="0" tIns="0" bIns="0" anchor="ctr">
            <a:noAutofit/>
          </a:bodyPr>
          <a:lstStyle/>
          <a:p>
            <a:pPr algn="l">
              <a:spcAft>
                <a:spcPts val="400"/>
              </a:spcAft>
            </a:pPr>
            <a:r>
              <a:rPr sz="1250" b="1" i="0">
                <a:solidFill>
                  <a:srgbClr val="FFC46B"/>
                </a:solidFill>
                <a:latin typeface="Calibri"/>
              </a:rPr>
              <a:t>Shared state:  </a:t>
            </a:r>
            <a:r>
              <a:rPr sz="1250" b="0" i="0">
                <a:solidFill>
                  <a:srgbClr val="FFFFFF"/>
                </a:solidFill>
                <a:latin typeface="Calibri"/>
              </a:rPr>
              <a:t>the trip, cart, enquiries and bookings are saved in the browser, so every page and tab stays in sync.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Where this project goes next</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FUTURE SCOPE</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17</a:t>
            </a:r>
          </a:p>
        </p:txBody>
      </p:sp>
      <p:sp>
        <p:nvSpPr>
          <p:cNvPr id="6" name="Rounded Rectangle 5"/>
          <p:cNvSpPr/>
          <p:nvPr/>
        </p:nvSpPr>
        <p:spPr>
          <a:xfrm>
            <a:off x="548640" y="1554480"/>
            <a:ext cx="3584448" cy="1920240"/>
          </a:xfrm>
          <a:prstGeom prst="roundRect">
            <a:avLst>
              <a:gd name="adj" fmla="val 6666"/>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tabase-w.png"/>
          <p:cNvPicPr>
            <a:picLocks noChangeAspect="1"/>
          </p:cNvPicPr>
          <p:nvPr/>
        </p:nvPicPr>
        <p:blipFill>
          <a:blip r:embed="rId2"/>
          <a:stretch>
            <a:fillRect/>
          </a:stretch>
        </p:blipFill>
        <p:spPr>
          <a:xfrm>
            <a:off x="902970" y="1908810"/>
            <a:ext cx="251460" cy="251460"/>
          </a:xfrm>
          <a:prstGeom prst="rect">
            <a:avLst/>
          </a:prstGeom>
        </p:spPr>
      </p:pic>
      <p:sp>
        <p:nvSpPr>
          <p:cNvPr id="9" name="Rounded Rectangle 8"/>
          <p:cNvSpPr/>
          <p:nvPr/>
        </p:nvSpPr>
        <p:spPr>
          <a:xfrm>
            <a:off x="3063240" y="1828800"/>
            <a:ext cx="868680" cy="274320"/>
          </a:xfrm>
          <a:prstGeom prst="roundRect">
            <a:avLst>
              <a:gd name="adj" fmla="val 50000"/>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63240" y="1828800"/>
            <a:ext cx="868680" cy="274320"/>
          </a:xfrm>
          <a:prstGeom prst="rect">
            <a:avLst/>
          </a:prstGeom>
          <a:noFill/>
        </p:spPr>
        <p:txBody>
          <a:bodyPr wrap="square" lIns="0" rIns="0" tIns="0" bIns="0" anchor="ctr">
            <a:noAutofit/>
          </a:bodyPr>
          <a:lstStyle/>
          <a:p>
            <a:pPr algn="ctr">
              <a:spcAft>
                <a:spcPts val="400"/>
              </a:spcAft>
            </a:pPr>
            <a:r>
              <a:rPr sz="1000" b="1" i="0">
                <a:solidFill>
                  <a:srgbClr val="EF7D42"/>
                </a:solidFill>
                <a:latin typeface="Calibri"/>
              </a:rPr>
              <a:t>Phase 1</a:t>
            </a:r>
          </a:p>
        </p:txBody>
      </p:sp>
      <p:sp>
        <p:nvSpPr>
          <p:cNvPr id="11" name="TextBox 10"/>
          <p:cNvSpPr txBox="1"/>
          <p:nvPr/>
        </p:nvSpPr>
        <p:spPr>
          <a:xfrm>
            <a:off x="804672" y="2423160"/>
            <a:ext cx="3108960" cy="36576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Backend and accounts</a:t>
            </a:r>
          </a:p>
        </p:txBody>
      </p:sp>
      <p:sp>
        <p:nvSpPr>
          <p:cNvPr id="12" name="TextBox 11"/>
          <p:cNvSpPr txBox="1"/>
          <p:nvPr/>
        </p:nvSpPr>
        <p:spPr>
          <a:xfrm>
            <a:off x="804672" y="2788920"/>
            <a:ext cx="3108960" cy="64008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Save trips across devices; real agent logins.</a:t>
            </a:r>
          </a:p>
        </p:txBody>
      </p:sp>
      <p:sp>
        <p:nvSpPr>
          <p:cNvPr id="13" name="Rounded Rectangle 12"/>
          <p:cNvSpPr/>
          <p:nvPr/>
        </p:nvSpPr>
        <p:spPr>
          <a:xfrm>
            <a:off x="4297679" y="1554480"/>
            <a:ext cx="3584448" cy="1920240"/>
          </a:xfrm>
          <a:prstGeom prst="roundRect">
            <a:avLst>
              <a:gd name="adj" fmla="val 6666"/>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eceipt-indian-rupee-w.png"/>
          <p:cNvPicPr>
            <a:picLocks noChangeAspect="1"/>
          </p:cNvPicPr>
          <p:nvPr/>
        </p:nvPicPr>
        <p:blipFill>
          <a:blip r:embed="rId3"/>
          <a:stretch>
            <a:fillRect/>
          </a:stretch>
        </p:blipFill>
        <p:spPr>
          <a:xfrm>
            <a:off x="4652009" y="1908810"/>
            <a:ext cx="251460" cy="251460"/>
          </a:xfrm>
          <a:prstGeom prst="rect">
            <a:avLst/>
          </a:prstGeom>
        </p:spPr>
      </p:pic>
      <p:sp>
        <p:nvSpPr>
          <p:cNvPr id="16" name="Rounded Rectangle 15"/>
          <p:cNvSpPr/>
          <p:nvPr/>
        </p:nvSpPr>
        <p:spPr>
          <a:xfrm>
            <a:off x="6812279" y="1828800"/>
            <a:ext cx="868680" cy="274320"/>
          </a:xfrm>
          <a:prstGeom prst="roundRect">
            <a:avLst>
              <a:gd name="adj" fmla="val 50000"/>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12279" y="1828800"/>
            <a:ext cx="868680" cy="274320"/>
          </a:xfrm>
          <a:prstGeom prst="rect">
            <a:avLst/>
          </a:prstGeom>
          <a:noFill/>
        </p:spPr>
        <p:txBody>
          <a:bodyPr wrap="square" lIns="0" rIns="0" tIns="0" bIns="0" anchor="ctr">
            <a:noAutofit/>
          </a:bodyPr>
          <a:lstStyle/>
          <a:p>
            <a:pPr algn="ctr">
              <a:spcAft>
                <a:spcPts val="400"/>
              </a:spcAft>
            </a:pPr>
            <a:r>
              <a:rPr sz="1000" b="1" i="0">
                <a:solidFill>
                  <a:srgbClr val="EF7D42"/>
                </a:solidFill>
                <a:latin typeface="Calibri"/>
              </a:rPr>
              <a:t>Phase 1</a:t>
            </a:r>
          </a:p>
        </p:txBody>
      </p:sp>
      <p:sp>
        <p:nvSpPr>
          <p:cNvPr id="18" name="TextBox 17"/>
          <p:cNvSpPr txBox="1"/>
          <p:nvPr/>
        </p:nvSpPr>
        <p:spPr>
          <a:xfrm>
            <a:off x="4553712" y="2423160"/>
            <a:ext cx="3108960" cy="36576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Online payments</a:t>
            </a:r>
          </a:p>
        </p:txBody>
      </p:sp>
      <p:sp>
        <p:nvSpPr>
          <p:cNvPr id="19" name="TextBox 18"/>
          <p:cNvSpPr txBox="1"/>
          <p:nvPr/>
        </p:nvSpPr>
        <p:spPr>
          <a:xfrm>
            <a:off x="4553712" y="2788920"/>
            <a:ext cx="3108960" cy="64008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UPI and card payments for the 20% reservation.</a:t>
            </a:r>
          </a:p>
        </p:txBody>
      </p:sp>
      <p:sp>
        <p:nvSpPr>
          <p:cNvPr id="20" name="Rounded Rectangle 19"/>
          <p:cNvSpPr/>
          <p:nvPr/>
        </p:nvSpPr>
        <p:spPr>
          <a:xfrm>
            <a:off x="8046719" y="1554480"/>
            <a:ext cx="3584448" cy="1920240"/>
          </a:xfrm>
          <a:prstGeom prst="roundRect">
            <a:avLst>
              <a:gd name="adj" fmla="val 6666"/>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75319"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alendar-days-w.png"/>
          <p:cNvPicPr>
            <a:picLocks noChangeAspect="1"/>
          </p:cNvPicPr>
          <p:nvPr/>
        </p:nvPicPr>
        <p:blipFill>
          <a:blip r:embed="rId4"/>
          <a:stretch>
            <a:fillRect/>
          </a:stretch>
        </p:blipFill>
        <p:spPr>
          <a:xfrm>
            <a:off x="8401049" y="1908810"/>
            <a:ext cx="251460" cy="251460"/>
          </a:xfrm>
          <a:prstGeom prst="rect">
            <a:avLst/>
          </a:prstGeom>
        </p:spPr>
      </p:pic>
      <p:sp>
        <p:nvSpPr>
          <p:cNvPr id="23" name="Rounded Rectangle 22"/>
          <p:cNvSpPr/>
          <p:nvPr/>
        </p:nvSpPr>
        <p:spPr>
          <a:xfrm>
            <a:off x="10561319" y="1828800"/>
            <a:ext cx="868680" cy="274320"/>
          </a:xfrm>
          <a:prstGeom prst="roundRect">
            <a:avLst>
              <a:gd name="adj" fmla="val 50000"/>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561319" y="1828800"/>
            <a:ext cx="868680" cy="274320"/>
          </a:xfrm>
          <a:prstGeom prst="rect">
            <a:avLst/>
          </a:prstGeom>
          <a:noFill/>
        </p:spPr>
        <p:txBody>
          <a:bodyPr wrap="square" lIns="0" rIns="0" tIns="0" bIns="0" anchor="ctr">
            <a:noAutofit/>
          </a:bodyPr>
          <a:lstStyle/>
          <a:p>
            <a:pPr algn="ctr">
              <a:spcAft>
                <a:spcPts val="400"/>
              </a:spcAft>
            </a:pPr>
            <a:r>
              <a:rPr sz="1000" b="1" i="0">
                <a:solidFill>
                  <a:srgbClr val="EF7D42"/>
                </a:solidFill>
                <a:latin typeface="Calibri"/>
              </a:rPr>
              <a:t>Phase 1</a:t>
            </a:r>
          </a:p>
        </p:txBody>
      </p:sp>
      <p:sp>
        <p:nvSpPr>
          <p:cNvPr id="25" name="TextBox 24"/>
          <p:cNvSpPr txBox="1"/>
          <p:nvPr/>
        </p:nvSpPr>
        <p:spPr>
          <a:xfrm>
            <a:off x="8302751" y="2423160"/>
            <a:ext cx="3108960" cy="36576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Live availability</a:t>
            </a:r>
          </a:p>
        </p:txBody>
      </p:sp>
      <p:sp>
        <p:nvSpPr>
          <p:cNvPr id="26" name="TextBox 25"/>
          <p:cNvSpPr txBox="1"/>
          <p:nvPr/>
        </p:nvSpPr>
        <p:spPr>
          <a:xfrm>
            <a:off x="8302751" y="2788920"/>
            <a:ext cx="3108960" cy="64008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Hotel and train availability on chosen dates.</a:t>
            </a:r>
          </a:p>
        </p:txBody>
      </p:sp>
      <p:sp>
        <p:nvSpPr>
          <p:cNvPr id="27" name="Rounded Rectangle 26"/>
          <p:cNvSpPr/>
          <p:nvPr/>
        </p:nvSpPr>
        <p:spPr>
          <a:xfrm>
            <a:off x="548640" y="3657600"/>
            <a:ext cx="3584448" cy="1920240"/>
          </a:xfrm>
          <a:prstGeom prst="roundRect">
            <a:avLst>
              <a:gd name="adj" fmla="val 6666"/>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77240" y="388620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anguages-w.png"/>
          <p:cNvPicPr>
            <a:picLocks noChangeAspect="1"/>
          </p:cNvPicPr>
          <p:nvPr/>
        </p:nvPicPr>
        <p:blipFill>
          <a:blip r:embed="rId5"/>
          <a:stretch>
            <a:fillRect/>
          </a:stretch>
        </p:blipFill>
        <p:spPr>
          <a:xfrm>
            <a:off x="902970" y="4011930"/>
            <a:ext cx="251460" cy="251460"/>
          </a:xfrm>
          <a:prstGeom prst="rect">
            <a:avLst/>
          </a:prstGeom>
        </p:spPr>
      </p:pic>
      <p:sp>
        <p:nvSpPr>
          <p:cNvPr id="30" name="Rounded Rectangle 29"/>
          <p:cNvSpPr/>
          <p:nvPr/>
        </p:nvSpPr>
        <p:spPr>
          <a:xfrm>
            <a:off x="3063240" y="3931920"/>
            <a:ext cx="868680" cy="274320"/>
          </a:xfrm>
          <a:prstGeom prst="roundRect">
            <a:avLst>
              <a:gd name="adj" fmla="val 5000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063240" y="3931920"/>
            <a:ext cx="868680" cy="274320"/>
          </a:xfrm>
          <a:prstGeom prst="rect">
            <a:avLst/>
          </a:prstGeom>
          <a:noFill/>
        </p:spPr>
        <p:txBody>
          <a:bodyPr wrap="square" lIns="0" rIns="0" tIns="0" bIns="0" anchor="ctr">
            <a:noAutofit/>
          </a:bodyPr>
          <a:lstStyle/>
          <a:p>
            <a:pPr algn="ctr">
              <a:spcAft>
                <a:spcPts val="400"/>
              </a:spcAft>
            </a:pPr>
            <a:r>
              <a:rPr sz="1000" b="1" i="0">
                <a:solidFill>
                  <a:srgbClr val="4A3A8F"/>
                </a:solidFill>
                <a:latin typeface="Calibri"/>
              </a:rPr>
              <a:t>Phase 2</a:t>
            </a:r>
          </a:p>
        </p:txBody>
      </p:sp>
      <p:sp>
        <p:nvSpPr>
          <p:cNvPr id="32" name="TextBox 31"/>
          <p:cNvSpPr txBox="1"/>
          <p:nvPr/>
        </p:nvSpPr>
        <p:spPr>
          <a:xfrm>
            <a:off x="804672" y="4526280"/>
            <a:ext cx="3108960" cy="36576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Hindi and regional languages</a:t>
            </a:r>
          </a:p>
        </p:txBody>
      </p:sp>
      <p:sp>
        <p:nvSpPr>
          <p:cNvPr id="33" name="TextBox 32"/>
          <p:cNvSpPr txBox="1"/>
          <p:nvPr/>
        </p:nvSpPr>
        <p:spPr>
          <a:xfrm>
            <a:off x="804672" y="4892040"/>
            <a:ext cx="3108960" cy="64008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Reach travellers beyond English.</a:t>
            </a:r>
          </a:p>
        </p:txBody>
      </p:sp>
      <p:sp>
        <p:nvSpPr>
          <p:cNvPr id="34" name="Rounded Rectangle 33"/>
          <p:cNvSpPr/>
          <p:nvPr/>
        </p:nvSpPr>
        <p:spPr>
          <a:xfrm>
            <a:off x="4297679" y="3657600"/>
            <a:ext cx="3584448" cy="1920240"/>
          </a:xfrm>
          <a:prstGeom prst="roundRect">
            <a:avLst>
              <a:gd name="adj" fmla="val 6666"/>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4526279" y="388620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martphone-w.png"/>
          <p:cNvPicPr>
            <a:picLocks noChangeAspect="1"/>
          </p:cNvPicPr>
          <p:nvPr/>
        </p:nvPicPr>
        <p:blipFill>
          <a:blip r:embed="rId6"/>
          <a:stretch>
            <a:fillRect/>
          </a:stretch>
        </p:blipFill>
        <p:spPr>
          <a:xfrm>
            <a:off x="4652009" y="4011930"/>
            <a:ext cx="251460" cy="251460"/>
          </a:xfrm>
          <a:prstGeom prst="rect">
            <a:avLst/>
          </a:prstGeom>
        </p:spPr>
      </p:pic>
      <p:sp>
        <p:nvSpPr>
          <p:cNvPr id="37" name="Rounded Rectangle 36"/>
          <p:cNvSpPr/>
          <p:nvPr/>
        </p:nvSpPr>
        <p:spPr>
          <a:xfrm>
            <a:off x="6812279" y="3931920"/>
            <a:ext cx="868680" cy="274320"/>
          </a:xfrm>
          <a:prstGeom prst="roundRect">
            <a:avLst>
              <a:gd name="adj" fmla="val 5000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812279" y="3931920"/>
            <a:ext cx="868680" cy="274320"/>
          </a:xfrm>
          <a:prstGeom prst="rect">
            <a:avLst/>
          </a:prstGeom>
          <a:noFill/>
        </p:spPr>
        <p:txBody>
          <a:bodyPr wrap="square" lIns="0" rIns="0" tIns="0" bIns="0" anchor="ctr">
            <a:noAutofit/>
          </a:bodyPr>
          <a:lstStyle/>
          <a:p>
            <a:pPr algn="ctr">
              <a:spcAft>
                <a:spcPts val="400"/>
              </a:spcAft>
            </a:pPr>
            <a:r>
              <a:rPr sz="1000" b="1" i="0">
                <a:solidFill>
                  <a:srgbClr val="4A3A8F"/>
                </a:solidFill>
                <a:latin typeface="Calibri"/>
              </a:rPr>
              <a:t>Phase 2</a:t>
            </a:r>
          </a:p>
        </p:txBody>
      </p:sp>
      <p:sp>
        <p:nvSpPr>
          <p:cNvPr id="39" name="TextBox 38"/>
          <p:cNvSpPr txBox="1"/>
          <p:nvPr/>
        </p:nvSpPr>
        <p:spPr>
          <a:xfrm>
            <a:off x="4553712" y="4526280"/>
            <a:ext cx="3108960" cy="36576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Installable offline app</a:t>
            </a:r>
          </a:p>
        </p:txBody>
      </p:sp>
      <p:sp>
        <p:nvSpPr>
          <p:cNvPr id="40" name="TextBox 39"/>
          <p:cNvSpPr txBox="1"/>
          <p:nvPr/>
        </p:nvSpPr>
        <p:spPr>
          <a:xfrm>
            <a:off x="4553712" y="4892040"/>
            <a:ext cx="3108960" cy="64008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Itinerary and tickets without signal.</a:t>
            </a:r>
          </a:p>
        </p:txBody>
      </p:sp>
      <p:sp>
        <p:nvSpPr>
          <p:cNvPr id="41" name="Rounded Rectangle 40"/>
          <p:cNvSpPr/>
          <p:nvPr/>
        </p:nvSpPr>
        <p:spPr>
          <a:xfrm>
            <a:off x="8046719" y="3657600"/>
            <a:ext cx="3584448" cy="1920240"/>
          </a:xfrm>
          <a:prstGeom prst="roundRect">
            <a:avLst>
              <a:gd name="adj" fmla="val 6666"/>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8275319" y="388620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users-w.png"/>
          <p:cNvPicPr>
            <a:picLocks noChangeAspect="1"/>
          </p:cNvPicPr>
          <p:nvPr/>
        </p:nvPicPr>
        <p:blipFill>
          <a:blip r:embed="rId7"/>
          <a:stretch>
            <a:fillRect/>
          </a:stretch>
        </p:blipFill>
        <p:spPr>
          <a:xfrm>
            <a:off x="8401049" y="4011930"/>
            <a:ext cx="251460" cy="251460"/>
          </a:xfrm>
          <a:prstGeom prst="rect">
            <a:avLst/>
          </a:prstGeom>
        </p:spPr>
      </p:pic>
      <p:sp>
        <p:nvSpPr>
          <p:cNvPr id="44" name="Rounded Rectangle 43"/>
          <p:cNvSpPr/>
          <p:nvPr/>
        </p:nvSpPr>
        <p:spPr>
          <a:xfrm>
            <a:off x="10561319" y="3931920"/>
            <a:ext cx="868680" cy="274320"/>
          </a:xfrm>
          <a:prstGeom prst="roundRect">
            <a:avLst>
              <a:gd name="adj" fmla="val 5000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561319" y="3931920"/>
            <a:ext cx="868680" cy="274320"/>
          </a:xfrm>
          <a:prstGeom prst="rect">
            <a:avLst/>
          </a:prstGeom>
          <a:noFill/>
        </p:spPr>
        <p:txBody>
          <a:bodyPr wrap="square" lIns="0" rIns="0" tIns="0" bIns="0" anchor="ctr">
            <a:noAutofit/>
          </a:bodyPr>
          <a:lstStyle/>
          <a:p>
            <a:pPr algn="ctr">
              <a:spcAft>
                <a:spcPts val="400"/>
              </a:spcAft>
            </a:pPr>
            <a:r>
              <a:rPr sz="1000" b="1" i="0">
                <a:solidFill>
                  <a:srgbClr val="4A3A8F"/>
                </a:solidFill>
                <a:latin typeface="Calibri"/>
              </a:rPr>
              <a:t>Phase 2</a:t>
            </a:r>
          </a:p>
        </p:txBody>
      </p:sp>
      <p:sp>
        <p:nvSpPr>
          <p:cNvPr id="46" name="TextBox 45"/>
          <p:cNvSpPr txBox="1"/>
          <p:nvPr/>
        </p:nvSpPr>
        <p:spPr>
          <a:xfrm>
            <a:off x="8302751" y="4526280"/>
            <a:ext cx="3108960" cy="36576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Live crowd and weather data</a:t>
            </a:r>
          </a:p>
        </p:txBody>
      </p:sp>
      <p:sp>
        <p:nvSpPr>
          <p:cNvPr id="47" name="TextBox 46"/>
          <p:cNvSpPr txBox="1"/>
          <p:nvPr/>
        </p:nvSpPr>
        <p:spPr>
          <a:xfrm>
            <a:off x="8302751" y="4892040"/>
            <a:ext cx="3108960" cy="64008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Replace crowd estimates with real visitor and weather feeds.</a:t>
            </a:r>
          </a:p>
        </p:txBody>
      </p:sp>
      <p:sp>
        <p:nvSpPr>
          <p:cNvPr id="48" name="Rounded Rectangle 47"/>
          <p:cNvSpPr/>
          <p:nvPr/>
        </p:nvSpPr>
        <p:spPr>
          <a:xfrm>
            <a:off x="548640" y="5852160"/>
            <a:ext cx="868680" cy="274320"/>
          </a:xfrm>
          <a:prstGeom prst="roundRect">
            <a:avLst>
              <a:gd name="adj" fmla="val 50000"/>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5852160"/>
            <a:ext cx="868680" cy="274320"/>
          </a:xfrm>
          <a:prstGeom prst="rect">
            <a:avLst/>
          </a:prstGeom>
          <a:noFill/>
        </p:spPr>
        <p:txBody>
          <a:bodyPr wrap="square" lIns="0" rIns="0" tIns="0" bIns="0" anchor="ctr">
            <a:noAutofit/>
          </a:bodyPr>
          <a:lstStyle/>
          <a:p>
            <a:pPr algn="ctr">
              <a:spcAft>
                <a:spcPts val="400"/>
              </a:spcAft>
            </a:pPr>
            <a:r>
              <a:rPr sz="1000" b="1" i="0">
                <a:solidFill>
                  <a:srgbClr val="EF7D42"/>
                </a:solidFill>
                <a:latin typeface="Calibri"/>
              </a:rPr>
              <a:t>Phase 1</a:t>
            </a:r>
          </a:p>
        </p:txBody>
      </p:sp>
      <p:sp>
        <p:nvSpPr>
          <p:cNvPr id="50" name="TextBox 49"/>
          <p:cNvSpPr txBox="1"/>
          <p:nvPr/>
        </p:nvSpPr>
        <p:spPr>
          <a:xfrm>
            <a:off x="1554480" y="5852160"/>
            <a:ext cx="2194560" cy="274320"/>
          </a:xfrm>
          <a:prstGeom prst="rect">
            <a:avLst/>
          </a:prstGeom>
          <a:noFill/>
        </p:spPr>
        <p:txBody>
          <a:bodyPr wrap="square" lIns="0" rIns="0" tIns="0" bIns="0" anchor="ctr">
            <a:noAutofit/>
          </a:bodyPr>
          <a:lstStyle/>
          <a:p>
            <a:pPr algn="l">
              <a:spcAft>
                <a:spcPts val="400"/>
              </a:spcAft>
            </a:pPr>
            <a:r>
              <a:rPr sz="1100" b="0" i="0">
                <a:solidFill>
                  <a:srgbClr val="6D6585"/>
                </a:solidFill>
                <a:latin typeface="Calibri"/>
              </a:rPr>
              <a:t>Next: build the foundation</a:t>
            </a:r>
          </a:p>
        </p:txBody>
      </p:sp>
      <p:sp>
        <p:nvSpPr>
          <p:cNvPr id="51" name="Rounded Rectangle 50"/>
          <p:cNvSpPr/>
          <p:nvPr/>
        </p:nvSpPr>
        <p:spPr>
          <a:xfrm>
            <a:off x="3840480" y="5852160"/>
            <a:ext cx="868680" cy="274320"/>
          </a:xfrm>
          <a:prstGeom prst="roundRect">
            <a:avLst>
              <a:gd name="adj" fmla="val 5000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3840480" y="5852160"/>
            <a:ext cx="868680" cy="274320"/>
          </a:xfrm>
          <a:prstGeom prst="rect">
            <a:avLst/>
          </a:prstGeom>
          <a:noFill/>
        </p:spPr>
        <p:txBody>
          <a:bodyPr wrap="square" lIns="0" rIns="0" tIns="0" bIns="0" anchor="ctr">
            <a:noAutofit/>
          </a:bodyPr>
          <a:lstStyle/>
          <a:p>
            <a:pPr algn="ctr">
              <a:spcAft>
                <a:spcPts val="400"/>
              </a:spcAft>
            </a:pPr>
            <a:r>
              <a:rPr sz="1000" b="1" i="0">
                <a:solidFill>
                  <a:srgbClr val="4A3A8F"/>
                </a:solidFill>
                <a:latin typeface="Calibri"/>
              </a:rPr>
              <a:t>Phase 2</a:t>
            </a:r>
          </a:p>
        </p:txBody>
      </p:sp>
      <p:sp>
        <p:nvSpPr>
          <p:cNvPr id="53" name="TextBox 52"/>
          <p:cNvSpPr txBox="1"/>
          <p:nvPr/>
        </p:nvSpPr>
        <p:spPr>
          <a:xfrm>
            <a:off x="4846320" y="5852160"/>
            <a:ext cx="2194560" cy="274320"/>
          </a:xfrm>
          <a:prstGeom prst="rect">
            <a:avLst/>
          </a:prstGeom>
          <a:noFill/>
        </p:spPr>
        <p:txBody>
          <a:bodyPr wrap="square" lIns="0" rIns="0" tIns="0" bIns="0" anchor="ctr">
            <a:noAutofit/>
          </a:bodyPr>
          <a:lstStyle/>
          <a:p>
            <a:pPr algn="l">
              <a:spcAft>
                <a:spcPts val="400"/>
              </a:spcAft>
            </a:pPr>
            <a:r>
              <a:rPr sz="1100" b="0" i="0">
                <a:solidFill>
                  <a:srgbClr val="6D6585"/>
                </a:solidFill>
                <a:latin typeface="Calibri"/>
              </a:rPr>
              <a:t>Later: grow the reach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Conclusion</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SUMMARY AND QUESTIONS</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18</a:t>
            </a:r>
          </a:p>
        </p:txBody>
      </p:sp>
      <p:sp>
        <p:nvSpPr>
          <p:cNvPr id="6" name="Rounded Rectangle 5"/>
          <p:cNvSpPr/>
          <p:nvPr/>
        </p:nvSpPr>
        <p:spPr>
          <a:xfrm>
            <a:off x="548640" y="1554480"/>
            <a:ext cx="5852160" cy="4617720"/>
          </a:xfrm>
          <a:prstGeom prst="roundRect">
            <a:avLst>
              <a:gd name="adj" fmla="val 3168"/>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783080"/>
            <a:ext cx="5303520" cy="36576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Summary</a:t>
            </a:r>
          </a:p>
        </p:txBody>
      </p:sp>
      <p:sp>
        <p:nvSpPr>
          <p:cNvPr id="8" name="TextBox 7"/>
          <p:cNvSpPr txBox="1"/>
          <p:nvPr/>
        </p:nvSpPr>
        <p:spPr>
          <a:xfrm>
            <a:off x="868680" y="2240280"/>
            <a:ext cx="5303520" cy="1371600"/>
          </a:xfrm>
          <a:prstGeom prst="rect">
            <a:avLst/>
          </a:prstGeom>
          <a:noFill/>
        </p:spPr>
        <p:txBody>
          <a:bodyPr wrap="square" lIns="0" rIns="0" tIns="0" bIns="0" anchor="t">
            <a:noAutofit/>
          </a:bodyPr>
          <a:lstStyle/>
          <a:p>
            <a:pPr algn="l">
              <a:lnSpc>
                <a:spcPct val="110000"/>
              </a:lnSpc>
              <a:spcAft>
                <a:spcPts val="400"/>
              </a:spcAft>
            </a:pPr>
            <a:r>
              <a:rPr sz="1400" b="0" i="0">
                <a:solidFill>
                  <a:srgbClr val="2B2257"/>
                </a:solidFill>
                <a:latin typeface="Calibri"/>
              </a:rPr>
              <a:t>Pathik turns six separate tasks into one flow: find a place, learn about it, plan the days, see the cost, ask one registered agent, and book with nothing hidden.</a:t>
            </a:r>
          </a:p>
        </p:txBody>
      </p:sp>
      <p:sp>
        <p:nvSpPr>
          <p:cNvPr id="9" name="TextBox 8"/>
          <p:cNvSpPr txBox="1"/>
          <p:nvPr/>
        </p:nvSpPr>
        <p:spPr>
          <a:xfrm>
            <a:off x="868680" y="3794760"/>
            <a:ext cx="2377440" cy="548640"/>
          </a:xfrm>
          <a:prstGeom prst="rect">
            <a:avLst/>
          </a:prstGeom>
          <a:noFill/>
        </p:spPr>
        <p:txBody>
          <a:bodyPr wrap="square" lIns="0" rIns="0" tIns="0" bIns="0" anchor="t">
            <a:noAutofit/>
          </a:bodyPr>
          <a:lstStyle/>
          <a:p>
            <a:pPr algn="l">
              <a:spcAft>
                <a:spcPts val="400"/>
              </a:spcAft>
            </a:pPr>
            <a:r>
              <a:rPr sz="3000" b="1" i="0">
                <a:solidFill>
                  <a:srgbClr val="EF7D42"/>
                </a:solidFill>
                <a:latin typeface="Cambria"/>
              </a:rPr>
              <a:t>6</a:t>
            </a:r>
          </a:p>
        </p:txBody>
      </p:sp>
      <p:sp>
        <p:nvSpPr>
          <p:cNvPr id="10" name="TextBox 9"/>
          <p:cNvSpPr txBox="1"/>
          <p:nvPr/>
        </p:nvSpPr>
        <p:spPr>
          <a:xfrm>
            <a:off x="868680" y="4343400"/>
            <a:ext cx="23774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pages</a:t>
            </a:r>
          </a:p>
        </p:txBody>
      </p:sp>
      <p:sp>
        <p:nvSpPr>
          <p:cNvPr id="11" name="TextBox 10"/>
          <p:cNvSpPr txBox="1"/>
          <p:nvPr/>
        </p:nvSpPr>
        <p:spPr>
          <a:xfrm>
            <a:off x="3520439" y="3794760"/>
            <a:ext cx="2377440" cy="548640"/>
          </a:xfrm>
          <a:prstGeom prst="rect">
            <a:avLst/>
          </a:prstGeom>
          <a:noFill/>
        </p:spPr>
        <p:txBody>
          <a:bodyPr wrap="square" lIns="0" rIns="0" tIns="0" bIns="0" anchor="t">
            <a:noAutofit/>
          </a:bodyPr>
          <a:lstStyle/>
          <a:p>
            <a:pPr algn="l">
              <a:spcAft>
                <a:spcPts val="400"/>
              </a:spcAft>
            </a:pPr>
            <a:r>
              <a:rPr sz="3000" b="1" i="0">
                <a:solidFill>
                  <a:srgbClr val="EF7D42"/>
                </a:solidFill>
                <a:latin typeface="Cambria"/>
              </a:rPr>
              <a:t>23</a:t>
            </a:r>
          </a:p>
        </p:txBody>
      </p:sp>
      <p:sp>
        <p:nvSpPr>
          <p:cNvPr id="12" name="TextBox 11"/>
          <p:cNvSpPr txBox="1"/>
          <p:nvPr/>
        </p:nvSpPr>
        <p:spPr>
          <a:xfrm>
            <a:off x="3520439" y="4343400"/>
            <a:ext cx="23774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destinations</a:t>
            </a:r>
          </a:p>
        </p:txBody>
      </p:sp>
      <p:sp>
        <p:nvSpPr>
          <p:cNvPr id="13" name="TextBox 12"/>
          <p:cNvSpPr txBox="1"/>
          <p:nvPr/>
        </p:nvSpPr>
        <p:spPr>
          <a:xfrm>
            <a:off x="868680" y="4892040"/>
            <a:ext cx="2377440" cy="548640"/>
          </a:xfrm>
          <a:prstGeom prst="rect">
            <a:avLst/>
          </a:prstGeom>
          <a:noFill/>
        </p:spPr>
        <p:txBody>
          <a:bodyPr wrap="square" lIns="0" rIns="0" tIns="0" bIns="0" anchor="t">
            <a:noAutofit/>
          </a:bodyPr>
          <a:lstStyle/>
          <a:p>
            <a:pPr algn="l">
              <a:spcAft>
                <a:spcPts val="400"/>
              </a:spcAft>
            </a:pPr>
            <a:r>
              <a:rPr sz="3000" b="1" i="0">
                <a:solidFill>
                  <a:srgbClr val="EF7D42"/>
                </a:solidFill>
                <a:latin typeface="Cambria"/>
              </a:rPr>
              <a:t>6</a:t>
            </a:r>
          </a:p>
        </p:txBody>
      </p:sp>
      <p:sp>
        <p:nvSpPr>
          <p:cNvPr id="14" name="TextBox 13"/>
          <p:cNvSpPr txBox="1"/>
          <p:nvPr/>
        </p:nvSpPr>
        <p:spPr>
          <a:xfrm>
            <a:off x="868680" y="5440680"/>
            <a:ext cx="23774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core features</a:t>
            </a:r>
          </a:p>
        </p:txBody>
      </p:sp>
      <p:sp>
        <p:nvSpPr>
          <p:cNvPr id="15" name="TextBox 14"/>
          <p:cNvSpPr txBox="1"/>
          <p:nvPr/>
        </p:nvSpPr>
        <p:spPr>
          <a:xfrm>
            <a:off x="3520439" y="4892040"/>
            <a:ext cx="2377440" cy="548640"/>
          </a:xfrm>
          <a:prstGeom prst="rect">
            <a:avLst/>
          </a:prstGeom>
          <a:noFill/>
        </p:spPr>
        <p:txBody>
          <a:bodyPr wrap="square" lIns="0" rIns="0" tIns="0" bIns="0" anchor="t">
            <a:noAutofit/>
          </a:bodyPr>
          <a:lstStyle/>
          <a:p>
            <a:pPr algn="l">
              <a:spcAft>
                <a:spcPts val="400"/>
              </a:spcAft>
            </a:pPr>
            <a:r>
              <a:rPr sz="3000" b="1" i="0">
                <a:solidFill>
                  <a:srgbClr val="EF7D42"/>
                </a:solidFill>
                <a:latin typeface="Cambria"/>
              </a:rPr>
              <a:t>0</a:t>
            </a:r>
          </a:p>
        </p:txBody>
      </p:sp>
      <p:sp>
        <p:nvSpPr>
          <p:cNvPr id="16" name="TextBox 15"/>
          <p:cNvSpPr txBox="1"/>
          <p:nvPr/>
        </p:nvSpPr>
        <p:spPr>
          <a:xfrm>
            <a:off x="3520439" y="5440680"/>
            <a:ext cx="2377440" cy="320040"/>
          </a:xfrm>
          <a:prstGeom prst="rect">
            <a:avLst/>
          </a:prstGeom>
          <a:noFill/>
        </p:spPr>
        <p:txBody>
          <a:bodyPr wrap="square" lIns="0" rIns="0" tIns="0" bIns="0" anchor="t">
            <a:noAutofit/>
          </a:bodyPr>
          <a:lstStyle/>
          <a:p>
            <a:pPr algn="l">
              <a:spcAft>
                <a:spcPts val="400"/>
              </a:spcAft>
            </a:pPr>
            <a:r>
              <a:rPr sz="1200" b="0" i="0">
                <a:solidFill>
                  <a:srgbClr val="6D6585"/>
                </a:solidFill>
                <a:latin typeface="Calibri"/>
              </a:rPr>
              <a:t>servers needed</a:t>
            </a:r>
          </a:p>
        </p:txBody>
      </p:sp>
      <p:sp>
        <p:nvSpPr>
          <p:cNvPr id="17" name="Rounded Rectangle 16"/>
          <p:cNvSpPr/>
          <p:nvPr/>
        </p:nvSpPr>
        <p:spPr>
          <a:xfrm>
            <a:off x="6675120" y="1554480"/>
            <a:ext cx="4965192" cy="4617720"/>
          </a:xfrm>
          <a:prstGeom prst="roundRect">
            <a:avLst>
              <a:gd name="adj" fmla="val 3168"/>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40880" y="1920240"/>
            <a:ext cx="4389120" cy="822960"/>
          </a:xfrm>
          <a:prstGeom prst="rect">
            <a:avLst/>
          </a:prstGeom>
          <a:noFill/>
        </p:spPr>
        <p:txBody>
          <a:bodyPr wrap="square" lIns="0" rIns="0" tIns="0" bIns="0" anchor="t">
            <a:noAutofit/>
          </a:bodyPr>
          <a:lstStyle/>
          <a:p>
            <a:pPr algn="l">
              <a:spcAft>
                <a:spcPts val="400"/>
              </a:spcAft>
            </a:pPr>
            <a:r>
              <a:rPr sz="3600" b="1" i="0">
                <a:solidFill>
                  <a:srgbClr val="FFFFFF"/>
                </a:solidFill>
                <a:latin typeface="Cambria"/>
              </a:rPr>
              <a:t>Thank you</a:t>
            </a:r>
          </a:p>
        </p:txBody>
      </p:sp>
      <p:sp>
        <p:nvSpPr>
          <p:cNvPr id="19" name="TextBox 18"/>
          <p:cNvSpPr txBox="1"/>
          <p:nvPr/>
        </p:nvSpPr>
        <p:spPr>
          <a:xfrm>
            <a:off x="7040880" y="2743200"/>
            <a:ext cx="4389120" cy="457200"/>
          </a:xfrm>
          <a:prstGeom prst="rect">
            <a:avLst/>
          </a:prstGeom>
          <a:noFill/>
        </p:spPr>
        <p:txBody>
          <a:bodyPr wrap="square" lIns="0" rIns="0" tIns="0" bIns="0" anchor="t">
            <a:noAutofit/>
          </a:bodyPr>
          <a:lstStyle/>
          <a:p>
            <a:pPr algn="l">
              <a:spcAft>
                <a:spcPts val="400"/>
              </a:spcAft>
            </a:pPr>
            <a:r>
              <a:rPr sz="1800" b="0" i="0">
                <a:solidFill>
                  <a:srgbClr val="FFC46B"/>
                </a:solidFill>
                <a:latin typeface="Calibri"/>
              </a:rPr>
              <a:t>Any questions?</a:t>
            </a:r>
          </a:p>
        </p:txBody>
      </p:sp>
      <p:sp>
        <p:nvSpPr>
          <p:cNvPr id="20" name="Rounded Rectangle 19"/>
          <p:cNvSpPr/>
          <p:nvPr/>
        </p:nvSpPr>
        <p:spPr>
          <a:xfrm>
            <a:off x="7040880" y="3383280"/>
            <a:ext cx="3017520" cy="2112263"/>
          </a:xfrm>
          <a:prstGeom prst="roundRect">
            <a:avLst>
              <a:gd name="adj" fmla="val 4329"/>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168896" y="346100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06056" y="346100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43216" y="346100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870698" y="3438144"/>
            <a:ext cx="1357884"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70698" y="3433572"/>
            <a:ext cx="1357884"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home</a:t>
            </a:r>
          </a:p>
        </p:txBody>
      </p:sp>
      <p:pic>
        <p:nvPicPr>
          <p:cNvPr id="26" name="Picture 25" descr="Screenshot of the Pathik website: pathik / home"/>
          <p:cNvPicPr>
            <a:picLocks noChangeAspect="1"/>
          </p:cNvPicPr>
          <p:nvPr/>
        </p:nvPicPr>
        <p:blipFill>
          <a:blip r:embed="rId2"/>
          <a:stretch>
            <a:fillRect/>
          </a:stretch>
        </p:blipFill>
        <p:spPr>
          <a:xfrm>
            <a:off x="7086600" y="3621024"/>
            <a:ext cx="2926079" cy="1828800"/>
          </a:xfrm>
          <a:prstGeom prst="rect">
            <a:avLst/>
          </a:prstGeom>
        </p:spPr>
      </p:pic>
      <p:pic>
        <p:nvPicPr>
          <p:cNvPr id="27" name="Picture 26" descr="git-branch-w.png"/>
          <p:cNvPicPr>
            <a:picLocks noChangeAspect="1"/>
          </p:cNvPicPr>
          <p:nvPr/>
        </p:nvPicPr>
        <p:blipFill>
          <a:blip r:embed="rId3"/>
          <a:stretch>
            <a:fillRect/>
          </a:stretch>
        </p:blipFill>
        <p:spPr>
          <a:xfrm>
            <a:off x="7040880" y="5733288"/>
            <a:ext cx="274320" cy="274320"/>
          </a:xfrm>
          <a:prstGeom prst="rect">
            <a:avLst/>
          </a:prstGeom>
        </p:spPr>
      </p:pic>
      <p:sp>
        <p:nvSpPr>
          <p:cNvPr id="28" name="TextBox 27"/>
          <p:cNvSpPr txBox="1"/>
          <p:nvPr/>
        </p:nvSpPr>
        <p:spPr>
          <a:xfrm>
            <a:off x="7406640" y="5715000"/>
            <a:ext cx="4114800" cy="320040"/>
          </a:xfrm>
          <a:prstGeom prst="rect">
            <a:avLst/>
          </a:prstGeom>
          <a:noFill/>
        </p:spPr>
        <p:txBody>
          <a:bodyPr wrap="square" lIns="0" rIns="0" tIns="0" bIns="0" anchor="ctr">
            <a:noAutofit/>
          </a:bodyPr>
          <a:lstStyle/>
          <a:p>
            <a:pPr algn="l">
              <a:spcAft>
                <a:spcPts val="400"/>
              </a:spcAft>
            </a:pPr>
            <a:r>
              <a:rPr sz="1150" b="0" i="0">
                <a:solidFill>
                  <a:srgbClr val="B9A8E6"/>
                </a:solidFill>
                <a:latin typeface="Calibri"/>
              </a:rPr>
              <a:t>github.com/Hanu2908/intership_project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213</Words>
  <Application>Microsoft Office PowerPoint</Application>
  <PresentationFormat>Widescreen</PresentationFormat>
  <Paragraphs>59</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Times New Roman</vt:lpstr>
      <vt:lpstr>Office Theme</vt:lpstr>
      <vt:lpstr>  Swami Keshvanand Institute of Technology, Management &amp; Gramothan, Jaipur “An Autonomous Institute Affiliated to Rajasthan Technical University, Kota”  Department of Information Technology  Industrial Training Presentation On  &lt;Project Name&gt;     Submitted To:                                                                           Submitted By: Ms Shalini Singhal                                                                            Student name              Assistant Professor IT                                                                       University Roll. No.                                              Session 2026-27 </vt:lpstr>
      <vt:lpstr>Outline</vt:lpstr>
      <vt:lpstr>Training Objectives </vt:lpstr>
      <vt:lpstr>Technologies Used </vt:lpstr>
      <vt:lpstr> Project Overview </vt:lpstr>
      <vt:lpstr>Screenshots</vt:lpstr>
      <vt:lpstr> Learning Outcomes </vt:lpstr>
      <vt:lpstr> Future Scope &amp; 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Srawan Nath</dc:creator>
  <cp:lastModifiedBy>Anirudh</cp:lastModifiedBy>
  <cp:revision>7</cp:revision>
  <dcterms:created xsi:type="dcterms:W3CDTF">2026-07-18T08:54:45Z</dcterms:created>
  <dcterms:modified xsi:type="dcterms:W3CDTF">2026-09-28T09:12:16Z</dcterms:modified>
</cp:coreProperties>
</file>