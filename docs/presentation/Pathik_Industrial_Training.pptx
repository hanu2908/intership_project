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8"/>
    <p:sldId id="258" r:id="rId9"/>
    <p:sldId id="259" r:id="rId10"/>
    <p:sldId id="260" r:id="rId7"/>
    <p:sldId id="261" r:id="rId6"/>
    <p:sldId id="262" r:id="rId5"/>
    <p:sldId id="263" r:id="rId4"/>
    <p:sldId id="264" r:id="rId3"/>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58"/>
  </p:normalViewPr>
  <p:slideViewPr>
    <p:cSldViewPr snapToGrid="0">
      <p:cViewPr varScale="1">
        <p:scale>
          <a:sx n="65" d="100"/>
          <a:sy n="65" d="100"/>
        </p:scale>
        <p:origin x="9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090B0-ABFE-D74D-BAEB-E84F01A1A659}"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DF5ED-D16E-4C47-9782-89283B7A98F0}" type="slidenum">
              <a:rPr lang="en-US" smtClean="0"/>
              <a:t>‹#›</a:t>
            </a:fld>
            <a:endParaRPr lang="en-US"/>
          </a:p>
        </p:txBody>
      </p:sp>
    </p:spTree>
    <p:extLst>
      <p:ext uri="{BB962C8B-B14F-4D97-AF65-F5344CB8AC3E}">
        <p14:creationId xmlns:p14="http://schemas.microsoft.com/office/powerpoint/2010/main" val="248157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7C08E-BB1C-E98B-58DA-10F649A399B5}"/>
              </a:ext>
            </a:extLst>
          </p:cNvPr>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B46B4B65-360E-CC39-B312-9BCF914276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9A4CE1D-5019-1D4D-622B-FE5E0F64D8B9}"/>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19585C1C-7837-3F5A-8DBC-7E0245045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06B8AA-7E7A-1205-A07C-8E662491D1A8}"/>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87713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74BD-9F48-26DD-BA41-A68839248A9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9B3B9D-DF61-8F19-DAD1-78E284F12AD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9F90BD-676E-05B1-9204-C59923E2D429}"/>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03FFA56D-B99B-4656-441F-1B35CE3AE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F23972-E3FA-28EC-9024-BAE06408286A}"/>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465392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4D63-0CB1-1E54-323B-1F7A6BA968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4DB028-6792-0849-F702-6BB4EE5FEA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E1F349-2C76-FECB-3601-AB45079E5084}"/>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AA213913-B7EB-1C8F-02F0-2D026A2E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217C1-9A14-3F30-44FB-9E7559235103}"/>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11097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AFD69-CF19-B387-53BC-441834CDA04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98082B2-9157-08CA-19C3-CC464520A94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8EE840-61BF-FD81-22F3-39F857AF25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F99381-A8E3-C16E-414C-699E7FF8AC8A}"/>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49FD6E51-FCCC-6F9C-37DF-A29E508B5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FEAA18-4680-95E3-F8D7-64EAA225995C}"/>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3130175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01B16-86F2-34CC-7E87-D84129DC22D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25AE97A-B9B2-4E5D-4D57-676CADD7D3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0E94BAC-4A02-F6E6-8959-747FDD9DAEB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B881B52-6A00-0081-4CF0-0F9A3E15C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D0971A-4DCC-3CAF-51D5-1F6D84295D0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D462994-A070-C143-622E-A7B2ADA749C3}"/>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8" name="Footer Placeholder 7">
            <a:extLst>
              <a:ext uri="{FF2B5EF4-FFF2-40B4-BE49-F238E27FC236}">
                <a16:creationId xmlns:a16="http://schemas.microsoft.com/office/drawing/2014/main" id="{F67AACD3-7F8B-513E-50BC-110FC5BE3A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FE351F-787F-5296-9396-CCF532DB7630}"/>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215830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40BD-9E0E-7948-178C-37092019F35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06374A5-7D38-14BC-6506-2AA512CBD306}"/>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4" name="Footer Placeholder 3">
            <a:extLst>
              <a:ext uri="{FF2B5EF4-FFF2-40B4-BE49-F238E27FC236}">
                <a16:creationId xmlns:a16="http://schemas.microsoft.com/office/drawing/2014/main" id="{428BDA52-32D5-BB63-5FCB-5ADEE7CFB2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6F5501-BAF7-CFDD-3559-0D65A2BB11DF}"/>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359415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1E26E3-98BD-48D0-0D96-0C90801978FF}"/>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3" name="Footer Placeholder 2">
            <a:extLst>
              <a:ext uri="{FF2B5EF4-FFF2-40B4-BE49-F238E27FC236}">
                <a16:creationId xmlns:a16="http://schemas.microsoft.com/office/drawing/2014/main" id="{540CB820-9D4F-9B39-C095-6C6AD91445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333DD-7E18-2000-06A3-0C710EC00D8E}"/>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63104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6121-9684-EC74-74C8-DF968C7C150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D7388D-8B6E-1581-FEA2-2CC39A85FD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AC90433-4204-AA3C-5941-D6656C757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BA7D79-D87F-C005-AFCC-565293B6B84D}"/>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1C24AF55-233F-A07E-2C35-DEC4A5E775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5785D1-0981-2082-0676-028E0EA803E5}"/>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50389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DC72-551C-CDDD-590A-E1C0195860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C60B7E3-11BC-D92B-F799-2B233AFC6B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FD24B2-AE8C-B37C-735D-BAA026218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4FDEBB-C2C4-9170-16A7-F047256B8B86}"/>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6" name="Footer Placeholder 5">
            <a:extLst>
              <a:ext uri="{FF2B5EF4-FFF2-40B4-BE49-F238E27FC236}">
                <a16:creationId xmlns:a16="http://schemas.microsoft.com/office/drawing/2014/main" id="{9385FFA6-4AFD-CDD8-1826-E863295D7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04320-8F2A-CC62-54E2-E14A2152E475}"/>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61989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1319-0B46-0C82-B733-E53B2AEE183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1E1AC90-040F-990E-6945-7FCE278F97C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291A66-9E5B-E3BA-7752-824042F661BA}"/>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14941DF6-D1A5-9587-E51B-7D320F1E0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6B4D2-B68C-A251-3220-C38D050F3138}"/>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2931956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EFD2BA-B189-DE07-0D15-6B4132FAB1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63D561-9E4D-54BF-1BEE-622652B7E29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F8BBD7-996F-E401-AA5D-4E5A28A64587}"/>
              </a:ext>
            </a:extLst>
          </p:cNvPr>
          <p:cNvSpPr>
            <a:spLocks noGrp="1"/>
          </p:cNvSpPr>
          <p:nvPr>
            <p:ph type="dt" sz="half" idx="10"/>
          </p:nvPr>
        </p:nvSpPr>
        <p:spPr/>
        <p:txBody>
          <a:body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D6E907F4-0D7E-4210-D6F7-A22B1E333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BBA1B-C00F-C175-71B0-EF08B1B5ED04}"/>
              </a:ext>
            </a:extLst>
          </p:cNvPr>
          <p:cNvSpPr>
            <a:spLocks noGrp="1"/>
          </p:cNvSpPr>
          <p:nvPr>
            <p:ph type="sldNum" sz="quarter" idx="12"/>
          </p:nvPr>
        </p:nvSpPr>
        <p:spPr/>
        <p:txBody>
          <a:bodyPr/>
          <a:lstStyle/>
          <a:p>
            <a:fld id="{1C65AF07-03CB-AE45-B17A-7E8EBFBA9B32}" type="slidenum">
              <a:rPr lang="en-US" smtClean="0"/>
              <a:t>‹#›</a:t>
            </a:fld>
            <a:endParaRPr lang="en-US"/>
          </a:p>
        </p:txBody>
      </p:sp>
    </p:spTree>
    <p:extLst>
      <p:ext uri="{BB962C8B-B14F-4D97-AF65-F5344CB8AC3E}">
        <p14:creationId xmlns:p14="http://schemas.microsoft.com/office/powerpoint/2010/main" val="1126437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8C0509-518C-50C4-A5EA-C275DC6571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FB7FA5-84C5-D8C9-D3FB-078023D0F2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4556347-5A7A-ED5D-A29D-9728254F19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4B1D0C-DD3E-A740-AD8A-21212259D688}" type="datetimeFigureOut">
              <a:rPr lang="en-US" smtClean="0"/>
              <a:t>9/28/2026</a:t>
            </a:fld>
            <a:endParaRPr lang="en-US"/>
          </a:p>
        </p:txBody>
      </p:sp>
      <p:sp>
        <p:nvSpPr>
          <p:cNvPr id="5" name="Footer Placeholder 4">
            <a:extLst>
              <a:ext uri="{FF2B5EF4-FFF2-40B4-BE49-F238E27FC236}">
                <a16:creationId xmlns:a16="http://schemas.microsoft.com/office/drawing/2014/main" id="{F498B588-BC48-FDEA-320B-2243CEB9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7E5F08-76DC-F377-052E-D3EE3A4B5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65AF07-03CB-AE45-B17A-7E8EBFBA9B32}" type="slidenum">
              <a:rPr lang="en-US" smtClean="0"/>
              <a:t>‹#›</a:t>
            </a:fld>
            <a:endParaRPr lang="en-US"/>
          </a:p>
        </p:txBody>
      </p:sp>
      <p:pic>
        <p:nvPicPr>
          <p:cNvPr id="8" name="Picture 7">
            <a:extLst>
              <a:ext uri="{FF2B5EF4-FFF2-40B4-BE49-F238E27FC236}">
                <a16:creationId xmlns:a16="http://schemas.microsoft.com/office/drawing/2014/main" id="{68EDCD05-15DF-6C89-92F0-FCF2F9A622A2}"/>
              </a:ext>
            </a:extLst>
          </p:cNvPr>
          <p:cNvPicPr>
            <a:picLocks noChangeAspect="1"/>
          </p:cNvPicPr>
          <p:nvPr userDrawn="1"/>
        </p:nvPicPr>
        <p:blipFill>
          <a:blip r:embed="rId13"/>
          <a:stretch>
            <a:fillRect/>
          </a:stretch>
        </p:blipFill>
        <p:spPr>
          <a:xfrm>
            <a:off x="9982200" y="407988"/>
            <a:ext cx="1270000" cy="1122638"/>
          </a:xfrm>
          <a:prstGeom prst="rect">
            <a:avLst/>
          </a:prstGeom>
        </p:spPr>
      </p:pic>
    </p:spTree>
    <p:extLst>
      <p:ext uri="{BB962C8B-B14F-4D97-AF65-F5344CB8AC3E}">
        <p14:creationId xmlns:p14="http://schemas.microsoft.com/office/powerpoint/2010/main" val="3491647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image" Target="../media/image16.png"/><Relationship Id="rId8"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jpg"/><Relationship Id="rId3"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jpg"/><Relationship Id="rId3" Type="http://schemas.openxmlformats.org/officeDocument/2006/relationships/image" Target="../media/image36.jp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jpg"/><Relationship Id="rId3" Type="http://schemas.openxmlformats.org/officeDocument/2006/relationships/image" Target="../media/image41.jpg"/><Relationship Id="rId4" Type="http://schemas.openxmlformats.org/officeDocument/2006/relationships/image" Target="../media/image4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jpg"/><Relationship Id="rId3" Type="http://schemas.openxmlformats.org/officeDocument/2006/relationships/image" Target="../media/image45.jpg"/><Relationship Id="rId4" Type="http://schemas.openxmlformats.org/officeDocument/2006/relationships/image" Target="../media/image46.png"/><Relationship Id="rId5" Type="http://schemas.openxmlformats.org/officeDocument/2006/relationships/image" Target="../media/image38.png"/><Relationship Id="rId6" Type="http://schemas.openxmlformats.org/officeDocument/2006/relationships/image" Target="../media/image47.png"/><Relationship Id="rId7"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jpg"/><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image" Target="../media/image52.jpg"/><Relationship Id="rId6"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png"/><Relationship Id="rId5" Type="http://schemas.openxmlformats.org/officeDocument/2006/relationships/image" Target="../media/image14.png"/><Relationship Id="rId6" Type="http://schemas.openxmlformats.org/officeDocument/2006/relationships/image" Target="../media/image57.png"/><Relationship Id="rId7"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57.png"/><Relationship Id="rId4" Type="http://schemas.openxmlformats.org/officeDocument/2006/relationships/image" Target="../media/image65.png"/><Relationship Id="rId5" Type="http://schemas.openxmlformats.org/officeDocument/2006/relationships/image" Target="../media/image8.png"/><Relationship Id="rId6" Type="http://schemas.openxmlformats.org/officeDocument/2006/relationships/image" Target="../media/image64.png"/><Relationship Id="rId7"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46.png"/><Relationship Id="rId4" Type="http://schemas.openxmlformats.org/officeDocument/2006/relationships/image" Target="../media/image66.png"/><Relationship Id="rId5" Type="http://schemas.openxmlformats.org/officeDocument/2006/relationships/image" Target="../media/image39.png"/><Relationship Id="rId6" Type="http://schemas.openxmlformats.org/officeDocument/2006/relationships/image" Target="../media/image25.png"/><Relationship Id="rId7" Type="http://schemas.openxmlformats.org/officeDocument/2006/relationships/image" Target="../media/image6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6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6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CCF10-55B5-C771-BFE6-BD818D8AEAB1}"/>
              </a:ext>
            </a:extLst>
          </p:cNvPr>
          <p:cNvSpPr>
            <a:spLocks noGrp="1"/>
          </p:cNvSpPr>
          <p:nvPr>
            <p:ph type="ctrTitle"/>
          </p:nvPr>
        </p:nvSpPr>
        <p:spPr>
          <a:xfrm>
            <a:off x="318977" y="244548"/>
            <a:ext cx="11079125" cy="6379535"/>
          </a:xfrm>
        </p:spPr>
        <p:txBody>
          <a:bodyPr>
            <a:normAutofit fontScale="90000"/>
          </a:bodyPr>
          <a:lstStyle/>
          <a:p>
            <a:pPr marL="0" marR="0" lvl="0" indent="0" defTabSz="457200" rtl="0" eaLnBrk="1" fontAlgn="auto" latinLnBrk="0" hangingPunct="1">
              <a:lnSpc>
                <a:spcPct val="100000"/>
              </a:lnSpc>
              <a:spcBef>
                <a:spcPts val="0"/>
              </a:spcBef>
              <a:spcAft>
                <a:spcPts val="0"/>
              </a:spcAft>
              <a:tabLst/>
              <a:defRPr/>
            </a:pP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Swami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Keshvanand</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Institute of Technology, Management &amp; </a:t>
            </a:r>
            <a:r>
              <a:rPr kumimoji="0" lang="en-IN"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Gramothan</a:t>
            </a: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Jaipur</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Cambria" panose="02040503050406030204" pitchFamily="18" charset="0"/>
                <a:cs typeface="Times New Roman" panose="02020603050405020304" pitchFamily="18" charset="0"/>
              </a:rPr>
              <a:t>“An Autonomous Institute Affiliated to Rajasthan Technical University, Kota”</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Information Technology</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Calibri"/>
                <a:ea typeface="+mn-ea"/>
                <a:cs typeface="+mn-cs"/>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Industrial Training Presentation</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Pathik: A Trip Planner for India</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Submitted To:                                                                           Submitted By:</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Ms Shalini Singhal                                                                            Student name</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Assistant Professor IT                                                                       University Roll. No.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Session 2026-27</a:t>
            </a:r>
            <a:b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US" dirty="0"/>
          </a:p>
        </p:txBody>
      </p:sp>
    </p:spTree>
    <p:extLst>
      <p:ext uri="{BB962C8B-B14F-4D97-AF65-F5344CB8AC3E}">
        <p14:creationId xmlns:p14="http://schemas.microsoft.com/office/powerpoint/2010/main" val="680133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Outline</a:t>
            </a:r>
          </a:p>
        </p:txBody>
      </p:sp>
      <p:sp>
        <p:nvSpPr>
          <p:cNvPr id="3" name="TextBox 2"/>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4" name="TextBox 3"/>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a:t>
            </a:r>
          </a:p>
        </p:txBody>
      </p:sp>
      <p:sp>
        <p:nvSpPr>
          <p:cNvPr id="5" name="Oval 4"/>
          <p:cNvSpPr/>
          <p:nvPr/>
        </p:nvSpPr>
        <p:spPr>
          <a:xfrm>
            <a:off x="822960" y="164592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6" name="TextBox 5"/>
          <p:cNvSpPr txBox="1"/>
          <p:nvPr/>
        </p:nvSpPr>
        <p:spPr>
          <a:xfrm>
            <a:off x="1417320" y="167335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Company Profile</a:t>
            </a:r>
          </a:p>
        </p:txBody>
      </p:sp>
      <p:sp>
        <p:nvSpPr>
          <p:cNvPr id="7" name="Oval 6"/>
          <p:cNvSpPr/>
          <p:nvPr/>
        </p:nvSpPr>
        <p:spPr>
          <a:xfrm>
            <a:off x="822960" y="228600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8" name="TextBox 7"/>
          <p:cNvSpPr txBox="1"/>
          <p:nvPr/>
        </p:nvSpPr>
        <p:spPr>
          <a:xfrm>
            <a:off x="1417320" y="231343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About Training</a:t>
            </a:r>
          </a:p>
        </p:txBody>
      </p:sp>
      <p:sp>
        <p:nvSpPr>
          <p:cNvPr id="9" name="Oval 8"/>
          <p:cNvSpPr/>
          <p:nvPr/>
        </p:nvSpPr>
        <p:spPr>
          <a:xfrm>
            <a:off x="822960" y="292608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0" name="TextBox 9"/>
          <p:cNvSpPr txBox="1"/>
          <p:nvPr/>
        </p:nvSpPr>
        <p:spPr>
          <a:xfrm>
            <a:off x="1417320" y="295351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Problem Statement</a:t>
            </a:r>
          </a:p>
        </p:txBody>
      </p:sp>
      <p:sp>
        <p:nvSpPr>
          <p:cNvPr id="11" name="Oval 10"/>
          <p:cNvSpPr/>
          <p:nvPr/>
        </p:nvSpPr>
        <p:spPr>
          <a:xfrm>
            <a:off x="822960" y="3566159"/>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2" name="TextBox 11"/>
          <p:cNvSpPr txBox="1"/>
          <p:nvPr/>
        </p:nvSpPr>
        <p:spPr>
          <a:xfrm>
            <a:off x="1417320" y="3593591"/>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Stakeholders</a:t>
            </a:r>
          </a:p>
        </p:txBody>
      </p:sp>
      <p:sp>
        <p:nvSpPr>
          <p:cNvPr id="13" name="Oval 12"/>
          <p:cNvSpPr/>
          <p:nvPr/>
        </p:nvSpPr>
        <p:spPr>
          <a:xfrm>
            <a:off x="822960" y="420624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14" name="TextBox 13"/>
          <p:cNvSpPr txBox="1"/>
          <p:nvPr/>
        </p:nvSpPr>
        <p:spPr>
          <a:xfrm>
            <a:off x="1417320" y="423367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Project Overview</a:t>
            </a:r>
          </a:p>
        </p:txBody>
      </p:sp>
      <p:sp>
        <p:nvSpPr>
          <p:cNvPr id="15" name="Oval 14"/>
          <p:cNvSpPr/>
          <p:nvPr/>
        </p:nvSpPr>
        <p:spPr>
          <a:xfrm>
            <a:off x="822960" y="4846320"/>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16" name="TextBox 15"/>
          <p:cNvSpPr txBox="1"/>
          <p:nvPr/>
        </p:nvSpPr>
        <p:spPr>
          <a:xfrm>
            <a:off x="1417320" y="487375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Technologies Used</a:t>
            </a:r>
          </a:p>
        </p:txBody>
      </p:sp>
      <p:sp>
        <p:nvSpPr>
          <p:cNvPr id="17" name="Oval 16"/>
          <p:cNvSpPr/>
          <p:nvPr/>
        </p:nvSpPr>
        <p:spPr>
          <a:xfrm>
            <a:off x="822960" y="5486399"/>
            <a:ext cx="384048" cy="38404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7</a:t>
            </a:r>
          </a:p>
        </p:txBody>
      </p:sp>
      <p:sp>
        <p:nvSpPr>
          <p:cNvPr id="18" name="TextBox 17"/>
          <p:cNvSpPr txBox="1"/>
          <p:nvPr/>
        </p:nvSpPr>
        <p:spPr>
          <a:xfrm>
            <a:off x="1417320" y="5513831"/>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System Architecture</a:t>
            </a:r>
          </a:p>
        </p:txBody>
      </p:sp>
      <p:sp>
        <p:nvSpPr>
          <p:cNvPr id="19" name="Oval 18"/>
          <p:cNvSpPr/>
          <p:nvPr/>
        </p:nvSpPr>
        <p:spPr>
          <a:xfrm>
            <a:off x="6309360" y="1645920"/>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8</a:t>
            </a:r>
          </a:p>
        </p:txBody>
      </p:sp>
      <p:sp>
        <p:nvSpPr>
          <p:cNvPr id="20" name="TextBox 19"/>
          <p:cNvSpPr txBox="1"/>
          <p:nvPr/>
        </p:nvSpPr>
        <p:spPr>
          <a:xfrm>
            <a:off x="6903720" y="167335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User Workflow &amp; Modules</a:t>
            </a:r>
          </a:p>
        </p:txBody>
      </p:sp>
      <p:sp>
        <p:nvSpPr>
          <p:cNvPr id="21" name="Oval 20"/>
          <p:cNvSpPr/>
          <p:nvPr/>
        </p:nvSpPr>
        <p:spPr>
          <a:xfrm>
            <a:off x="6309360" y="2286000"/>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9</a:t>
            </a:r>
          </a:p>
        </p:txBody>
      </p:sp>
      <p:sp>
        <p:nvSpPr>
          <p:cNvPr id="22" name="TextBox 21"/>
          <p:cNvSpPr txBox="1"/>
          <p:nvPr/>
        </p:nvSpPr>
        <p:spPr>
          <a:xfrm>
            <a:off x="6903720" y="231343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Screenshots: Page Walkthrough</a:t>
            </a:r>
          </a:p>
        </p:txBody>
      </p:sp>
      <p:sp>
        <p:nvSpPr>
          <p:cNvPr id="23" name="Oval 22"/>
          <p:cNvSpPr/>
          <p:nvPr/>
        </p:nvSpPr>
        <p:spPr>
          <a:xfrm>
            <a:off x="6309360" y="2926080"/>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10</a:t>
            </a:r>
          </a:p>
        </p:txBody>
      </p:sp>
      <p:sp>
        <p:nvSpPr>
          <p:cNvPr id="24" name="TextBox 23"/>
          <p:cNvSpPr txBox="1"/>
          <p:nvPr/>
        </p:nvSpPr>
        <p:spPr>
          <a:xfrm>
            <a:off x="6903720" y="295351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Development Methodology</a:t>
            </a:r>
          </a:p>
        </p:txBody>
      </p:sp>
      <p:sp>
        <p:nvSpPr>
          <p:cNvPr id="25" name="Oval 24"/>
          <p:cNvSpPr/>
          <p:nvPr/>
        </p:nvSpPr>
        <p:spPr>
          <a:xfrm>
            <a:off x="6309360" y="3566159"/>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11</a:t>
            </a:r>
          </a:p>
        </p:txBody>
      </p:sp>
      <p:sp>
        <p:nvSpPr>
          <p:cNvPr id="26" name="TextBox 25"/>
          <p:cNvSpPr txBox="1"/>
          <p:nvPr/>
        </p:nvSpPr>
        <p:spPr>
          <a:xfrm>
            <a:off x="6903720" y="3593591"/>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Challenges Faced</a:t>
            </a:r>
          </a:p>
        </p:txBody>
      </p:sp>
      <p:sp>
        <p:nvSpPr>
          <p:cNvPr id="27" name="Oval 26"/>
          <p:cNvSpPr/>
          <p:nvPr/>
        </p:nvSpPr>
        <p:spPr>
          <a:xfrm>
            <a:off x="6309360" y="4206240"/>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12</a:t>
            </a:r>
          </a:p>
        </p:txBody>
      </p:sp>
      <p:sp>
        <p:nvSpPr>
          <p:cNvPr id="28" name="TextBox 27"/>
          <p:cNvSpPr txBox="1"/>
          <p:nvPr/>
        </p:nvSpPr>
        <p:spPr>
          <a:xfrm>
            <a:off x="6903720" y="423367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Learning Outcomes</a:t>
            </a:r>
          </a:p>
        </p:txBody>
      </p:sp>
      <p:sp>
        <p:nvSpPr>
          <p:cNvPr id="29" name="Oval 28"/>
          <p:cNvSpPr/>
          <p:nvPr/>
        </p:nvSpPr>
        <p:spPr>
          <a:xfrm>
            <a:off x="6309360" y="4846320"/>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13</a:t>
            </a:r>
          </a:p>
        </p:txBody>
      </p:sp>
      <p:sp>
        <p:nvSpPr>
          <p:cNvPr id="30" name="TextBox 29"/>
          <p:cNvSpPr txBox="1"/>
          <p:nvPr/>
        </p:nvSpPr>
        <p:spPr>
          <a:xfrm>
            <a:off x="6903720" y="4873752"/>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Future Scope &amp; Conclusion</a:t>
            </a:r>
          </a:p>
        </p:txBody>
      </p:sp>
      <p:sp>
        <p:nvSpPr>
          <p:cNvPr id="31" name="Oval 30"/>
          <p:cNvSpPr/>
          <p:nvPr/>
        </p:nvSpPr>
        <p:spPr>
          <a:xfrm>
            <a:off x="6309360" y="5486399"/>
            <a:ext cx="384048" cy="38404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14</a:t>
            </a:r>
          </a:p>
        </p:txBody>
      </p:sp>
      <p:sp>
        <p:nvSpPr>
          <p:cNvPr id="32" name="TextBox 31"/>
          <p:cNvSpPr txBox="1"/>
          <p:nvPr/>
        </p:nvSpPr>
        <p:spPr>
          <a:xfrm>
            <a:off x="6903720" y="5513831"/>
            <a:ext cx="4572000" cy="365760"/>
          </a:xfrm>
          <a:prstGeom prst="rect">
            <a:avLst/>
          </a:prstGeom>
          <a:noFill/>
        </p:spPr>
        <p:txBody>
          <a:bodyPr wrap="square" lIns="0" rIns="0" tIns="0" bIns="0" anchor="ctr">
            <a:noAutofit/>
          </a:bodyPr>
          <a:lstStyle/>
          <a:p>
            <a:pPr algn="l">
              <a:spcAft>
                <a:spcPts val="400"/>
              </a:spcAft>
            </a:pPr>
            <a:r>
              <a:rPr sz="1800" b="0" i="0">
                <a:solidFill>
                  <a:srgbClr val="1C1638"/>
                </a:solidFill>
                <a:latin typeface="Calibri"/>
              </a:rPr>
              <a:t>Acknowledgement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Company Profile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ABOUT THE ORGANISATION</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3</a:t>
            </a:r>
          </a:p>
        </p:txBody>
      </p:sp>
      <p:sp>
        <p:nvSpPr>
          <p:cNvPr id="6" name="Rounded Rectangle 5"/>
          <p:cNvSpPr/>
          <p:nvPr/>
        </p:nvSpPr>
        <p:spPr>
          <a:xfrm>
            <a:off x="548640" y="1554480"/>
            <a:ext cx="6766560" cy="4572000"/>
          </a:xfrm>
          <a:prstGeom prst="roundRect">
            <a:avLst>
              <a:gd name="adj" fmla="val 3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1828800"/>
            <a:ext cx="731520" cy="7315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uilding-2-w.png"/>
          <p:cNvPicPr>
            <a:picLocks noChangeAspect="1"/>
          </p:cNvPicPr>
          <p:nvPr/>
        </p:nvPicPr>
        <p:blipFill>
          <a:blip r:embed="rId2"/>
          <a:stretch>
            <a:fillRect/>
          </a:stretch>
        </p:blipFill>
        <p:spPr>
          <a:xfrm>
            <a:off x="1051560" y="2011680"/>
            <a:ext cx="365760" cy="365760"/>
          </a:xfrm>
          <a:prstGeom prst="rect">
            <a:avLst/>
          </a:prstGeom>
        </p:spPr>
      </p:pic>
      <p:sp>
        <p:nvSpPr>
          <p:cNvPr id="9" name="TextBox 8"/>
          <p:cNvSpPr txBox="1"/>
          <p:nvPr/>
        </p:nvSpPr>
        <p:spPr>
          <a:xfrm>
            <a:off x="1783080" y="1847088"/>
            <a:ext cx="5303520" cy="457200"/>
          </a:xfrm>
          <a:prstGeom prst="rect">
            <a:avLst/>
          </a:prstGeom>
          <a:noFill/>
        </p:spPr>
        <p:txBody>
          <a:bodyPr wrap="square" lIns="0" rIns="0" tIns="0" bIns="0" anchor="t">
            <a:noAutofit/>
          </a:bodyPr>
          <a:lstStyle/>
          <a:p>
            <a:pPr algn="l">
              <a:spcAft>
                <a:spcPts val="400"/>
              </a:spcAft>
            </a:pPr>
            <a:r>
              <a:rPr sz="2400" b="1" i="0">
                <a:solidFill>
                  <a:srgbClr val="1C1638"/>
                </a:solidFill>
                <a:latin typeface="Cambria"/>
              </a:rPr>
              <a:t>[Company Name]</a:t>
            </a:r>
          </a:p>
        </p:txBody>
      </p:sp>
      <p:sp>
        <p:nvSpPr>
          <p:cNvPr id="10" name="TextBox 9"/>
          <p:cNvSpPr txBox="1"/>
          <p:nvPr/>
        </p:nvSpPr>
        <p:spPr>
          <a:xfrm>
            <a:off x="1783080" y="2304288"/>
            <a:ext cx="5303520" cy="320040"/>
          </a:xfrm>
          <a:prstGeom prst="rect">
            <a:avLst/>
          </a:prstGeom>
          <a:noFill/>
        </p:spPr>
        <p:txBody>
          <a:bodyPr wrap="square" lIns="0" rIns="0" tIns="0" bIns="0" anchor="t">
            <a:noAutofit/>
          </a:bodyPr>
          <a:lstStyle/>
          <a:p>
            <a:pPr algn="l">
              <a:spcAft>
                <a:spcPts val="400"/>
              </a:spcAft>
            </a:pPr>
            <a:r>
              <a:rPr sz="1300" b="0" i="1">
                <a:solidFill>
                  <a:srgbClr val="6D6585"/>
                </a:solidFill>
                <a:latin typeface="Calibri"/>
              </a:rPr>
              <a:t>[One line on what the company does]</a:t>
            </a:r>
          </a:p>
        </p:txBody>
      </p:sp>
      <p:sp>
        <p:nvSpPr>
          <p:cNvPr id="11" name="TextBox 10"/>
          <p:cNvSpPr txBox="1"/>
          <p:nvPr/>
        </p:nvSpPr>
        <p:spPr>
          <a:xfrm>
            <a:off x="868680" y="2926080"/>
            <a:ext cx="2011680" cy="365760"/>
          </a:xfrm>
          <a:prstGeom prst="rect">
            <a:avLst/>
          </a:prstGeom>
          <a:noFill/>
        </p:spPr>
        <p:txBody>
          <a:bodyPr wrap="square" lIns="0" rIns="0" tIns="0" bIns="0" anchor="t">
            <a:noAutofit/>
          </a:bodyPr>
          <a:lstStyle/>
          <a:p>
            <a:pPr algn="l">
              <a:spcAft>
                <a:spcPts val="400"/>
              </a:spcAft>
            </a:pPr>
            <a:r>
              <a:rPr sz="1400" b="1" i="0">
                <a:solidFill>
                  <a:srgbClr val="4A3A8F"/>
                </a:solidFill>
                <a:latin typeface="Calibri"/>
              </a:rPr>
              <a:t>Domain</a:t>
            </a:r>
          </a:p>
        </p:txBody>
      </p:sp>
      <p:sp>
        <p:nvSpPr>
          <p:cNvPr id="12" name="TextBox 11"/>
          <p:cNvSpPr txBox="1"/>
          <p:nvPr/>
        </p:nvSpPr>
        <p:spPr>
          <a:xfrm>
            <a:off x="2926080" y="2926080"/>
            <a:ext cx="4206240" cy="365760"/>
          </a:xfrm>
          <a:prstGeom prst="rect">
            <a:avLst/>
          </a:prstGeom>
          <a:noFill/>
        </p:spPr>
        <p:txBody>
          <a:bodyPr wrap="square" lIns="0" rIns="0" tIns="0" bIns="0" anchor="t">
            <a:noAutofit/>
          </a:bodyPr>
          <a:lstStyle/>
          <a:p>
            <a:pPr algn="l">
              <a:spcAft>
                <a:spcPts val="400"/>
              </a:spcAft>
            </a:pPr>
            <a:r>
              <a:rPr sz="1400" b="0" i="1">
                <a:solidFill>
                  <a:srgbClr val="2B2257"/>
                </a:solidFill>
                <a:latin typeface="Calibri"/>
              </a:rPr>
              <a:t>[e.g. IT services, web and app development]</a:t>
            </a:r>
          </a:p>
        </p:txBody>
      </p:sp>
      <p:cxnSp>
        <p:nvCxnSpPr>
          <p:cNvPr id="13" name="Connector 12"/>
          <p:cNvCxnSpPr/>
          <p:nvPr/>
        </p:nvCxnSpPr>
        <p:spPr>
          <a:xfrm>
            <a:off x="868680" y="3401568"/>
            <a:ext cx="6126480" cy="0"/>
          </a:xfrm>
          <a:prstGeom prst="line">
            <a:avLst/>
          </a:prstGeom>
          <a:ln w="9525">
            <a:solidFill>
              <a:srgbClr val="E2DC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8680" y="3529584"/>
            <a:ext cx="2011680" cy="365760"/>
          </a:xfrm>
          <a:prstGeom prst="rect">
            <a:avLst/>
          </a:prstGeom>
          <a:noFill/>
        </p:spPr>
        <p:txBody>
          <a:bodyPr wrap="square" lIns="0" rIns="0" tIns="0" bIns="0" anchor="t">
            <a:noAutofit/>
          </a:bodyPr>
          <a:lstStyle/>
          <a:p>
            <a:pPr algn="l">
              <a:spcAft>
                <a:spcPts val="400"/>
              </a:spcAft>
            </a:pPr>
            <a:r>
              <a:rPr sz="1400" b="1" i="0">
                <a:solidFill>
                  <a:srgbClr val="4A3A8F"/>
                </a:solidFill>
                <a:latin typeface="Calibri"/>
              </a:rPr>
              <a:t>Founded</a:t>
            </a:r>
          </a:p>
        </p:txBody>
      </p:sp>
      <p:sp>
        <p:nvSpPr>
          <p:cNvPr id="15" name="TextBox 14"/>
          <p:cNvSpPr txBox="1"/>
          <p:nvPr/>
        </p:nvSpPr>
        <p:spPr>
          <a:xfrm>
            <a:off x="2926080" y="3529584"/>
            <a:ext cx="4206240" cy="365760"/>
          </a:xfrm>
          <a:prstGeom prst="rect">
            <a:avLst/>
          </a:prstGeom>
          <a:noFill/>
        </p:spPr>
        <p:txBody>
          <a:bodyPr wrap="square" lIns="0" rIns="0" tIns="0" bIns="0" anchor="t">
            <a:noAutofit/>
          </a:bodyPr>
          <a:lstStyle/>
          <a:p>
            <a:pPr algn="l">
              <a:spcAft>
                <a:spcPts val="400"/>
              </a:spcAft>
            </a:pPr>
            <a:r>
              <a:rPr sz="1400" b="0" i="1">
                <a:solidFill>
                  <a:srgbClr val="2B2257"/>
                </a:solidFill>
                <a:latin typeface="Calibri"/>
              </a:rPr>
              <a:t>[Year]</a:t>
            </a:r>
          </a:p>
        </p:txBody>
      </p:sp>
      <p:cxnSp>
        <p:nvCxnSpPr>
          <p:cNvPr id="16" name="Connector 15"/>
          <p:cNvCxnSpPr/>
          <p:nvPr/>
        </p:nvCxnSpPr>
        <p:spPr>
          <a:xfrm>
            <a:off x="868680" y="4005072"/>
            <a:ext cx="6126480" cy="0"/>
          </a:xfrm>
          <a:prstGeom prst="line">
            <a:avLst/>
          </a:prstGeom>
          <a:ln w="9525">
            <a:solidFill>
              <a:srgbClr val="E2DC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8680" y="4133088"/>
            <a:ext cx="2011680" cy="365760"/>
          </a:xfrm>
          <a:prstGeom prst="rect">
            <a:avLst/>
          </a:prstGeom>
          <a:noFill/>
        </p:spPr>
        <p:txBody>
          <a:bodyPr wrap="square" lIns="0" rIns="0" tIns="0" bIns="0" anchor="t">
            <a:noAutofit/>
          </a:bodyPr>
          <a:lstStyle/>
          <a:p>
            <a:pPr algn="l">
              <a:spcAft>
                <a:spcPts val="400"/>
              </a:spcAft>
            </a:pPr>
            <a:r>
              <a:rPr sz="1400" b="1" i="0">
                <a:solidFill>
                  <a:srgbClr val="4A3A8F"/>
                </a:solidFill>
                <a:latin typeface="Calibri"/>
              </a:rPr>
              <a:t>Location</a:t>
            </a:r>
          </a:p>
        </p:txBody>
      </p:sp>
      <p:sp>
        <p:nvSpPr>
          <p:cNvPr id="18" name="TextBox 17"/>
          <p:cNvSpPr txBox="1"/>
          <p:nvPr/>
        </p:nvSpPr>
        <p:spPr>
          <a:xfrm>
            <a:off x="2926080" y="4133088"/>
            <a:ext cx="4206240" cy="365760"/>
          </a:xfrm>
          <a:prstGeom prst="rect">
            <a:avLst/>
          </a:prstGeom>
          <a:noFill/>
        </p:spPr>
        <p:txBody>
          <a:bodyPr wrap="square" lIns="0" rIns="0" tIns="0" bIns="0" anchor="t">
            <a:noAutofit/>
          </a:bodyPr>
          <a:lstStyle/>
          <a:p>
            <a:pPr algn="l">
              <a:spcAft>
                <a:spcPts val="400"/>
              </a:spcAft>
            </a:pPr>
            <a:r>
              <a:rPr sz="1400" b="0" i="1">
                <a:solidFill>
                  <a:srgbClr val="2B2257"/>
                </a:solidFill>
                <a:latin typeface="Calibri"/>
              </a:rPr>
              <a:t>[City, State]</a:t>
            </a:r>
          </a:p>
        </p:txBody>
      </p:sp>
      <p:cxnSp>
        <p:nvCxnSpPr>
          <p:cNvPr id="19" name="Connector 18"/>
          <p:cNvCxnSpPr/>
          <p:nvPr/>
        </p:nvCxnSpPr>
        <p:spPr>
          <a:xfrm>
            <a:off x="868680" y="4608576"/>
            <a:ext cx="6126480" cy="0"/>
          </a:xfrm>
          <a:prstGeom prst="line">
            <a:avLst/>
          </a:prstGeom>
          <a:ln w="9525">
            <a:solidFill>
              <a:srgbClr val="E2DC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68680" y="4736592"/>
            <a:ext cx="2011680" cy="365760"/>
          </a:xfrm>
          <a:prstGeom prst="rect">
            <a:avLst/>
          </a:prstGeom>
          <a:noFill/>
        </p:spPr>
        <p:txBody>
          <a:bodyPr wrap="square" lIns="0" rIns="0" tIns="0" bIns="0" anchor="t">
            <a:noAutofit/>
          </a:bodyPr>
          <a:lstStyle/>
          <a:p>
            <a:pPr algn="l">
              <a:spcAft>
                <a:spcPts val="400"/>
              </a:spcAft>
            </a:pPr>
            <a:r>
              <a:rPr sz="1400" b="1" i="0">
                <a:solidFill>
                  <a:srgbClr val="4A3A8F"/>
                </a:solidFill>
                <a:latin typeface="Calibri"/>
              </a:rPr>
              <a:t>Website</a:t>
            </a:r>
          </a:p>
        </p:txBody>
      </p:sp>
      <p:sp>
        <p:nvSpPr>
          <p:cNvPr id="21" name="TextBox 20"/>
          <p:cNvSpPr txBox="1"/>
          <p:nvPr/>
        </p:nvSpPr>
        <p:spPr>
          <a:xfrm>
            <a:off x="2926080" y="4736592"/>
            <a:ext cx="4206240" cy="365760"/>
          </a:xfrm>
          <a:prstGeom prst="rect">
            <a:avLst/>
          </a:prstGeom>
          <a:noFill/>
        </p:spPr>
        <p:txBody>
          <a:bodyPr wrap="square" lIns="0" rIns="0" tIns="0" bIns="0" anchor="t">
            <a:noAutofit/>
          </a:bodyPr>
          <a:lstStyle/>
          <a:p>
            <a:pPr algn="l">
              <a:spcAft>
                <a:spcPts val="400"/>
              </a:spcAft>
            </a:pPr>
            <a:r>
              <a:rPr sz="1400" b="0" i="1">
                <a:solidFill>
                  <a:srgbClr val="2B2257"/>
                </a:solidFill>
                <a:latin typeface="Calibri"/>
              </a:rPr>
              <a:t>[www.company.com]</a:t>
            </a:r>
          </a:p>
        </p:txBody>
      </p:sp>
      <p:cxnSp>
        <p:nvCxnSpPr>
          <p:cNvPr id="22" name="Connector 21"/>
          <p:cNvCxnSpPr/>
          <p:nvPr/>
        </p:nvCxnSpPr>
        <p:spPr>
          <a:xfrm>
            <a:off x="868680" y="5212079"/>
            <a:ext cx="6126480" cy="0"/>
          </a:xfrm>
          <a:prstGeom prst="line">
            <a:avLst/>
          </a:prstGeom>
          <a:ln w="9525">
            <a:solidFill>
              <a:srgbClr val="E2DC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68680" y="5340096"/>
            <a:ext cx="2011680" cy="365760"/>
          </a:xfrm>
          <a:prstGeom prst="rect">
            <a:avLst/>
          </a:prstGeom>
          <a:noFill/>
        </p:spPr>
        <p:txBody>
          <a:bodyPr wrap="square" lIns="0" rIns="0" tIns="0" bIns="0" anchor="t">
            <a:noAutofit/>
          </a:bodyPr>
          <a:lstStyle/>
          <a:p>
            <a:pPr algn="l">
              <a:spcAft>
                <a:spcPts val="400"/>
              </a:spcAft>
            </a:pPr>
            <a:r>
              <a:rPr sz="1400" b="1" i="0">
                <a:solidFill>
                  <a:srgbClr val="4A3A8F"/>
                </a:solidFill>
                <a:latin typeface="Calibri"/>
              </a:rPr>
              <a:t>Clients / products</a:t>
            </a:r>
          </a:p>
        </p:txBody>
      </p:sp>
      <p:sp>
        <p:nvSpPr>
          <p:cNvPr id="24" name="TextBox 23"/>
          <p:cNvSpPr txBox="1"/>
          <p:nvPr/>
        </p:nvSpPr>
        <p:spPr>
          <a:xfrm>
            <a:off x="2926080" y="5340096"/>
            <a:ext cx="4206240" cy="365760"/>
          </a:xfrm>
          <a:prstGeom prst="rect">
            <a:avLst/>
          </a:prstGeom>
          <a:noFill/>
        </p:spPr>
        <p:txBody>
          <a:bodyPr wrap="square" lIns="0" rIns="0" tIns="0" bIns="0" anchor="t">
            <a:noAutofit/>
          </a:bodyPr>
          <a:lstStyle/>
          <a:p>
            <a:pPr algn="l">
              <a:spcAft>
                <a:spcPts val="400"/>
              </a:spcAft>
            </a:pPr>
            <a:r>
              <a:rPr sz="1400" b="0" i="1">
                <a:solidFill>
                  <a:srgbClr val="2B2257"/>
                </a:solidFill>
                <a:latin typeface="Calibri"/>
              </a:rPr>
              <a:t>[Two or three examples]</a:t>
            </a:r>
          </a:p>
        </p:txBody>
      </p:sp>
      <p:sp>
        <p:nvSpPr>
          <p:cNvPr id="25" name="Rounded Rectangle 24"/>
          <p:cNvSpPr/>
          <p:nvPr/>
        </p:nvSpPr>
        <p:spPr>
          <a:xfrm>
            <a:off x="7635240" y="1554480"/>
            <a:ext cx="4023360" cy="2148840"/>
          </a:xfrm>
          <a:prstGeom prst="roundRect">
            <a:avLst>
              <a:gd name="adj" fmla="val 5106"/>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836408" y="1755648"/>
            <a:ext cx="438912" cy="43891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user-round-w.png"/>
          <p:cNvPicPr>
            <a:picLocks noChangeAspect="1"/>
          </p:cNvPicPr>
          <p:nvPr/>
        </p:nvPicPr>
        <p:blipFill>
          <a:blip r:embed="rId3"/>
          <a:stretch>
            <a:fillRect/>
          </a:stretch>
        </p:blipFill>
        <p:spPr>
          <a:xfrm>
            <a:off x="7946136" y="1865376"/>
            <a:ext cx="219456" cy="219456"/>
          </a:xfrm>
          <a:prstGeom prst="rect">
            <a:avLst/>
          </a:prstGeom>
        </p:spPr>
      </p:pic>
      <p:sp>
        <p:nvSpPr>
          <p:cNvPr id="28" name="TextBox 27"/>
          <p:cNvSpPr txBox="1"/>
          <p:nvPr/>
        </p:nvSpPr>
        <p:spPr>
          <a:xfrm>
            <a:off x="8421624" y="1737360"/>
            <a:ext cx="3054096"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My role</a:t>
            </a:r>
          </a:p>
        </p:txBody>
      </p:sp>
      <p:sp>
        <p:nvSpPr>
          <p:cNvPr id="29" name="TextBox 28"/>
          <p:cNvSpPr txBox="1"/>
          <p:nvPr/>
        </p:nvSpPr>
        <p:spPr>
          <a:xfrm>
            <a:off x="8421624" y="2066543"/>
            <a:ext cx="3054096" cy="1508760"/>
          </a:xfrm>
          <a:prstGeom prst="rect">
            <a:avLst/>
          </a:prstGeom>
          <a:noFill/>
        </p:spPr>
        <p:txBody>
          <a:bodyPr wrap="square" lIns="0" rIns="0" tIns="0" bIns="0" anchor="t">
            <a:noAutofit/>
          </a:bodyPr>
          <a:lstStyle/>
          <a:p>
            <a:pPr algn="l">
              <a:spcAft>
                <a:spcPts val="300"/>
              </a:spcAft>
            </a:pPr>
            <a:r>
              <a:rPr sz="1250" b="0" i="1">
                <a:solidFill>
                  <a:srgbClr val="2B2257"/>
                </a:solidFill>
                <a:latin typeface="Calibri"/>
              </a:rPr>
              <a:t>[Web Development Intern]</a:t>
            </a:r>
          </a:p>
          <a:p>
            <a:pPr algn="l">
              <a:spcAft>
                <a:spcPts val="300"/>
              </a:spcAft>
            </a:pPr>
            <a:r>
              <a:rPr sz="1250" b="0" i="1">
                <a:solidFill>
                  <a:srgbClr val="6D6585"/>
                </a:solidFill>
                <a:latin typeface="Calibri"/>
              </a:rPr>
              <a:t>Team: [team or department]</a:t>
            </a:r>
          </a:p>
        </p:txBody>
      </p:sp>
      <p:sp>
        <p:nvSpPr>
          <p:cNvPr id="30" name="Rounded Rectangle 29"/>
          <p:cNvSpPr/>
          <p:nvPr/>
        </p:nvSpPr>
        <p:spPr>
          <a:xfrm>
            <a:off x="7635240" y="3931920"/>
            <a:ext cx="4023360" cy="2194560"/>
          </a:xfrm>
          <a:prstGeom prst="roundRect">
            <a:avLst>
              <a:gd name="adj" fmla="val 5000"/>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836408" y="4133087"/>
            <a:ext cx="438912" cy="43891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graduation-cap-w.png"/>
          <p:cNvPicPr>
            <a:picLocks noChangeAspect="1"/>
          </p:cNvPicPr>
          <p:nvPr/>
        </p:nvPicPr>
        <p:blipFill>
          <a:blip r:embed="rId4"/>
          <a:stretch>
            <a:fillRect/>
          </a:stretch>
        </p:blipFill>
        <p:spPr>
          <a:xfrm>
            <a:off x="7946136" y="4242816"/>
            <a:ext cx="219456" cy="219456"/>
          </a:xfrm>
          <a:prstGeom prst="rect">
            <a:avLst/>
          </a:prstGeom>
        </p:spPr>
      </p:pic>
      <p:sp>
        <p:nvSpPr>
          <p:cNvPr id="33" name="TextBox 32"/>
          <p:cNvSpPr txBox="1"/>
          <p:nvPr/>
        </p:nvSpPr>
        <p:spPr>
          <a:xfrm>
            <a:off x="8421624" y="4114800"/>
            <a:ext cx="3054096"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Mentor</a:t>
            </a:r>
          </a:p>
        </p:txBody>
      </p:sp>
      <p:sp>
        <p:nvSpPr>
          <p:cNvPr id="34" name="TextBox 33"/>
          <p:cNvSpPr txBox="1"/>
          <p:nvPr/>
        </p:nvSpPr>
        <p:spPr>
          <a:xfrm>
            <a:off x="8421624" y="4443983"/>
            <a:ext cx="3054096" cy="1554480"/>
          </a:xfrm>
          <a:prstGeom prst="rect">
            <a:avLst/>
          </a:prstGeom>
          <a:noFill/>
        </p:spPr>
        <p:txBody>
          <a:bodyPr wrap="square" lIns="0" rIns="0" tIns="0" bIns="0" anchor="t">
            <a:noAutofit/>
          </a:bodyPr>
          <a:lstStyle/>
          <a:p>
            <a:pPr algn="l">
              <a:spcAft>
                <a:spcPts val="300"/>
              </a:spcAft>
            </a:pPr>
            <a:r>
              <a:rPr sz="1250" b="0" i="1">
                <a:solidFill>
                  <a:srgbClr val="2B2257"/>
                </a:solidFill>
                <a:latin typeface="Calibri"/>
              </a:rPr>
              <a:t>[Mentor name]</a:t>
            </a:r>
          </a:p>
          <a:p>
            <a:pPr algn="l">
              <a:spcAft>
                <a:spcPts val="300"/>
              </a:spcAft>
            </a:pPr>
            <a:r>
              <a:rPr sz="1250" b="0" i="1">
                <a:solidFill>
                  <a:srgbClr val="6D6585"/>
                </a:solidFill>
                <a:latin typeface="Calibri"/>
              </a:rPr>
              <a:t>[Designation]</a:t>
            </a:r>
          </a:p>
        </p:txBody>
      </p:sp>
      <p:sp>
        <p:nvSpPr>
          <p:cNvPr id="35" name="TextBox 34"/>
          <p:cNvSpPr txBox="1"/>
          <p:nvPr/>
        </p:nvSpPr>
        <p:spPr>
          <a:xfrm>
            <a:off x="548640" y="6199632"/>
            <a:ext cx="7315200" cy="228600"/>
          </a:xfrm>
          <a:prstGeom prst="rect">
            <a:avLst/>
          </a:prstGeom>
          <a:noFill/>
        </p:spPr>
        <p:txBody>
          <a:bodyPr wrap="square" lIns="0" rIns="0" tIns="0" bIns="0" anchor="t">
            <a:noAutofit/>
          </a:bodyPr>
          <a:lstStyle/>
          <a:p>
            <a:pPr algn="l">
              <a:spcAft>
                <a:spcPts val="400"/>
              </a:spcAft>
            </a:pPr>
            <a:r>
              <a:rPr sz="1000" b="0" i="1">
                <a:solidFill>
                  <a:srgbClr val="6D6585"/>
                </a:solidFill>
                <a:latin typeface="Calibri"/>
              </a:rPr>
              <a:t>Text in [brackets] is a placeholder to fill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About Training &amp; Objectives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THE TRAINING</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4</a:t>
            </a:r>
          </a:p>
        </p:txBody>
      </p:sp>
      <p:sp>
        <p:nvSpPr>
          <p:cNvPr id="6" name="Rounded Rectangle 5"/>
          <p:cNvSpPr/>
          <p:nvPr/>
        </p:nvSpPr>
        <p:spPr>
          <a:xfrm>
            <a:off x="548640" y="1554480"/>
            <a:ext cx="5120640" cy="4572000"/>
          </a:xfrm>
          <a:prstGeom prst="roundRect">
            <a:avLst>
              <a:gd name="adj" fmla="val 300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457200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Training details</a:t>
            </a:r>
          </a:p>
        </p:txBody>
      </p:sp>
      <p:pic>
        <p:nvPicPr>
          <p:cNvPr id="8" name="Picture 7" descr="calendar-days-v.png"/>
          <p:cNvPicPr>
            <a:picLocks noChangeAspect="1"/>
          </p:cNvPicPr>
          <p:nvPr/>
        </p:nvPicPr>
        <p:blipFill>
          <a:blip r:embed="rId2"/>
          <a:stretch>
            <a:fillRect/>
          </a:stretch>
        </p:blipFill>
        <p:spPr>
          <a:xfrm>
            <a:off x="868680" y="2304288"/>
            <a:ext cx="292608" cy="292608"/>
          </a:xfrm>
          <a:prstGeom prst="rect">
            <a:avLst/>
          </a:prstGeom>
        </p:spPr>
      </p:pic>
      <p:sp>
        <p:nvSpPr>
          <p:cNvPr id="9" name="TextBox 8"/>
          <p:cNvSpPr txBox="1"/>
          <p:nvPr/>
        </p:nvSpPr>
        <p:spPr>
          <a:xfrm>
            <a:off x="1325880" y="2286000"/>
            <a:ext cx="1097280" cy="365760"/>
          </a:xfrm>
          <a:prstGeom prst="rect">
            <a:avLst/>
          </a:prstGeom>
          <a:noFill/>
        </p:spPr>
        <p:txBody>
          <a:bodyPr wrap="square" lIns="0" rIns="0" tIns="0" bIns="0" anchor="t">
            <a:noAutofit/>
          </a:bodyPr>
          <a:lstStyle/>
          <a:p>
            <a:pPr algn="l">
              <a:spcAft>
                <a:spcPts val="400"/>
              </a:spcAft>
            </a:pPr>
            <a:r>
              <a:rPr sz="1300" b="1" i="0">
                <a:solidFill>
                  <a:srgbClr val="4A3A8F"/>
                </a:solidFill>
                <a:latin typeface="Calibri"/>
              </a:rPr>
              <a:t>Duration</a:t>
            </a:r>
          </a:p>
        </p:txBody>
      </p:sp>
      <p:sp>
        <p:nvSpPr>
          <p:cNvPr id="10" name="TextBox 9"/>
          <p:cNvSpPr txBox="1"/>
          <p:nvPr/>
        </p:nvSpPr>
        <p:spPr>
          <a:xfrm>
            <a:off x="2377440" y="2286000"/>
            <a:ext cx="3108960" cy="365760"/>
          </a:xfrm>
          <a:prstGeom prst="rect">
            <a:avLst/>
          </a:prstGeom>
          <a:noFill/>
        </p:spPr>
        <p:txBody>
          <a:bodyPr wrap="square" lIns="0" rIns="0" tIns="0" bIns="0" anchor="t">
            <a:noAutofit/>
          </a:bodyPr>
          <a:lstStyle/>
          <a:p>
            <a:pPr algn="l">
              <a:spcAft>
                <a:spcPts val="400"/>
              </a:spcAft>
            </a:pPr>
            <a:r>
              <a:rPr sz="1300" b="0" i="1">
                <a:solidFill>
                  <a:srgbClr val="2B2257"/>
                </a:solidFill>
                <a:latin typeface="Calibri"/>
              </a:rPr>
              <a:t>[dd Mon 2026 to dd Mon 2026], [N] weeks</a:t>
            </a:r>
          </a:p>
        </p:txBody>
      </p:sp>
      <p:pic>
        <p:nvPicPr>
          <p:cNvPr id="11" name="Picture 10" descr="map-pin-v.png"/>
          <p:cNvPicPr>
            <a:picLocks noChangeAspect="1"/>
          </p:cNvPicPr>
          <p:nvPr/>
        </p:nvPicPr>
        <p:blipFill>
          <a:blip r:embed="rId3"/>
          <a:stretch>
            <a:fillRect/>
          </a:stretch>
        </p:blipFill>
        <p:spPr>
          <a:xfrm>
            <a:off x="868680" y="2871216"/>
            <a:ext cx="292608" cy="292608"/>
          </a:xfrm>
          <a:prstGeom prst="rect">
            <a:avLst/>
          </a:prstGeom>
        </p:spPr>
      </p:pic>
      <p:sp>
        <p:nvSpPr>
          <p:cNvPr id="12" name="TextBox 11"/>
          <p:cNvSpPr txBox="1"/>
          <p:nvPr/>
        </p:nvSpPr>
        <p:spPr>
          <a:xfrm>
            <a:off x="1325880" y="2852928"/>
            <a:ext cx="1097280" cy="365760"/>
          </a:xfrm>
          <a:prstGeom prst="rect">
            <a:avLst/>
          </a:prstGeom>
          <a:noFill/>
        </p:spPr>
        <p:txBody>
          <a:bodyPr wrap="square" lIns="0" rIns="0" tIns="0" bIns="0" anchor="t">
            <a:noAutofit/>
          </a:bodyPr>
          <a:lstStyle/>
          <a:p>
            <a:pPr algn="l">
              <a:spcAft>
                <a:spcPts val="400"/>
              </a:spcAft>
            </a:pPr>
            <a:r>
              <a:rPr sz="1300" b="1" i="0">
                <a:solidFill>
                  <a:srgbClr val="4A3A8F"/>
                </a:solidFill>
                <a:latin typeface="Calibri"/>
              </a:rPr>
              <a:t>Mode</a:t>
            </a:r>
          </a:p>
        </p:txBody>
      </p:sp>
      <p:sp>
        <p:nvSpPr>
          <p:cNvPr id="13" name="TextBox 12"/>
          <p:cNvSpPr txBox="1"/>
          <p:nvPr/>
        </p:nvSpPr>
        <p:spPr>
          <a:xfrm>
            <a:off x="2377440" y="2852928"/>
            <a:ext cx="3108960" cy="365760"/>
          </a:xfrm>
          <a:prstGeom prst="rect">
            <a:avLst/>
          </a:prstGeom>
          <a:noFill/>
        </p:spPr>
        <p:txBody>
          <a:bodyPr wrap="square" lIns="0" rIns="0" tIns="0" bIns="0" anchor="t">
            <a:noAutofit/>
          </a:bodyPr>
          <a:lstStyle/>
          <a:p>
            <a:pPr algn="l">
              <a:spcAft>
                <a:spcPts val="400"/>
              </a:spcAft>
            </a:pPr>
            <a:r>
              <a:rPr sz="1300" b="0" i="1">
                <a:solidFill>
                  <a:srgbClr val="2B2257"/>
                </a:solidFill>
                <a:latin typeface="Calibri"/>
              </a:rPr>
              <a:t>[Onsite / Remote / Hybrid]</a:t>
            </a:r>
          </a:p>
        </p:txBody>
      </p:sp>
      <p:pic>
        <p:nvPicPr>
          <p:cNvPr id="14" name="Picture 13" descr="clock-v.png"/>
          <p:cNvPicPr>
            <a:picLocks noChangeAspect="1"/>
          </p:cNvPicPr>
          <p:nvPr/>
        </p:nvPicPr>
        <p:blipFill>
          <a:blip r:embed="rId4"/>
          <a:stretch>
            <a:fillRect/>
          </a:stretch>
        </p:blipFill>
        <p:spPr>
          <a:xfrm>
            <a:off x="868680" y="3438144"/>
            <a:ext cx="292608" cy="292608"/>
          </a:xfrm>
          <a:prstGeom prst="rect">
            <a:avLst/>
          </a:prstGeom>
        </p:spPr>
      </p:pic>
      <p:sp>
        <p:nvSpPr>
          <p:cNvPr id="15" name="TextBox 14"/>
          <p:cNvSpPr txBox="1"/>
          <p:nvPr/>
        </p:nvSpPr>
        <p:spPr>
          <a:xfrm>
            <a:off x="1325880" y="3419856"/>
            <a:ext cx="1097280" cy="365760"/>
          </a:xfrm>
          <a:prstGeom prst="rect">
            <a:avLst/>
          </a:prstGeom>
          <a:noFill/>
        </p:spPr>
        <p:txBody>
          <a:bodyPr wrap="square" lIns="0" rIns="0" tIns="0" bIns="0" anchor="t">
            <a:noAutofit/>
          </a:bodyPr>
          <a:lstStyle/>
          <a:p>
            <a:pPr algn="l">
              <a:spcAft>
                <a:spcPts val="400"/>
              </a:spcAft>
            </a:pPr>
            <a:r>
              <a:rPr sz="1300" b="1" i="0">
                <a:solidFill>
                  <a:srgbClr val="4A3A8F"/>
                </a:solidFill>
                <a:latin typeface="Calibri"/>
              </a:rPr>
              <a:t>Hours</a:t>
            </a:r>
          </a:p>
        </p:txBody>
      </p:sp>
      <p:sp>
        <p:nvSpPr>
          <p:cNvPr id="16" name="TextBox 15"/>
          <p:cNvSpPr txBox="1"/>
          <p:nvPr/>
        </p:nvSpPr>
        <p:spPr>
          <a:xfrm>
            <a:off x="2377440" y="3419856"/>
            <a:ext cx="3108960" cy="365760"/>
          </a:xfrm>
          <a:prstGeom prst="rect">
            <a:avLst/>
          </a:prstGeom>
          <a:noFill/>
        </p:spPr>
        <p:txBody>
          <a:bodyPr wrap="square" lIns="0" rIns="0" tIns="0" bIns="0" anchor="t">
            <a:noAutofit/>
          </a:bodyPr>
          <a:lstStyle/>
          <a:p>
            <a:pPr algn="l">
              <a:spcAft>
                <a:spcPts val="400"/>
              </a:spcAft>
            </a:pPr>
            <a:r>
              <a:rPr sz="1300" b="0" i="1">
                <a:solidFill>
                  <a:srgbClr val="2B2257"/>
                </a:solidFill>
                <a:latin typeface="Calibri"/>
              </a:rPr>
              <a:t>[e.g. 6 hours a day, Mon to Fri]</a:t>
            </a:r>
          </a:p>
        </p:txBody>
      </p:sp>
      <p:sp>
        <p:nvSpPr>
          <p:cNvPr id="17" name="TextBox 16"/>
          <p:cNvSpPr txBox="1"/>
          <p:nvPr/>
        </p:nvSpPr>
        <p:spPr>
          <a:xfrm>
            <a:off x="868680" y="4069080"/>
            <a:ext cx="4572000" cy="32004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Topics covered</a:t>
            </a:r>
          </a:p>
        </p:txBody>
      </p:sp>
      <p:sp>
        <p:nvSpPr>
          <p:cNvPr id="18" name="Rounded Rectangle 17"/>
          <p:cNvSpPr/>
          <p:nvPr/>
        </p:nvSpPr>
        <p:spPr>
          <a:xfrm>
            <a:off x="868680" y="4480560"/>
            <a:ext cx="1891893"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4480560"/>
            <a:ext cx="1891893"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HTML5 and accessibility</a:t>
            </a:r>
          </a:p>
        </p:txBody>
      </p:sp>
      <p:sp>
        <p:nvSpPr>
          <p:cNvPr id="20" name="Rounded Rectangle 19"/>
          <p:cNvSpPr/>
          <p:nvPr/>
        </p:nvSpPr>
        <p:spPr>
          <a:xfrm>
            <a:off x="868680" y="4864608"/>
            <a:ext cx="2878531"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864608"/>
            <a:ext cx="2878531"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CSS grid, flexbox, responsive layout</a:t>
            </a:r>
          </a:p>
        </p:txBody>
      </p:sp>
      <p:sp>
        <p:nvSpPr>
          <p:cNvPr id="22" name="Rounded Rectangle 21"/>
          <p:cNvSpPr/>
          <p:nvPr/>
        </p:nvSpPr>
        <p:spPr>
          <a:xfrm>
            <a:off x="868680" y="5248656"/>
            <a:ext cx="2802636"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5248656"/>
            <a:ext cx="2802636"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JavaScript, DOM and browser storage</a:t>
            </a:r>
          </a:p>
        </p:txBody>
      </p:sp>
      <p:sp>
        <p:nvSpPr>
          <p:cNvPr id="24" name="Rounded Rectangle 23"/>
          <p:cNvSpPr/>
          <p:nvPr/>
        </p:nvSpPr>
        <p:spPr>
          <a:xfrm>
            <a:off x="868680" y="5632704"/>
            <a:ext cx="2043684"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5632704"/>
            <a:ext cx="2043684"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3D graphics with Three.js</a:t>
            </a:r>
          </a:p>
        </p:txBody>
      </p:sp>
      <p:sp>
        <p:nvSpPr>
          <p:cNvPr id="26" name="Rounded Rectangle 25"/>
          <p:cNvSpPr/>
          <p:nvPr/>
        </p:nvSpPr>
        <p:spPr>
          <a:xfrm>
            <a:off x="3003804" y="5632704"/>
            <a:ext cx="1436522"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003804" y="5632704"/>
            <a:ext cx="1436522"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Maps with Leaflet</a:t>
            </a:r>
          </a:p>
        </p:txBody>
      </p:sp>
      <p:sp>
        <p:nvSpPr>
          <p:cNvPr id="28" name="Rounded Rectangle 27"/>
          <p:cNvSpPr/>
          <p:nvPr/>
        </p:nvSpPr>
        <p:spPr>
          <a:xfrm>
            <a:off x="868680" y="6016752"/>
            <a:ext cx="1891893"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8680" y="6016752"/>
            <a:ext cx="1891893"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UX research and testing</a:t>
            </a:r>
          </a:p>
        </p:txBody>
      </p:sp>
      <p:sp>
        <p:nvSpPr>
          <p:cNvPr id="30" name="Rounded Rectangle 29"/>
          <p:cNvSpPr/>
          <p:nvPr/>
        </p:nvSpPr>
        <p:spPr>
          <a:xfrm>
            <a:off x="2852013" y="6016752"/>
            <a:ext cx="1208836" cy="292608"/>
          </a:xfrm>
          <a:prstGeom prst="roundRect">
            <a:avLst>
              <a:gd name="adj" fmla="val 5000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852013" y="6016752"/>
            <a:ext cx="1208836" cy="292608"/>
          </a:xfrm>
          <a:prstGeom prst="rect">
            <a:avLst/>
          </a:prstGeom>
          <a:noFill/>
        </p:spPr>
        <p:txBody>
          <a:bodyPr wrap="square" lIns="0" rIns="0" tIns="0" bIns="0" anchor="ctr">
            <a:noAutofit/>
          </a:bodyPr>
          <a:lstStyle/>
          <a:p>
            <a:pPr algn="ctr">
              <a:spcAft>
                <a:spcPts val="400"/>
              </a:spcAft>
            </a:pPr>
            <a:r>
              <a:rPr sz="1050" b="0" i="0">
                <a:solidFill>
                  <a:srgbClr val="2B2257"/>
                </a:solidFill>
                <a:latin typeface="Calibri"/>
              </a:rPr>
              <a:t>Git and GitHub</a:t>
            </a:r>
          </a:p>
        </p:txBody>
      </p:sp>
      <p:sp>
        <p:nvSpPr>
          <p:cNvPr id="32" name="TextBox 31"/>
          <p:cNvSpPr txBox="1"/>
          <p:nvPr/>
        </p:nvSpPr>
        <p:spPr>
          <a:xfrm>
            <a:off x="6035040" y="1572768"/>
            <a:ext cx="548640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Training objectives</a:t>
            </a:r>
          </a:p>
        </p:txBody>
      </p:sp>
      <p:sp>
        <p:nvSpPr>
          <p:cNvPr id="33" name="Rounded Rectangle 32"/>
          <p:cNvSpPr/>
          <p:nvPr/>
        </p:nvSpPr>
        <p:spPr>
          <a:xfrm>
            <a:off x="6035040" y="21031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17920" y="2286000"/>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uilding-2-w.png"/>
          <p:cNvPicPr>
            <a:picLocks noChangeAspect="1"/>
          </p:cNvPicPr>
          <p:nvPr/>
        </p:nvPicPr>
        <p:blipFill>
          <a:blip r:embed="rId5"/>
          <a:stretch>
            <a:fillRect/>
          </a:stretch>
        </p:blipFill>
        <p:spPr>
          <a:xfrm>
            <a:off x="6332220" y="2400300"/>
            <a:ext cx="228600" cy="228600"/>
          </a:xfrm>
          <a:prstGeom prst="rect">
            <a:avLst/>
          </a:prstGeom>
        </p:spPr>
      </p:pic>
      <p:sp>
        <p:nvSpPr>
          <p:cNvPr id="36" name="TextBox 35"/>
          <p:cNvSpPr txBox="1"/>
          <p:nvPr/>
        </p:nvSpPr>
        <p:spPr>
          <a:xfrm>
            <a:off x="6217920" y="28163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Understand industrial work culture</a:t>
            </a:r>
          </a:p>
        </p:txBody>
      </p:sp>
      <p:sp>
        <p:nvSpPr>
          <p:cNvPr id="37" name="Rounded Rectangle 36"/>
          <p:cNvSpPr/>
          <p:nvPr/>
        </p:nvSpPr>
        <p:spPr>
          <a:xfrm>
            <a:off x="8869680" y="21031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052559" y="2286000"/>
            <a:ext cx="457200" cy="4572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graduation-cap-w.png"/>
          <p:cNvPicPr>
            <a:picLocks noChangeAspect="1"/>
          </p:cNvPicPr>
          <p:nvPr/>
        </p:nvPicPr>
        <p:blipFill>
          <a:blip r:embed="rId6"/>
          <a:stretch>
            <a:fillRect/>
          </a:stretch>
        </p:blipFill>
        <p:spPr>
          <a:xfrm>
            <a:off x="9166859" y="2400300"/>
            <a:ext cx="228600" cy="228600"/>
          </a:xfrm>
          <a:prstGeom prst="rect">
            <a:avLst/>
          </a:prstGeom>
        </p:spPr>
      </p:pic>
      <p:sp>
        <p:nvSpPr>
          <p:cNvPr id="40" name="TextBox 39"/>
          <p:cNvSpPr txBox="1"/>
          <p:nvPr/>
        </p:nvSpPr>
        <p:spPr>
          <a:xfrm>
            <a:off x="9052559" y="28163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Enhance technical knowledge</a:t>
            </a:r>
          </a:p>
        </p:txBody>
      </p:sp>
      <p:sp>
        <p:nvSpPr>
          <p:cNvPr id="41" name="Rounded Rectangle 40"/>
          <p:cNvSpPr/>
          <p:nvPr/>
        </p:nvSpPr>
        <p:spPr>
          <a:xfrm>
            <a:off x="6035040" y="34747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6217920" y="3657600"/>
            <a:ext cx="457200" cy="457200"/>
          </a:xfrm>
          <a:prstGeom prst="ellipse">
            <a:avLst/>
          </a:prstGeom>
          <a:solidFill>
            <a:srgbClr val="6A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code-xml-w.png"/>
          <p:cNvPicPr>
            <a:picLocks noChangeAspect="1"/>
          </p:cNvPicPr>
          <p:nvPr/>
        </p:nvPicPr>
        <p:blipFill>
          <a:blip r:embed="rId7"/>
          <a:stretch>
            <a:fillRect/>
          </a:stretch>
        </p:blipFill>
        <p:spPr>
          <a:xfrm>
            <a:off x="6332220" y="3771900"/>
            <a:ext cx="228600" cy="228600"/>
          </a:xfrm>
          <a:prstGeom prst="rect">
            <a:avLst/>
          </a:prstGeom>
        </p:spPr>
      </p:pic>
      <p:sp>
        <p:nvSpPr>
          <p:cNvPr id="44" name="TextBox 43"/>
          <p:cNvSpPr txBox="1"/>
          <p:nvPr/>
        </p:nvSpPr>
        <p:spPr>
          <a:xfrm>
            <a:off x="6217920" y="41879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Develop practical programming skills</a:t>
            </a:r>
          </a:p>
        </p:txBody>
      </p:sp>
      <p:sp>
        <p:nvSpPr>
          <p:cNvPr id="45" name="Rounded Rectangle 44"/>
          <p:cNvSpPr/>
          <p:nvPr/>
        </p:nvSpPr>
        <p:spPr>
          <a:xfrm>
            <a:off x="8869680" y="34747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9052559" y="3657600"/>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message-circle-w.png"/>
          <p:cNvPicPr>
            <a:picLocks noChangeAspect="1"/>
          </p:cNvPicPr>
          <p:nvPr/>
        </p:nvPicPr>
        <p:blipFill>
          <a:blip r:embed="rId8"/>
          <a:stretch>
            <a:fillRect/>
          </a:stretch>
        </p:blipFill>
        <p:spPr>
          <a:xfrm>
            <a:off x="9166859" y="3771900"/>
            <a:ext cx="228600" cy="228600"/>
          </a:xfrm>
          <a:prstGeom prst="rect">
            <a:avLst/>
          </a:prstGeom>
        </p:spPr>
      </p:pic>
      <p:sp>
        <p:nvSpPr>
          <p:cNvPr id="48" name="TextBox 47"/>
          <p:cNvSpPr txBox="1"/>
          <p:nvPr/>
        </p:nvSpPr>
        <p:spPr>
          <a:xfrm>
            <a:off x="9052559" y="41879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Improve communication skills</a:t>
            </a:r>
          </a:p>
        </p:txBody>
      </p:sp>
      <p:sp>
        <p:nvSpPr>
          <p:cNvPr id="49" name="Rounded Rectangle 48"/>
          <p:cNvSpPr/>
          <p:nvPr/>
        </p:nvSpPr>
        <p:spPr>
          <a:xfrm>
            <a:off x="6035040" y="48463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6217920" y="5029200"/>
            <a:ext cx="457200" cy="4572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workflow-w.png"/>
          <p:cNvPicPr>
            <a:picLocks noChangeAspect="1"/>
          </p:cNvPicPr>
          <p:nvPr/>
        </p:nvPicPr>
        <p:blipFill>
          <a:blip r:embed="rId9"/>
          <a:stretch>
            <a:fillRect/>
          </a:stretch>
        </p:blipFill>
        <p:spPr>
          <a:xfrm>
            <a:off x="6332220" y="5143500"/>
            <a:ext cx="228600" cy="228600"/>
          </a:xfrm>
          <a:prstGeom prst="rect">
            <a:avLst/>
          </a:prstGeom>
        </p:spPr>
      </p:pic>
      <p:sp>
        <p:nvSpPr>
          <p:cNvPr id="52" name="TextBox 51"/>
          <p:cNvSpPr txBox="1"/>
          <p:nvPr/>
        </p:nvSpPr>
        <p:spPr>
          <a:xfrm>
            <a:off x="6217920" y="55595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Learn project management</a:t>
            </a:r>
          </a:p>
        </p:txBody>
      </p:sp>
      <p:sp>
        <p:nvSpPr>
          <p:cNvPr id="53" name="Rounded Rectangle 52"/>
          <p:cNvSpPr/>
          <p:nvPr/>
        </p:nvSpPr>
        <p:spPr>
          <a:xfrm>
            <a:off x="8869680" y="4846320"/>
            <a:ext cx="2697480" cy="1188720"/>
          </a:xfrm>
          <a:prstGeom prst="roundRect">
            <a:avLst>
              <a:gd name="adj" fmla="val 9230"/>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9052559" y="5029200"/>
            <a:ext cx="457200" cy="457200"/>
          </a:xfrm>
          <a:prstGeom prst="ellipse">
            <a:avLst/>
          </a:prstGeom>
          <a:solidFill>
            <a:srgbClr val="6A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handshake-w.png"/>
          <p:cNvPicPr>
            <a:picLocks noChangeAspect="1"/>
          </p:cNvPicPr>
          <p:nvPr/>
        </p:nvPicPr>
        <p:blipFill>
          <a:blip r:embed="rId10"/>
          <a:stretch>
            <a:fillRect/>
          </a:stretch>
        </p:blipFill>
        <p:spPr>
          <a:xfrm>
            <a:off x="9166859" y="5143500"/>
            <a:ext cx="228600" cy="228600"/>
          </a:xfrm>
          <a:prstGeom prst="rect">
            <a:avLst/>
          </a:prstGeom>
        </p:spPr>
      </p:pic>
      <p:sp>
        <p:nvSpPr>
          <p:cNvPr id="56" name="TextBox 55"/>
          <p:cNvSpPr txBox="1"/>
          <p:nvPr/>
        </p:nvSpPr>
        <p:spPr>
          <a:xfrm>
            <a:off x="9052559" y="5559552"/>
            <a:ext cx="2377440" cy="411480"/>
          </a:xfrm>
          <a:prstGeom prst="rect">
            <a:avLst/>
          </a:prstGeom>
          <a:noFill/>
        </p:spPr>
        <p:txBody>
          <a:bodyPr wrap="square" lIns="0" rIns="0" tIns="0" bIns="0" anchor="t">
            <a:noAutofit/>
          </a:bodyPr>
          <a:lstStyle/>
          <a:p>
            <a:pPr algn="l">
              <a:spcAft>
                <a:spcPts val="400"/>
              </a:spcAft>
            </a:pPr>
            <a:r>
              <a:rPr sz="1250" b="1" i="0">
                <a:solidFill>
                  <a:srgbClr val="1C1638"/>
                </a:solidFill>
                <a:latin typeface="Calibri"/>
              </a:rPr>
              <a:t>Experience teamwork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Trip planning is still a research project</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PROBLEM STATEMENT</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5</a:t>
            </a:r>
          </a:p>
        </p:txBody>
      </p:sp>
      <p:sp>
        <p:nvSpPr>
          <p:cNvPr id="6" name="Rounded Rectangle 5"/>
          <p:cNvSpPr/>
          <p:nvPr/>
        </p:nvSpPr>
        <p:spPr>
          <a:xfrm>
            <a:off x="548640" y="1600200"/>
            <a:ext cx="2514600" cy="2057400"/>
          </a:xfrm>
          <a:prstGeom prst="roundRect">
            <a:avLst>
              <a:gd name="adj" fmla="val 622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828800"/>
            <a:ext cx="2103120" cy="731520"/>
          </a:xfrm>
          <a:prstGeom prst="rect">
            <a:avLst/>
          </a:prstGeom>
          <a:noFill/>
        </p:spPr>
        <p:txBody>
          <a:bodyPr wrap="square" lIns="0" rIns="0" tIns="0" bIns="0" anchor="t">
            <a:noAutofit/>
          </a:bodyPr>
          <a:lstStyle/>
          <a:p>
            <a:pPr algn="l">
              <a:spcAft>
                <a:spcPts val="400"/>
              </a:spcAft>
            </a:pPr>
            <a:r>
              <a:rPr sz="3600" b="1" i="0">
                <a:solidFill>
                  <a:srgbClr val="FFC46B"/>
                </a:solidFill>
                <a:latin typeface="Cambria"/>
              </a:rPr>
              <a:t>141</a:t>
            </a:r>
          </a:p>
        </p:txBody>
      </p:sp>
      <p:sp>
        <p:nvSpPr>
          <p:cNvPr id="8" name="TextBox 7"/>
          <p:cNvSpPr txBox="1"/>
          <p:nvPr/>
        </p:nvSpPr>
        <p:spPr>
          <a:xfrm>
            <a:off x="777240" y="2560320"/>
            <a:ext cx="2103120" cy="68580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pages of travel content read before booking</a:t>
            </a:r>
          </a:p>
        </p:txBody>
      </p:sp>
      <p:sp>
        <p:nvSpPr>
          <p:cNvPr id="9" name="TextBox 8"/>
          <p:cNvSpPr txBox="1"/>
          <p:nvPr/>
        </p:nvSpPr>
        <p:spPr>
          <a:xfrm>
            <a:off x="777240" y="3246120"/>
            <a:ext cx="2103120" cy="274320"/>
          </a:xfrm>
          <a:prstGeom prst="rect">
            <a:avLst/>
          </a:prstGeom>
          <a:noFill/>
        </p:spPr>
        <p:txBody>
          <a:bodyPr wrap="square" lIns="0" rIns="0" tIns="0" bIns="0" anchor="t">
            <a:noAutofit/>
          </a:bodyPr>
          <a:lstStyle/>
          <a:p>
            <a:pPr algn="l">
              <a:spcAft>
                <a:spcPts val="400"/>
              </a:spcAft>
            </a:pPr>
            <a:r>
              <a:rPr sz="900" b="0" i="1">
                <a:solidFill>
                  <a:srgbClr val="B9A8E6"/>
                </a:solidFill>
                <a:latin typeface="Calibri"/>
              </a:rPr>
              <a:t>Expedia Group, Path to Purchase study</a:t>
            </a:r>
          </a:p>
        </p:txBody>
      </p:sp>
      <p:sp>
        <p:nvSpPr>
          <p:cNvPr id="10" name="Rounded Rectangle 9"/>
          <p:cNvSpPr/>
          <p:nvPr/>
        </p:nvSpPr>
        <p:spPr>
          <a:xfrm>
            <a:off x="3246120" y="1600200"/>
            <a:ext cx="2514600" cy="2057400"/>
          </a:xfrm>
          <a:prstGeom prst="roundRect">
            <a:avLst>
              <a:gd name="adj" fmla="val 622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74720" y="1828800"/>
            <a:ext cx="2103120" cy="731520"/>
          </a:xfrm>
          <a:prstGeom prst="rect">
            <a:avLst/>
          </a:prstGeom>
          <a:noFill/>
        </p:spPr>
        <p:txBody>
          <a:bodyPr wrap="square" lIns="0" rIns="0" tIns="0" bIns="0" anchor="t">
            <a:noAutofit/>
          </a:bodyPr>
          <a:lstStyle/>
          <a:p>
            <a:pPr algn="l">
              <a:spcAft>
                <a:spcPts val="400"/>
              </a:spcAft>
            </a:pPr>
            <a:r>
              <a:rPr sz="3600" b="1" i="0">
                <a:solidFill>
                  <a:srgbClr val="EF7D42"/>
                </a:solidFill>
                <a:latin typeface="Cambria"/>
              </a:rPr>
              <a:t>5 hours</a:t>
            </a:r>
          </a:p>
        </p:txBody>
      </p:sp>
      <p:sp>
        <p:nvSpPr>
          <p:cNvPr id="12" name="TextBox 11"/>
          <p:cNvSpPr txBox="1"/>
          <p:nvPr/>
        </p:nvSpPr>
        <p:spPr>
          <a:xfrm>
            <a:off x="3474720" y="2560320"/>
            <a:ext cx="2103120" cy="68580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spent reading that content (303 minutes)</a:t>
            </a:r>
          </a:p>
        </p:txBody>
      </p:sp>
      <p:sp>
        <p:nvSpPr>
          <p:cNvPr id="13" name="TextBox 12"/>
          <p:cNvSpPr txBox="1"/>
          <p:nvPr/>
        </p:nvSpPr>
        <p:spPr>
          <a:xfrm>
            <a:off x="3474720" y="3246120"/>
            <a:ext cx="2103120" cy="274320"/>
          </a:xfrm>
          <a:prstGeom prst="rect">
            <a:avLst/>
          </a:prstGeom>
          <a:noFill/>
        </p:spPr>
        <p:txBody>
          <a:bodyPr wrap="square" lIns="0" rIns="0" tIns="0" bIns="0" anchor="t">
            <a:noAutofit/>
          </a:bodyPr>
          <a:lstStyle/>
          <a:p>
            <a:pPr algn="l">
              <a:spcAft>
                <a:spcPts val="400"/>
              </a:spcAft>
            </a:pPr>
            <a:r>
              <a:rPr sz="900" b="0" i="1">
                <a:solidFill>
                  <a:srgbClr val="6D6585"/>
                </a:solidFill>
                <a:latin typeface="Calibri"/>
              </a:rPr>
              <a:t>Expedia Group</a:t>
            </a:r>
          </a:p>
        </p:txBody>
      </p:sp>
      <p:sp>
        <p:nvSpPr>
          <p:cNvPr id="14" name="Rounded Rectangle 13"/>
          <p:cNvSpPr/>
          <p:nvPr/>
        </p:nvSpPr>
        <p:spPr>
          <a:xfrm>
            <a:off x="548640" y="3840480"/>
            <a:ext cx="2514600" cy="2057400"/>
          </a:xfrm>
          <a:prstGeom prst="roundRect">
            <a:avLst>
              <a:gd name="adj" fmla="val 622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069080"/>
            <a:ext cx="2103120" cy="731520"/>
          </a:xfrm>
          <a:prstGeom prst="rect">
            <a:avLst/>
          </a:prstGeom>
          <a:noFill/>
        </p:spPr>
        <p:txBody>
          <a:bodyPr wrap="square" lIns="0" rIns="0" tIns="0" bIns="0" anchor="t">
            <a:noAutofit/>
          </a:bodyPr>
          <a:lstStyle/>
          <a:p>
            <a:pPr algn="l">
              <a:spcAft>
                <a:spcPts val="400"/>
              </a:spcAft>
            </a:pPr>
            <a:r>
              <a:rPr sz="3600" b="1" i="0">
                <a:solidFill>
                  <a:srgbClr val="EF7D42"/>
                </a:solidFill>
                <a:latin typeface="Cambria"/>
              </a:rPr>
              <a:t>44%</a:t>
            </a:r>
          </a:p>
        </p:txBody>
      </p:sp>
      <p:sp>
        <p:nvSpPr>
          <p:cNvPr id="16" name="TextBox 15"/>
          <p:cNvSpPr txBox="1"/>
          <p:nvPr/>
        </p:nvSpPr>
        <p:spPr>
          <a:xfrm>
            <a:off x="777240" y="4800600"/>
            <a:ext cx="2103120" cy="68580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of travellers worry most about overspending</a:t>
            </a:r>
          </a:p>
        </p:txBody>
      </p:sp>
      <p:sp>
        <p:nvSpPr>
          <p:cNvPr id="17" name="TextBox 16"/>
          <p:cNvSpPr txBox="1"/>
          <p:nvPr/>
        </p:nvSpPr>
        <p:spPr>
          <a:xfrm>
            <a:off x="777240" y="5486400"/>
            <a:ext cx="2103120" cy="274320"/>
          </a:xfrm>
          <a:prstGeom prst="rect">
            <a:avLst/>
          </a:prstGeom>
          <a:noFill/>
        </p:spPr>
        <p:txBody>
          <a:bodyPr wrap="square" lIns="0" rIns="0" tIns="0" bIns="0" anchor="t">
            <a:noAutofit/>
          </a:bodyPr>
          <a:lstStyle/>
          <a:p>
            <a:pPr algn="l">
              <a:spcAft>
                <a:spcPts val="400"/>
              </a:spcAft>
            </a:pPr>
            <a:r>
              <a:rPr sz="900" b="0" i="1">
                <a:solidFill>
                  <a:srgbClr val="6D6585"/>
                </a:solidFill>
                <a:latin typeface="Calibri"/>
              </a:rPr>
              <a:t>Go City survey, 2024</a:t>
            </a:r>
          </a:p>
        </p:txBody>
      </p:sp>
      <p:sp>
        <p:nvSpPr>
          <p:cNvPr id="18" name="Rounded Rectangle 17"/>
          <p:cNvSpPr/>
          <p:nvPr/>
        </p:nvSpPr>
        <p:spPr>
          <a:xfrm>
            <a:off x="3246120" y="3840480"/>
            <a:ext cx="2514600" cy="2057400"/>
          </a:xfrm>
          <a:prstGeom prst="roundRect">
            <a:avLst>
              <a:gd name="adj" fmla="val 622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74720" y="4069080"/>
            <a:ext cx="2103120" cy="731520"/>
          </a:xfrm>
          <a:prstGeom prst="rect">
            <a:avLst/>
          </a:prstGeom>
          <a:noFill/>
        </p:spPr>
        <p:txBody>
          <a:bodyPr wrap="square" lIns="0" rIns="0" tIns="0" bIns="0" anchor="t">
            <a:noAutofit/>
          </a:bodyPr>
          <a:lstStyle/>
          <a:p>
            <a:pPr algn="l">
              <a:spcAft>
                <a:spcPts val="400"/>
              </a:spcAft>
            </a:pPr>
            <a:r>
              <a:rPr sz="3600" b="1" i="0">
                <a:solidFill>
                  <a:srgbClr val="FFC46B"/>
                </a:solidFill>
                <a:latin typeface="Cambria"/>
              </a:rPr>
              <a:t>1 in 5</a:t>
            </a:r>
          </a:p>
        </p:txBody>
      </p:sp>
      <p:sp>
        <p:nvSpPr>
          <p:cNvPr id="20" name="TextBox 19"/>
          <p:cNvSpPr txBox="1"/>
          <p:nvPr/>
        </p:nvSpPr>
        <p:spPr>
          <a:xfrm>
            <a:off x="3474720" y="4800600"/>
            <a:ext cx="2103120" cy="68580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run into out-of-date information</a:t>
            </a:r>
          </a:p>
        </p:txBody>
      </p:sp>
      <p:sp>
        <p:nvSpPr>
          <p:cNvPr id="21" name="TextBox 20"/>
          <p:cNvSpPr txBox="1"/>
          <p:nvPr/>
        </p:nvSpPr>
        <p:spPr>
          <a:xfrm>
            <a:off x="3474720" y="5486400"/>
            <a:ext cx="2103120" cy="274320"/>
          </a:xfrm>
          <a:prstGeom prst="rect">
            <a:avLst/>
          </a:prstGeom>
          <a:noFill/>
        </p:spPr>
        <p:txBody>
          <a:bodyPr wrap="square" lIns="0" rIns="0" tIns="0" bIns="0" anchor="t">
            <a:noAutofit/>
          </a:bodyPr>
          <a:lstStyle/>
          <a:p>
            <a:pPr algn="l">
              <a:spcAft>
                <a:spcPts val="400"/>
              </a:spcAft>
            </a:pPr>
            <a:r>
              <a:rPr sz="900" b="0" i="1">
                <a:solidFill>
                  <a:srgbClr val="B9A8E6"/>
                </a:solidFill>
                <a:latin typeface="Calibri"/>
              </a:rPr>
              <a:t>TripAdvisor data</a:t>
            </a:r>
          </a:p>
        </p:txBody>
      </p:sp>
      <p:sp>
        <p:nvSpPr>
          <p:cNvPr id="22" name="TextBox 21"/>
          <p:cNvSpPr txBox="1"/>
          <p:nvPr/>
        </p:nvSpPr>
        <p:spPr>
          <a:xfrm>
            <a:off x="6172200" y="1572768"/>
            <a:ext cx="548640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Where travellers get stuck</a:t>
            </a:r>
          </a:p>
        </p:txBody>
      </p:sp>
      <p:sp>
        <p:nvSpPr>
          <p:cNvPr id="23" name="Oval 22"/>
          <p:cNvSpPr/>
          <p:nvPr/>
        </p:nvSpPr>
        <p:spPr>
          <a:xfrm>
            <a:off x="6172200" y="2057400"/>
            <a:ext cx="438912" cy="43891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arch-w.png"/>
          <p:cNvPicPr>
            <a:picLocks noChangeAspect="1"/>
          </p:cNvPicPr>
          <p:nvPr/>
        </p:nvPicPr>
        <p:blipFill>
          <a:blip r:embed="rId2"/>
          <a:stretch>
            <a:fillRect/>
          </a:stretch>
        </p:blipFill>
        <p:spPr>
          <a:xfrm>
            <a:off x="6281928" y="2167128"/>
            <a:ext cx="219456" cy="219456"/>
          </a:xfrm>
          <a:prstGeom prst="rect">
            <a:avLst/>
          </a:prstGeom>
        </p:spPr>
      </p:pic>
      <p:sp>
        <p:nvSpPr>
          <p:cNvPr id="25" name="TextBox 24"/>
          <p:cNvSpPr txBox="1"/>
          <p:nvPr/>
        </p:nvSpPr>
        <p:spPr>
          <a:xfrm>
            <a:off x="6766560" y="20391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Finding a place</a:t>
            </a:r>
          </a:p>
        </p:txBody>
      </p:sp>
      <p:sp>
        <p:nvSpPr>
          <p:cNvPr id="26" name="TextBox 25"/>
          <p:cNvSpPr txBox="1"/>
          <p:nvPr/>
        </p:nvSpPr>
        <p:spPr>
          <a:xfrm>
            <a:off x="6766560" y="2304288"/>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Inspiration is spread across Instagram, blogs and booking sites.</a:t>
            </a:r>
          </a:p>
        </p:txBody>
      </p:sp>
      <p:sp>
        <p:nvSpPr>
          <p:cNvPr id="27" name="Oval 26"/>
          <p:cNvSpPr/>
          <p:nvPr/>
        </p:nvSpPr>
        <p:spPr>
          <a:xfrm>
            <a:off x="6172200" y="2743200"/>
            <a:ext cx="438912" cy="43891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ook-open-w.png"/>
          <p:cNvPicPr>
            <a:picLocks noChangeAspect="1"/>
          </p:cNvPicPr>
          <p:nvPr/>
        </p:nvPicPr>
        <p:blipFill>
          <a:blip r:embed="rId3"/>
          <a:stretch>
            <a:fillRect/>
          </a:stretch>
        </p:blipFill>
        <p:spPr>
          <a:xfrm>
            <a:off x="6281928" y="2852928"/>
            <a:ext cx="219456" cy="219456"/>
          </a:xfrm>
          <a:prstGeom prst="rect">
            <a:avLst/>
          </a:prstGeom>
        </p:spPr>
      </p:pic>
      <p:sp>
        <p:nvSpPr>
          <p:cNvPr id="29" name="TextBox 28"/>
          <p:cNvSpPr txBox="1"/>
          <p:nvPr/>
        </p:nvSpPr>
        <p:spPr>
          <a:xfrm>
            <a:off x="6766560" y="27249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Knowing about it</a:t>
            </a:r>
          </a:p>
        </p:txBody>
      </p:sp>
      <p:sp>
        <p:nvSpPr>
          <p:cNvPr id="30" name="TextBox 29"/>
          <p:cNvSpPr txBox="1"/>
          <p:nvPr/>
        </p:nvSpPr>
        <p:spPr>
          <a:xfrm>
            <a:off x="6766560" y="2990088"/>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Season, routes, real costs and scams sit in old forum threads.</a:t>
            </a:r>
          </a:p>
        </p:txBody>
      </p:sp>
      <p:sp>
        <p:nvSpPr>
          <p:cNvPr id="31" name="Oval 30"/>
          <p:cNvSpPr/>
          <p:nvPr/>
        </p:nvSpPr>
        <p:spPr>
          <a:xfrm>
            <a:off x="6172200" y="3429000"/>
            <a:ext cx="438912" cy="43891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oute-w.png"/>
          <p:cNvPicPr>
            <a:picLocks noChangeAspect="1"/>
          </p:cNvPicPr>
          <p:nvPr/>
        </p:nvPicPr>
        <p:blipFill>
          <a:blip r:embed="rId4"/>
          <a:stretch>
            <a:fillRect/>
          </a:stretch>
        </p:blipFill>
        <p:spPr>
          <a:xfrm>
            <a:off x="6281928" y="3538728"/>
            <a:ext cx="219456" cy="219456"/>
          </a:xfrm>
          <a:prstGeom prst="rect">
            <a:avLst/>
          </a:prstGeom>
        </p:spPr>
      </p:pic>
      <p:sp>
        <p:nvSpPr>
          <p:cNvPr id="33" name="TextBox 32"/>
          <p:cNvSpPr txBox="1"/>
          <p:nvPr/>
        </p:nvSpPr>
        <p:spPr>
          <a:xfrm>
            <a:off x="6766560" y="34107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Making an itinerary</a:t>
            </a:r>
          </a:p>
        </p:txBody>
      </p:sp>
      <p:sp>
        <p:nvSpPr>
          <p:cNvPr id="34" name="TextBox 33"/>
          <p:cNvSpPr txBox="1"/>
          <p:nvPr/>
        </p:nvSpPr>
        <p:spPr>
          <a:xfrm>
            <a:off x="6766560" y="3675887"/>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Copied plans put stops 900 km apart or in the wrong season.</a:t>
            </a:r>
          </a:p>
        </p:txBody>
      </p:sp>
      <p:sp>
        <p:nvSpPr>
          <p:cNvPr id="35" name="Oval 34"/>
          <p:cNvSpPr/>
          <p:nvPr/>
        </p:nvSpPr>
        <p:spPr>
          <a:xfrm>
            <a:off x="6172200" y="4114800"/>
            <a:ext cx="438912" cy="43891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wallet-w.png"/>
          <p:cNvPicPr>
            <a:picLocks noChangeAspect="1"/>
          </p:cNvPicPr>
          <p:nvPr/>
        </p:nvPicPr>
        <p:blipFill>
          <a:blip r:embed="rId5"/>
          <a:stretch>
            <a:fillRect/>
          </a:stretch>
        </p:blipFill>
        <p:spPr>
          <a:xfrm>
            <a:off x="6281928" y="4224528"/>
            <a:ext cx="219456" cy="219456"/>
          </a:xfrm>
          <a:prstGeom prst="rect">
            <a:avLst/>
          </a:prstGeom>
        </p:spPr>
      </p:pic>
      <p:sp>
        <p:nvSpPr>
          <p:cNvPr id="37" name="TextBox 36"/>
          <p:cNvSpPr txBox="1"/>
          <p:nvPr/>
        </p:nvSpPr>
        <p:spPr>
          <a:xfrm>
            <a:off x="6766560" y="40965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Planning the budget</a:t>
            </a:r>
          </a:p>
        </p:txBody>
      </p:sp>
      <p:sp>
        <p:nvSpPr>
          <p:cNvPr id="38" name="TextBox 37"/>
          <p:cNvSpPr txBox="1"/>
          <p:nvPr/>
        </p:nvSpPr>
        <p:spPr>
          <a:xfrm>
            <a:off x="6766560" y="4361688"/>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Package prices hide transfers, tickets and GST.</a:t>
            </a:r>
          </a:p>
        </p:txBody>
      </p:sp>
      <p:sp>
        <p:nvSpPr>
          <p:cNvPr id="39" name="Oval 38"/>
          <p:cNvSpPr/>
          <p:nvPr/>
        </p:nvSpPr>
        <p:spPr>
          <a:xfrm>
            <a:off x="6172200" y="4800600"/>
            <a:ext cx="438912" cy="43891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message-circle-w.png"/>
          <p:cNvPicPr>
            <a:picLocks noChangeAspect="1"/>
          </p:cNvPicPr>
          <p:nvPr/>
        </p:nvPicPr>
        <p:blipFill>
          <a:blip r:embed="rId6"/>
          <a:stretch>
            <a:fillRect/>
          </a:stretch>
        </p:blipFill>
        <p:spPr>
          <a:xfrm>
            <a:off x="6281928" y="4910328"/>
            <a:ext cx="219456" cy="219456"/>
          </a:xfrm>
          <a:prstGeom prst="rect">
            <a:avLst/>
          </a:prstGeom>
        </p:spPr>
      </p:pic>
      <p:sp>
        <p:nvSpPr>
          <p:cNvPr id="41" name="TextBox 40"/>
          <p:cNvSpPr txBox="1"/>
          <p:nvPr/>
        </p:nvSpPr>
        <p:spPr>
          <a:xfrm>
            <a:off x="6766560" y="47823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Enquiring with agents</a:t>
            </a:r>
          </a:p>
        </p:txBody>
      </p:sp>
      <p:sp>
        <p:nvSpPr>
          <p:cNvPr id="42" name="TextBox 41"/>
          <p:cNvSpPr txBox="1"/>
          <p:nvPr/>
        </p:nvSpPr>
        <p:spPr>
          <a:xfrm>
            <a:off x="6766560" y="5047488"/>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The same trip retyped to five agents on WhatsApp.</a:t>
            </a:r>
          </a:p>
        </p:txBody>
      </p:sp>
      <p:sp>
        <p:nvSpPr>
          <p:cNvPr id="43" name="Oval 42"/>
          <p:cNvSpPr/>
          <p:nvPr/>
        </p:nvSpPr>
        <p:spPr>
          <a:xfrm>
            <a:off x="6172200" y="5486400"/>
            <a:ext cx="438912" cy="43891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ticket-w.png"/>
          <p:cNvPicPr>
            <a:picLocks noChangeAspect="1"/>
          </p:cNvPicPr>
          <p:nvPr/>
        </p:nvPicPr>
        <p:blipFill>
          <a:blip r:embed="rId7"/>
          <a:stretch>
            <a:fillRect/>
          </a:stretch>
        </p:blipFill>
        <p:spPr>
          <a:xfrm>
            <a:off x="6281928" y="5596128"/>
            <a:ext cx="219456" cy="219456"/>
          </a:xfrm>
          <a:prstGeom prst="rect">
            <a:avLst/>
          </a:prstGeom>
        </p:spPr>
      </p:pic>
      <p:sp>
        <p:nvSpPr>
          <p:cNvPr id="45" name="TextBox 44"/>
          <p:cNvSpPr txBox="1"/>
          <p:nvPr/>
        </p:nvSpPr>
        <p:spPr>
          <a:xfrm>
            <a:off x="6766560" y="5468112"/>
            <a:ext cx="493776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Booking</a:t>
            </a:r>
          </a:p>
        </p:txBody>
      </p:sp>
      <p:sp>
        <p:nvSpPr>
          <p:cNvPr id="46" name="TextBox 45"/>
          <p:cNvSpPr txBox="1"/>
          <p:nvPr/>
        </p:nvSpPr>
        <p:spPr>
          <a:xfrm>
            <a:off x="6766560" y="5733288"/>
            <a:ext cx="493776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Prices 'on request', vague inclusions, full payment upfront.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Who is affected</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STAKEHOLDERS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6</a:t>
            </a:r>
          </a:p>
        </p:txBody>
      </p:sp>
      <p:sp>
        <p:nvSpPr>
          <p:cNvPr id="6" name="Rounded Rectangle 5"/>
          <p:cNvSpPr/>
          <p:nvPr/>
        </p:nvSpPr>
        <p:spPr>
          <a:xfrm>
            <a:off x="548640" y="1554480"/>
            <a:ext cx="26517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49808" y="1755648"/>
            <a:ext cx="475488" cy="47548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round-w.png"/>
          <p:cNvPicPr>
            <a:picLocks noChangeAspect="1"/>
          </p:cNvPicPr>
          <p:nvPr/>
        </p:nvPicPr>
        <p:blipFill>
          <a:blip r:embed="rId2"/>
          <a:stretch>
            <a:fillRect/>
          </a:stretch>
        </p:blipFill>
        <p:spPr>
          <a:xfrm>
            <a:off x="868680" y="1874519"/>
            <a:ext cx="237744" cy="237744"/>
          </a:xfrm>
          <a:prstGeom prst="rect">
            <a:avLst/>
          </a:prstGeom>
        </p:spPr>
      </p:pic>
      <p:sp>
        <p:nvSpPr>
          <p:cNvPr id="9" name="TextBox 8"/>
          <p:cNvSpPr txBox="1"/>
          <p:nvPr/>
        </p:nvSpPr>
        <p:spPr>
          <a:xfrm>
            <a:off x="749808" y="2331720"/>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Independent traveller</a:t>
            </a:r>
          </a:p>
        </p:txBody>
      </p:sp>
      <p:sp>
        <p:nvSpPr>
          <p:cNvPr id="10" name="TextBox 9"/>
          <p:cNvSpPr txBox="1"/>
          <p:nvPr/>
        </p:nvSpPr>
        <p:spPr>
          <a:xfrm>
            <a:off x="749808" y="269748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Cheap, flexible trips</a:t>
            </a:r>
          </a:p>
        </p:txBody>
      </p:sp>
      <p:sp>
        <p:nvSpPr>
          <p:cNvPr id="11" name="TextBox 10"/>
          <p:cNvSpPr txBox="1"/>
          <p:nvPr/>
        </p:nvSpPr>
        <p:spPr>
          <a:xfrm>
            <a:off x="749808" y="315468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Hidden costs, too many tabs</a:t>
            </a:r>
          </a:p>
        </p:txBody>
      </p:sp>
      <p:sp>
        <p:nvSpPr>
          <p:cNvPr id="12" name="Rounded Rectangle 11"/>
          <p:cNvSpPr/>
          <p:nvPr/>
        </p:nvSpPr>
        <p:spPr>
          <a:xfrm>
            <a:off x="3355848" y="1554480"/>
            <a:ext cx="26517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57016" y="1755648"/>
            <a:ext cx="475488" cy="47548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w.png"/>
          <p:cNvPicPr>
            <a:picLocks noChangeAspect="1"/>
          </p:cNvPicPr>
          <p:nvPr/>
        </p:nvPicPr>
        <p:blipFill>
          <a:blip r:embed="rId3"/>
          <a:stretch>
            <a:fillRect/>
          </a:stretch>
        </p:blipFill>
        <p:spPr>
          <a:xfrm>
            <a:off x="3675888" y="1874519"/>
            <a:ext cx="237744" cy="237744"/>
          </a:xfrm>
          <a:prstGeom prst="rect">
            <a:avLst/>
          </a:prstGeom>
        </p:spPr>
      </p:pic>
      <p:sp>
        <p:nvSpPr>
          <p:cNvPr id="15" name="TextBox 14"/>
          <p:cNvSpPr txBox="1"/>
          <p:nvPr/>
        </p:nvSpPr>
        <p:spPr>
          <a:xfrm>
            <a:off x="3557016" y="2331720"/>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Family traveller</a:t>
            </a:r>
          </a:p>
        </p:txBody>
      </p:sp>
      <p:sp>
        <p:nvSpPr>
          <p:cNvPr id="16" name="TextBox 15"/>
          <p:cNvSpPr txBox="1"/>
          <p:nvPr/>
        </p:nvSpPr>
        <p:spPr>
          <a:xfrm>
            <a:off x="3557016" y="269748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Safe, fully arranged trips</a:t>
            </a:r>
          </a:p>
        </p:txBody>
      </p:sp>
      <p:sp>
        <p:nvSpPr>
          <p:cNvPr id="17" name="TextBox 16"/>
          <p:cNvSpPr txBox="1"/>
          <p:nvPr/>
        </p:nvSpPr>
        <p:spPr>
          <a:xfrm>
            <a:off x="3557016" y="315468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Unclear package inclusions</a:t>
            </a:r>
          </a:p>
        </p:txBody>
      </p:sp>
      <p:sp>
        <p:nvSpPr>
          <p:cNvPr id="18" name="Rounded Rectangle 17"/>
          <p:cNvSpPr/>
          <p:nvPr/>
        </p:nvSpPr>
        <p:spPr>
          <a:xfrm>
            <a:off x="6163055" y="1554480"/>
            <a:ext cx="26517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64223" y="1755648"/>
            <a:ext cx="475488" cy="47548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lobe-w.png"/>
          <p:cNvPicPr>
            <a:picLocks noChangeAspect="1"/>
          </p:cNvPicPr>
          <p:nvPr/>
        </p:nvPicPr>
        <p:blipFill>
          <a:blip r:embed="rId4"/>
          <a:stretch>
            <a:fillRect/>
          </a:stretch>
        </p:blipFill>
        <p:spPr>
          <a:xfrm>
            <a:off x="6483095" y="1874519"/>
            <a:ext cx="237744" cy="237744"/>
          </a:xfrm>
          <a:prstGeom prst="rect">
            <a:avLst/>
          </a:prstGeom>
        </p:spPr>
      </p:pic>
      <p:sp>
        <p:nvSpPr>
          <p:cNvPr id="21" name="TextBox 20"/>
          <p:cNvSpPr txBox="1"/>
          <p:nvPr/>
        </p:nvSpPr>
        <p:spPr>
          <a:xfrm>
            <a:off x="6364223" y="2331720"/>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First-time visitor</a:t>
            </a:r>
          </a:p>
        </p:txBody>
      </p:sp>
      <p:sp>
        <p:nvSpPr>
          <p:cNvPr id="22" name="TextBox 21"/>
          <p:cNvSpPr txBox="1"/>
          <p:nvPr/>
        </p:nvSpPr>
        <p:spPr>
          <a:xfrm>
            <a:off x="6364223" y="269748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Trustworthy local help</a:t>
            </a:r>
          </a:p>
        </p:txBody>
      </p:sp>
      <p:sp>
        <p:nvSpPr>
          <p:cNvPr id="23" name="TextBox 22"/>
          <p:cNvSpPr txBox="1"/>
          <p:nvPr/>
        </p:nvSpPr>
        <p:spPr>
          <a:xfrm>
            <a:off x="6364223" y="315468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Scams, unregistered agents</a:t>
            </a:r>
          </a:p>
        </p:txBody>
      </p:sp>
      <p:sp>
        <p:nvSpPr>
          <p:cNvPr id="24" name="Rounded Rectangle 23"/>
          <p:cNvSpPr/>
          <p:nvPr/>
        </p:nvSpPr>
        <p:spPr>
          <a:xfrm>
            <a:off x="8970263" y="1554480"/>
            <a:ext cx="26517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171432" y="1755648"/>
            <a:ext cx="475488" cy="47548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iefcase-w.png"/>
          <p:cNvPicPr>
            <a:picLocks noChangeAspect="1"/>
          </p:cNvPicPr>
          <p:nvPr/>
        </p:nvPicPr>
        <p:blipFill>
          <a:blip r:embed="rId5"/>
          <a:stretch>
            <a:fillRect/>
          </a:stretch>
        </p:blipFill>
        <p:spPr>
          <a:xfrm>
            <a:off x="9290304" y="1874519"/>
            <a:ext cx="237744" cy="237744"/>
          </a:xfrm>
          <a:prstGeom prst="rect">
            <a:avLst/>
          </a:prstGeom>
        </p:spPr>
      </p:pic>
      <p:sp>
        <p:nvSpPr>
          <p:cNvPr id="27" name="TextBox 26"/>
          <p:cNvSpPr txBox="1"/>
          <p:nvPr/>
        </p:nvSpPr>
        <p:spPr>
          <a:xfrm>
            <a:off x="9171432" y="2331720"/>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Travel agent</a:t>
            </a:r>
          </a:p>
        </p:txBody>
      </p:sp>
      <p:sp>
        <p:nvSpPr>
          <p:cNvPr id="28" name="TextBox 27"/>
          <p:cNvSpPr txBox="1"/>
          <p:nvPr/>
        </p:nvSpPr>
        <p:spPr>
          <a:xfrm>
            <a:off x="9171432" y="269748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Leads with complete details</a:t>
            </a:r>
          </a:p>
        </p:txBody>
      </p:sp>
      <p:sp>
        <p:nvSpPr>
          <p:cNvPr id="29" name="TextBox 28"/>
          <p:cNvSpPr txBox="1"/>
          <p:nvPr/>
        </p:nvSpPr>
        <p:spPr>
          <a:xfrm>
            <a:off x="9171432" y="315468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Vague enquiries, lost leads</a:t>
            </a:r>
          </a:p>
        </p:txBody>
      </p:sp>
      <p:sp>
        <p:nvSpPr>
          <p:cNvPr id="30" name="Rounded Rectangle 29"/>
          <p:cNvSpPr/>
          <p:nvPr/>
        </p:nvSpPr>
        <p:spPr>
          <a:xfrm>
            <a:off x="548640" y="3931920"/>
            <a:ext cx="2651760" cy="2194560"/>
          </a:xfrm>
          <a:prstGeom prst="roundRect">
            <a:avLst>
              <a:gd name="adj" fmla="val 58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49808" y="4133087"/>
            <a:ext cx="475488" cy="47548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hotel-w.png"/>
          <p:cNvPicPr>
            <a:picLocks noChangeAspect="1"/>
          </p:cNvPicPr>
          <p:nvPr/>
        </p:nvPicPr>
        <p:blipFill>
          <a:blip r:embed="rId6"/>
          <a:stretch>
            <a:fillRect/>
          </a:stretch>
        </p:blipFill>
        <p:spPr>
          <a:xfrm>
            <a:off x="868680" y="4251959"/>
            <a:ext cx="237744" cy="237744"/>
          </a:xfrm>
          <a:prstGeom prst="rect">
            <a:avLst/>
          </a:prstGeom>
        </p:spPr>
      </p:pic>
      <p:sp>
        <p:nvSpPr>
          <p:cNvPr id="33" name="TextBox 32"/>
          <p:cNvSpPr txBox="1"/>
          <p:nvPr/>
        </p:nvSpPr>
        <p:spPr>
          <a:xfrm>
            <a:off x="749808" y="4709159"/>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Hotels and transport</a:t>
            </a:r>
          </a:p>
        </p:txBody>
      </p:sp>
      <p:sp>
        <p:nvSpPr>
          <p:cNvPr id="34" name="TextBox 33"/>
          <p:cNvSpPr txBox="1"/>
          <p:nvPr/>
        </p:nvSpPr>
        <p:spPr>
          <a:xfrm>
            <a:off x="749808" y="507492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Bookings across the season</a:t>
            </a:r>
          </a:p>
        </p:txBody>
      </p:sp>
      <p:sp>
        <p:nvSpPr>
          <p:cNvPr id="35" name="TextBox 34"/>
          <p:cNvSpPr txBox="1"/>
          <p:nvPr/>
        </p:nvSpPr>
        <p:spPr>
          <a:xfrm>
            <a:off x="749808" y="553212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Peak crowding, empty off-season</a:t>
            </a:r>
          </a:p>
        </p:txBody>
      </p:sp>
      <p:sp>
        <p:nvSpPr>
          <p:cNvPr id="36" name="Rounded Rectangle 35"/>
          <p:cNvSpPr/>
          <p:nvPr/>
        </p:nvSpPr>
        <p:spPr>
          <a:xfrm>
            <a:off x="3355848" y="3931920"/>
            <a:ext cx="2651760" cy="2194560"/>
          </a:xfrm>
          <a:prstGeom prst="roundRect">
            <a:avLst>
              <a:gd name="adj" fmla="val 58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557016" y="4133087"/>
            <a:ext cx="475488" cy="47548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heart-handshake-w.png"/>
          <p:cNvPicPr>
            <a:picLocks noChangeAspect="1"/>
          </p:cNvPicPr>
          <p:nvPr/>
        </p:nvPicPr>
        <p:blipFill>
          <a:blip r:embed="rId7"/>
          <a:stretch>
            <a:fillRect/>
          </a:stretch>
        </p:blipFill>
        <p:spPr>
          <a:xfrm>
            <a:off x="3675888" y="4251959"/>
            <a:ext cx="237744" cy="237744"/>
          </a:xfrm>
          <a:prstGeom prst="rect">
            <a:avLst/>
          </a:prstGeom>
        </p:spPr>
      </p:pic>
      <p:sp>
        <p:nvSpPr>
          <p:cNvPr id="39" name="TextBox 38"/>
          <p:cNvSpPr txBox="1"/>
          <p:nvPr/>
        </p:nvSpPr>
        <p:spPr>
          <a:xfrm>
            <a:off x="3557016" y="4709159"/>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Local guides</a:t>
            </a:r>
          </a:p>
        </p:txBody>
      </p:sp>
      <p:sp>
        <p:nvSpPr>
          <p:cNvPr id="40" name="TextBox 39"/>
          <p:cNvSpPr txBox="1"/>
          <p:nvPr/>
        </p:nvSpPr>
        <p:spPr>
          <a:xfrm>
            <a:off x="3557016" y="507492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Fair income from tourism</a:t>
            </a:r>
          </a:p>
        </p:txBody>
      </p:sp>
      <p:sp>
        <p:nvSpPr>
          <p:cNvPr id="41" name="TextBox 40"/>
          <p:cNvSpPr txBox="1"/>
          <p:nvPr/>
        </p:nvSpPr>
        <p:spPr>
          <a:xfrm>
            <a:off x="3557016" y="553212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Middlemen take the margin</a:t>
            </a:r>
          </a:p>
        </p:txBody>
      </p:sp>
      <p:sp>
        <p:nvSpPr>
          <p:cNvPr id="42" name="Rounded Rectangle 41"/>
          <p:cNvSpPr/>
          <p:nvPr/>
        </p:nvSpPr>
        <p:spPr>
          <a:xfrm>
            <a:off x="6163055" y="3931920"/>
            <a:ext cx="2651760" cy="2194560"/>
          </a:xfrm>
          <a:prstGeom prst="roundRect">
            <a:avLst>
              <a:gd name="adj" fmla="val 58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364223" y="4133087"/>
            <a:ext cx="475488" cy="475488"/>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andmark-w.png"/>
          <p:cNvPicPr>
            <a:picLocks noChangeAspect="1"/>
          </p:cNvPicPr>
          <p:nvPr/>
        </p:nvPicPr>
        <p:blipFill>
          <a:blip r:embed="rId8"/>
          <a:stretch>
            <a:fillRect/>
          </a:stretch>
        </p:blipFill>
        <p:spPr>
          <a:xfrm>
            <a:off x="6483095" y="4251959"/>
            <a:ext cx="237744" cy="237744"/>
          </a:xfrm>
          <a:prstGeom prst="rect">
            <a:avLst/>
          </a:prstGeom>
        </p:spPr>
      </p:pic>
      <p:sp>
        <p:nvSpPr>
          <p:cNvPr id="45" name="TextBox 44"/>
          <p:cNvSpPr txBox="1"/>
          <p:nvPr/>
        </p:nvSpPr>
        <p:spPr>
          <a:xfrm>
            <a:off x="6364223" y="4709159"/>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Tourism boards</a:t>
            </a:r>
          </a:p>
        </p:txBody>
      </p:sp>
      <p:sp>
        <p:nvSpPr>
          <p:cNvPr id="46" name="TextBox 45"/>
          <p:cNvSpPr txBox="1"/>
          <p:nvPr/>
        </p:nvSpPr>
        <p:spPr>
          <a:xfrm>
            <a:off x="6364223" y="507492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Visitors spread across regions</a:t>
            </a:r>
          </a:p>
        </p:txBody>
      </p:sp>
      <p:sp>
        <p:nvSpPr>
          <p:cNvPr id="47" name="TextBox 46"/>
          <p:cNvSpPr txBox="1"/>
          <p:nvPr/>
        </p:nvSpPr>
        <p:spPr>
          <a:xfrm>
            <a:off x="6364223" y="553212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Overcrowded icons, complaints</a:t>
            </a:r>
          </a:p>
        </p:txBody>
      </p:sp>
      <p:sp>
        <p:nvSpPr>
          <p:cNvPr id="48" name="Rounded Rectangle 47"/>
          <p:cNvSpPr/>
          <p:nvPr/>
        </p:nvSpPr>
        <p:spPr>
          <a:xfrm>
            <a:off x="8970263" y="3931920"/>
            <a:ext cx="2651760" cy="2194560"/>
          </a:xfrm>
          <a:prstGeom prst="roundRect">
            <a:avLst>
              <a:gd name="adj" fmla="val 583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9171432" y="4133087"/>
            <a:ext cx="475488" cy="475488"/>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code-xml-w.png"/>
          <p:cNvPicPr>
            <a:picLocks noChangeAspect="1"/>
          </p:cNvPicPr>
          <p:nvPr/>
        </p:nvPicPr>
        <p:blipFill>
          <a:blip r:embed="rId9"/>
          <a:stretch>
            <a:fillRect/>
          </a:stretch>
        </p:blipFill>
        <p:spPr>
          <a:xfrm>
            <a:off x="9290304" y="4251959"/>
            <a:ext cx="237744" cy="237744"/>
          </a:xfrm>
          <a:prstGeom prst="rect">
            <a:avLst/>
          </a:prstGeom>
        </p:spPr>
      </p:pic>
      <p:sp>
        <p:nvSpPr>
          <p:cNvPr id="51" name="TextBox 50"/>
          <p:cNvSpPr txBox="1"/>
          <p:nvPr/>
        </p:nvSpPr>
        <p:spPr>
          <a:xfrm>
            <a:off x="9171432" y="4709159"/>
            <a:ext cx="2286000" cy="32004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Project team</a:t>
            </a:r>
          </a:p>
        </p:txBody>
      </p:sp>
      <p:sp>
        <p:nvSpPr>
          <p:cNvPr id="52" name="TextBox 51"/>
          <p:cNvSpPr txBox="1"/>
          <p:nvPr/>
        </p:nvSpPr>
        <p:spPr>
          <a:xfrm>
            <a:off x="9171432" y="5074920"/>
            <a:ext cx="2286000" cy="457200"/>
          </a:xfrm>
          <a:prstGeom prst="rect">
            <a:avLst/>
          </a:prstGeom>
          <a:noFill/>
        </p:spPr>
        <p:txBody>
          <a:bodyPr wrap="square" lIns="0" rIns="0" tIns="0" bIns="0" anchor="t">
            <a:noAutofit/>
          </a:bodyPr>
          <a:lstStyle/>
          <a:p>
            <a:pPr algn="l">
              <a:spcAft>
                <a:spcPts val="400"/>
              </a:spcAft>
            </a:pPr>
            <a:r>
              <a:rPr sz="1100" b="1" i="0">
                <a:solidFill>
                  <a:srgbClr val="2F8A63"/>
                </a:solidFill>
                <a:latin typeface="Calibri"/>
              </a:rPr>
              <a:t>Wants  </a:t>
            </a:r>
            <a:r>
              <a:rPr sz="1100" b="0" i="0">
                <a:solidFill>
                  <a:srgbClr val="1C1638"/>
                </a:solidFill>
                <a:latin typeface="Calibri"/>
              </a:rPr>
              <a:t>A working end-to-end product</a:t>
            </a:r>
          </a:p>
        </p:txBody>
      </p:sp>
      <p:sp>
        <p:nvSpPr>
          <p:cNvPr id="53" name="TextBox 52"/>
          <p:cNvSpPr txBox="1"/>
          <p:nvPr/>
        </p:nvSpPr>
        <p:spPr>
          <a:xfrm>
            <a:off x="9171432" y="5532120"/>
            <a:ext cx="2286000" cy="45720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Pain  </a:t>
            </a:r>
            <a:r>
              <a:rPr sz="1100" b="0" i="0">
                <a:solidFill>
                  <a:srgbClr val="1C1638"/>
                </a:solidFill>
                <a:latin typeface="Calibri"/>
              </a:rPr>
              <a:t>No backend, static hosting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Project Overview</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PATHIK (पथिक), 'WAYFARER'</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7</a:t>
            </a:r>
          </a:p>
        </p:txBody>
      </p:sp>
      <p:sp>
        <p:nvSpPr>
          <p:cNvPr id="6" name="TextBox 5"/>
          <p:cNvSpPr txBox="1"/>
          <p:nvPr/>
        </p:nvSpPr>
        <p:spPr>
          <a:xfrm>
            <a:off x="548640" y="1554480"/>
            <a:ext cx="475488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PROJECT TITLE</a:t>
            </a:r>
          </a:p>
        </p:txBody>
      </p:sp>
      <p:sp>
        <p:nvSpPr>
          <p:cNvPr id="7" name="TextBox 6"/>
          <p:cNvSpPr txBox="1"/>
          <p:nvPr/>
        </p:nvSpPr>
        <p:spPr>
          <a:xfrm>
            <a:off x="548640" y="1828800"/>
            <a:ext cx="4754880" cy="594359"/>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Pathik: A Trip Planner for India</a:t>
            </a:r>
          </a:p>
        </p:txBody>
      </p:sp>
      <p:sp>
        <p:nvSpPr>
          <p:cNvPr id="8" name="TextBox 7"/>
          <p:cNvSpPr txBox="1"/>
          <p:nvPr/>
        </p:nvSpPr>
        <p:spPr>
          <a:xfrm>
            <a:off x="548640" y="2423160"/>
            <a:ext cx="475488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PROBLEM STATEMENT</a:t>
            </a:r>
          </a:p>
        </p:txBody>
      </p:sp>
      <p:sp>
        <p:nvSpPr>
          <p:cNvPr id="9" name="TextBox 8"/>
          <p:cNvSpPr txBox="1"/>
          <p:nvPr/>
        </p:nvSpPr>
        <p:spPr>
          <a:xfrm>
            <a:off x="548640" y="2697479"/>
            <a:ext cx="4754880" cy="960120"/>
          </a:xfrm>
          <a:prstGeom prst="rect">
            <a:avLst/>
          </a:prstGeom>
          <a:noFill/>
        </p:spPr>
        <p:txBody>
          <a:bodyPr wrap="square" lIns="0" rIns="0" tIns="0" bIns="0" anchor="t">
            <a:noAutofit/>
          </a:bodyPr>
          <a:lstStyle/>
          <a:p>
            <a:pPr algn="l">
              <a:spcAft>
                <a:spcPts val="400"/>
              </a:spcAft>
            </a:pPr>
            <a:r>
              <a:rPr sz="1300" b="0" i="0">
                <a:solidFill>
                  <a:srgbClr val="2B2257"/>
                </a:solidFill>
                <a:latin typeface="Calibri"/>
              </a:rPr>
              <a:t>Travellers jump between dozens of sites to choose a place, learn about it, plan the days, estimate the cost and reach a trustworthy agent. Costs are hidden and enquiries get lost.</a:t>
            </a:r>
          </a:p>
        </p:txBody>
      </p:sp>
      <p:sp>
        <p:nvSpPr>
          <p:cNvPr id="10" name="TextBox 9"/>
          <p:cNvSpPr txBox="1"/>
          <p:nvPr/>
        </p:nvSpPr>
        <p:spPr>
          <a:xfrm>
            <a:off x="548640" y="3657600"/>
            <a:ext cx="475488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PROPOSED SOLUTION</a:t>
            </a:r>
          </a:p>
        </p:txBody>
      </p:sp>
      <p:sp>
        <p:nvSpPr>
          <p:cNvPr id="11" name="TextBox 10"/>
          <p:cNvSpPr txBox="1"/>
          <p:nvPr/>
        </p:nvSpPr>
        <p:spPr>
          <a:xfrm>
            <a:off x="548640" y="3931920"/>
            <a:ext cx="4754880" cy="731520"/>
          </a:xfrm>
          <a:prstGeom prst="rect">
            <a:avLst/>
          </a:prstGeom>
          <a:noFill/>
        </p:spPr>
        <p:txBody>
          <a:bodyPr wrap="square" lIns="0" rIns="0" tIns="0" bIns="0" anchor="t">
            <a:noAutofit/>
          </a:bodyPr>
          <a:lstStyle/>
          <a:p>
            <a:pPr algn="l">
              <a:spcAft>
                <a:spcPts val="400"/>
              </a:spcAft>
            </a:pPr>
            <a:r>
              <a:rPr sz="1300" b="0" i="0">
                <a:solidFill>
                  <a:srgbClr val="2B2257"/>
                </a:solidFill>
                <a:latin typeface="Calibri"/>
              </a:rPr>
              <a:t>One website that covers all six steps: discover, learn, plan, budget, enquire and book, with real costs shown before anyone pays.</a:t>
            </a:r>
          </a:p>
        </p:txBody>
      </p:sp>
      <p:sp>
        <p:nvSpPr>
          <p:cNvPr id="12" name="TextBox 11"/>
          <p:cNvSpPr txBox="1"/>
          <p:nvPr/>
        </p:nvSpPr>
        <p:spPr>
          <a:xfrm>
            <a:off x="548640" y="4663440"/>
            <a:ext cx="475488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SCOPE</a:t>
            </a:r>
          </a:p>
        </p:txBody>
      </p:sp>
      <p:sp>
        <p:nvSpPr>
          <p:cNvPr id="13" name="TextBox 12"/>
          <p:cNvSpPr txBox="1"/>
          <p:nvPr/>
        </p:nvSpPr>
        <p:spPr>
          <a:xfrm>
            <a:off x="548640" y="4937759"/>
            <a:ext cx="4754880" cy="960120"/>
          </a:xfrm>
          <a:prstGeom prst="rect">
            <a:avLst/>
          </a:prstGeom>
          <a:noFill/>
        </p:spPr>
        <p:txBody>
          <a:bodyPr wrap="square" lIns="0" rIns="0" tIns="0" bIns="0" anchor="t">
            <a:noAutofit/>
          </a:bodyPr>
          <a:lstStyle/>
          <a:p>
            <a:pPr algn="l">
              <a:spcAft>
                <a:spcPts val="400"/>
              </a:spcAft>
            </a:pPr>
            <a:r>
              <a:rPr sz="1300" b="0" i="0">
                <a:solidFill>
                  <a:srgbClr val="2B2257"/>
                </a:solidFill>
                <a:latin typeface="Calibri"/>
              </a:rPr>
              <a:t>Domestic and inbound travellers planning trips in India. 14 destinations, 8 packages, 7 sample agents. Runs fully in the browser; prices are estimates.</a:t>
            </a:r>
          </a:p>
        </p:txBody>
      </p:sp>
      <p:sp>
        <p:nvSpPr>
          <p:cNvPr id="14" name="Rounded Rectangle 13"/>
          <p:cNvSpPr/>
          <p:nvPr/>
        </p:nvSpPr>
        <p:spPr>
          <a:xfrm>
            <a:off x="5715000" y="1600200"/>
            <a:ext cx="5943600" cy="3941063"/>
          </a:xfrm>
          <a:prstGeom prst="roundRect">
            <a:avLst>
              <a:gd name="adj" fmla="val 2320"/>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843016" y="167792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0176" y="167792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17336" y="167792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49490" y="1655064"/>
            <a:ext cx="267462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49490" y="1650492"/>
            <a:ext cx="267462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home</a:t>
            </a:r>
          </a:p>
        </p:txBody>
      </p:sp>
      <p:pic>
        <p:nvPicPr>
          <p:cNvPr id="20" name="Picture 19" descr="Screenshot of the Pathik website: pathik / home"/>
          <p:cNvPicPr>
            <a:picLocks noChangeAspect="1"/>
          </p:cNvPicPr>
          <p:nvPr/>
        </p:nvPicPr>
        <p:blipFill>
          <a:blip r:embed="rId2"/>
          <a:stretch>
            <a:fillRect/>
          </a:stretch>
        </p:blipFill>
        <p:spPr>
          <a:xfrm>
            <a:off x="5760720" y="1837943"/>
            <a:ext cx="5852160" cy="3657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Technologies Used</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TECH STACK</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8</a:t>
            </a:r>
          </a:p>
        </p:txBody>
      </p:sp>
      <p:sp>
        <p:nvSpPr>
          <p:cNvPr id="6" name="Rounded Rectangle 5"/>
          <p:cNvSpPr/>
          <p:nvPr/>
        </p:nvSpPr>
        <p:spPr>
          <a:xfrm>
            <a:off x="548640"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xml-w.png"/>
          <p:cNvPicPr>
            <a:picLocks noChangeAspect="1"/>
          </p:cNvPicPr>
          <p:nvPr/>
        </p:nvPicPr>
        <p:blipFill>
          <a:blip r:embed="rId2"/>
          <a:stretch>
            <a:fillRect/>
          </a:stretch>
        </p:blipFill>
        <p:spPr>
          <a:xfrm>
            <a:off x="902970" y="1908810"/>
            <a:ext cx="251460" cy="251460"/>
          </a:xfrm>
          <a:prstGeom prst="rect">
            <a:avLst/>
          </a:prstGeom>
        </p:spPr>
      </p:pic>
      <p:sp>
        <p:nvSpPr>
          <p:cNvPr id="9" name="TextBox 8"/>
          <p:cNvSpPr txBox="1"/>
          <p:nvPr/>
        </p:nvSpPr>
        <p:spPr>
          <a:xfrm>
            <a:off x="141731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Programming languages</a:t>
            </a:r>
          </a:p>
        </p:txBody>
      </p:sp>
      <p:sp>
        <p:nvSpPr>
          <p:cNvPr id="10" name="TextBox 9"/>
          <p:cNvSpPr txBox="1"/>
          <p:nvPr/>
        </p:nvSpPr>
        <p:spPr>
          <a:xfrm>
            <a:off x="822959"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HTML5 (semantic, accessible markup)</a:t>
            </a:r>
          </a:p>
          <a:p>
            <a:pPr algn="l" marL="182880" indent="-182880">
              <a:spcAft>
                <a:spcPts val="500"/>
              </a:spcAft>
              <a:buClr>
                <a:srgbClr val="EF7D42"/>
              </a:buClr>
              <a:buFont typeface="Arial"/>
              <a:buChar char="•"/>
            </a:pPr>
            <a:r>
              <a:rPr sz="1200" b="0" i="0">
                <a:solidFill>
                  <a:srgbClr val="2B2257"/>
                </a:solidFill>
                <a:latin typeface="Calibri"/>
              </a:rPr>
              <a:t>CSS3 (grid, flexbox, custom properties)</a:t>
            </a:r>
          </a:p>
          <a:p>
            <a:pPr algn="l" marL="182880" indent="-182880">
              <a:spcAft>
                <a:spcPts val="500"/>
              </a:spcAft>
              <a:buClr>
                <a:srgbClr val="EF7D42"/>
              </a:buClr>
              <a:buFont typeface="Arial"/>
              <a:buChar char="•"/>
            </a:pPr>
            <a:r>
              <a:rPr sz="1200" b="0" i="0">
                <a:solidFill>
                  <a:srgbClr val="2B2257"/>
                </a:solidFill>
                <a:latin typeface="Calibri"/>
              </a:rPr>
              <a:t>JavaScript ES2019+ (no framework)</a:t>
            </a:r>
          </a:p>
        </p:txBody>
      </p:sp>
      <p:sp>
        <p:nvSpPr>
          <p:cNvPr id="11" name="Rounded Rectangle 10"/>
          <p:cNvSpPr/>
          <p:nvPr/>
        </p:nvSpPr>
        <p:spPr>
          <a:xfrm>
            <a:off x="4297679"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26279" y="178308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ayers-w.png"/>
          <p:cNvPicPr>
            <a:picLocks noChangeAspect="1"/>
          </p:cNvPicPr>
          <p:nvPr/>
        </p:nvPicPr>
        <p:blipFill>
          <a:blip r:embed="rId3"/>
          <a:stretch>
            <a:fillRect/>
          </a:stretch>
        </p:blipFill>
        <p:spPr>
          <a:xfrm>
            <a:off x="4652009" y="1908810"/>
            <a:ext cx="251460" cy="251460"/>
          </a:xfrm>
          <a:prstGeom prst="rect">
            <a:avLst/>
          </a:prstGeom>
        </p:spPr>
      </p:pic>
      <p:sp>
        <p:nvSpPr>
          <p:cNvPr id="14" name="TextBox 13"/>
          <p:cNvSpPr txBox="1"/>
          <p:nvPr/>
        </p:nvSpPr>
        <p:spPr>
          <a:xfrm>
            <a:off x="516635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Web technologies</a:t>
            </a:r>
          </a:p>
        </p:txBody>
      </p:sp>
      <p:sp>
        <p:nvSpPr>
          <p:cNvPr id="15" name="TextBox 14"/>
          <p:cNvSpPr txBox="1"/>
          <p:nvPr/>
        </p:nvSpPr>
        <p:spPr>
          <a:xfrm>
            <a:off x="4571999"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Three.js r169: 3D hero with custom shaders</a:t>
            </a:r>
          </a:p>
          <a:p>
            <a:pPr algn="l" marL="182880" indent="-182880">
              <a:spcAft>
                <a:spcPts val="500"/>
              </a:spcAft>
              <a:buClr>
                <a:srgbClr val="EF7D42"/>
              </a:buClr>
              <a:buFont typeface="Arial"/>
              <a:buChar char="•"/>
            </a:pPr>
            <a:r>
              <a:rPr sz="1200" b="0" i="0">
                <a:solidFill>
                  <a:srgbClr val="2B2257"/>
                </a:solidFill>
                <a:latin typeface="Calibri"/>
              </a:rPr>
              <a:t>Leaflet 1.9: interactive maps</a:t>
            </a:r>
          </a:p>
          <a:p>
            <a:pPr algn="l" marL="182880" indent="-182880">
              <a:spcAft>
                <a:spcPts val="500"/>
              </a:spcAft>
              <a:buClr>
                <a:srgbClr val="EF7D42"/>
              </a:buClr>
              <a:buFont typeface="Arial"/>
              <a:buChar char="•"/>
            </a:pPr>
            <a:r>
              <a:rPr sz="1200" b="0" i="0">
                <a:solidFill>
                  <a:srgbClr val="2B2257"/>
                </a:solidFill>
                <a:latin typeface="Calibri"/>
              </a:rPr>
              <a:t>Lucide icons, Google Fonts</a:t>
            </a:r>
          </a:p>
        </p:txBody>
      </p:sp>
      <p:sp>
        <p:nvSpPr>
          <p:cNvPr id="16" name="Rounded Rectangle 15"/>
          <p:cNvSpPr/>
          <p:nvPr/>
        </p:nvSpPr>
        <p:spPr>
          <a:xfrm>
            <a:off x="8046719" y="155448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75319" y="1783080"/>
            <a:ext cx="502920" cy="502920"/>
          </a:xfrm>
          <a:prstGeom prst="ellipse">
            <a:avLst/>
          </a:prstGeom>
          <a:solidFill>
            <a:srgbClr val="6A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w.png"/>
          <p:cNvPicPr>
            <a:picLocks noChangeAspect="1"/>
          </p:cNvPicPr>
          <p:nvPr/>
        </p:nvPicPr>
        <p:blipFill>
          <a:blip r:embed="rId4"/>
          <a:stretch>
            <a:fillRect/>
          </a:stretch>
        </p:blipFill>
        <p:spPr>
          <a:xfrm>
            <a:off x="8401049" y="1908810"/>
            <a:ext cx="251460" cy="251460"/>
          </a:xfrm>
          <a:prstGeom prst="rect">
            <a:avLst/>
          </a:prstGeom>
        </p:spPr>
      </p:pic>
      <p:sp>
        <p:nvSpPr>
          <p:cNvPr id="19" name="TextBox 18"/>
          <p:cNvSpPr txBox="1"/>
          <p:nvPr/>
        </p:nvSpPr>
        <p:spPr>
          <a:xfrm>
            <a:off x="8915399" y="1856231"/>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Data and storage</a:t>
            </a:r>
          </a:p>
        </p:txBody>
      </p:sp>
      <p:sp>
        <p:nvSpPr>
          <p:cNvPr id="20" name="TextBox 19"/>
          <p:cNvSpPr txBox="1"/>
          <p:nvPr/>
        </p:nvSpPr>
        <p:spPr>
          <a:xfrm>
            <a:off x="8321040" y="246888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localStorage: trip, cart, enquiries, bookings</a:t>
            </a:r>
          </a:p>
          <a:p>
            <a:pPr algn="l" marL="182880" indent="-182880">
              <a:spcAft>
                <a:spcPts val="500"/>
              </a:spcAft>
              <a:buClr>
                <a:srgbClr val="EF7D42"/>
              </a:buClr>
              <a:buFont typeface="Arial"/>
              <a:buChar char="•"/>
            </a:pPr>
            <a:r>
              <a:rPr sz="1200" b="0" i="0">
                <a:solidFill>
                  <a:srgbClr val="2B2257"/>
                </a:solidFill>
                <a:latin typeface="Calibri"/>
              </a:rPr>
              <a:t>JSON data module: 14 places, 8 packages, 7 agents</a:t>
            </a:r>
          </a:p>
          <a:p>
            <a:pPr algn="l" marL="182880" indent="-182880">
              <a:spcAft>
                <a:spcPts val="500"/>
              </a:spcAft>
              <a:buClr>
                <a:srgbClr val="EF7D42"/>
              </a:buClr>
              <a:buFont typeface="Arial"/>
              <a:buChar char="•"/>
            </a:pPr>
            <a:r>
              <a:rPr sz="1200" b="0" i="0">
                <a:solidFill>
                  <a:srgbClr val="2B2257"/>
                </a:solidFill>
                <a:latin typeface="Calibri"/>
              </a:rPr>
              <a:t>No server database needed</a:t>
            </a:r>
          </a:p>
        </p:txBody>
      </p:sp>
      <p:sp>
        <p:nvSpPr>
          <p:cNvPr id="21" name="Rounded Rectangle 20"/>
          <p:cNvSpPr/>
          <p:nvPr/>
        </p:nvSpPr>
        <p:spPr>
          <a:xfrm>
            <a:off x="2423160" y="393192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651760" y="416052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rench-w.png"/>
          <p:cNvPicPr>
            <a:picLocks noChangeAspect="1"/>
          </p:cNvPicPr>
          <p:nvPr/>
        </p:nvPicPr>
        <p:blipFill>
          <a:blip r:embed="rId5"/>
          <a:stretch>
            <a:fillRect/>
          </a:stretch>
        </p:blipFill>
        <p:spPr>
          <a:xfrm>
            <a:off x="2777490" y="4286250"/>
            <a:ext cx="251460" cy="251460"/>
          </a:xfrm>
          <a:prstGeom prst="rect">
            <a:avLst/>
          </a:prstGeom>
        </p:spPr>
      </p:pic>
      <p:sp>
        <p:nvSpPr>
          <p:cNvPr id="24" name="TextBox 23"/>
          <p:cNvSpPr txBox="1"/>
          <p:nvPr/>
        </p:nvSpPr>
        <p:spPr>
          <a:xfrm>
            <a:off x="3291839" y="4233672"/>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Tools</a:t>
            </a:r>
          </a:p>
        </p:txBody>
      </p:sp>
      <p:sp>
        <p:nvSpPr>
          <p:cNvPr id="25" name="TextBox 24"/>
          <p:cNvSpPr txBox="1"/>
          <p:nvPr/>
        </p:nvSpPr>
        <p:spPr>
          <a:xfrm>
            <a:off x="2697479" y="484632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Node.js, npm, esbuild (bundling)</a:t>
            </a:r>
          </a:p>
          <a:p>
            <a:pPr algn="l" marL="182880" indent="-182880">
              <a:spcAft>
                <a:spcPts val="500"/>
              </a:spcAft>
              <a:buClr>
                <a:srgbClr val="EF7D42"/>
              </a:buClr>
              <a:buFont typeface="Arial"/>
              <a:buChar char="•"/>
            </a:pPr>
            <a:r>
              <a:rPr sz="1200" b="0" i="0">
                <a:solidFill>
                  <a:srgbClr val="2B2257"/>
                </a:solidFill>
                <a:latin typeface="Calibri"/>
              </a:rPr>
              <a:t>Playwright (automated UI tests)</a:t>
            </a:r>
          </a:p>
          <a:p>
            <a:pPr algn="l" marL="182880" indent="-182880">
              <a:spcAft>
                <a:spcPts val="500"/>
              </a:spcAft>
              <a:buClr>
                <a:srgbClr val="EF7D42"/>
              </a:buClr>
              <a:buFont typeface="Arial"/>
              <a:buChar char="•"/>
            </a:pPr>
            <a:r>
              <a:rPr sz="1200" b="0" i="0">
                <a:solidFill>
                  <a:srgbClr val="2B2257"/>
                </a:solidFill>
                <a:latin typeface="Calibri"/>
              </a:rPr>
              <a:t>Git and GitHub (pull requests)</a:t>
            </a:r>
          </a:p>
        </p:txBody>
      </p:sp>
      <p:sp>
        <p:nvSpPr>
          <p:cNvPr id="26" name="Rounded Rectangle 25"/>
          <p:cNvSpPr/>
          <p:nvPr/>
        </p:nvSpPr>
        <p:spPr>
          <a:xfrm>
            <a:off x="6172199" y="3931920"/>
            <a:ext cx="3566160" cy="2194560"/>
          </a:xfrm>
          <a:prstGeom prst="roundRect">
            <a:avLst>
              <a:gd name="adj" fmla="val 583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079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loud-w.png"/>
          <p:cNvPicPr>
            <a:picLocks noChangeAspect="1"/>
          </p:cNvPicPr>
          <p:nvPr/>
        </p:nvPicPr>
        <p:blipFill>
          <a:blip r:embed="rId6"/>
          <a:stretch>
            <a:fillRect/>
          </a:stretch>
        </p:blipFill>
        <p:spPr>
          <a:xfrm>
            <a:off x="6526529" y="4286250"/>
            <a:ext cx="251460" cy="251460"/>
          </a:xfrm>
          <a:prstGeom prst="rect">
            <a:avLst/>
          </a:prstGeom>
        </p:spPr>
      </p:pic>
      <p:sp>
        <p:nvSpPr>
          <p:cNvPr id="29" name="TextBox 28"/>
          <p:cNvSpPr txBox="1"/>
          <p:nvPr/>
        </p:nvSpPr>
        <p:spPr>
          <a:xfrm>
            <a:off x="7040879" y="4233672"/>
            <a:ext cx="2560320" cy="365760"/>
          </a:xfrm>
          <a:prstGeom prst="rect">
            <a:avLst/>
          </a:prstGeom>
          <a:noFill/>
        </p:spPr>
        <p:txBody>
          <a:bodyPr wrap="square" lIns="0" rIns="0" tIns="0" bIns="0" anchor="t">
            <a:noAutofit/>
          </a:bodyPr>
          <a:lstStyle/>
          <a:p>
            <a:pPr algn="l">
              <a:spcAft>
                <a:spcPts val="400"/>
              </a:spcAft>
            </a:pPr>
            <a:r>
              <a:rPr sz="1500" b="1" i="0">
                <a:solidFill>
                  <a:srgbClr val="1C1638"/>
                </a:solidFill>
                <a:latin typeface="Calibri"/>
              </a:rPr>
              <a:t>Services</a:t>
            </a:r>
          </a:p>
        </p:txBody>
      </p:sp>
      <p:sp>
        <p:nvSpPr>
          <p:cNvPr id="30" name="TextBox 29"/>
          <p:cNvSpPr txBox="1"/>
          <p:nvPr/>
        </p:nvSpPr>
        <p:spPr>
          <a:xfrm>
            <a:off x="6446519" y="4846320"/>
            <a:ext cx="3108960" cy="1234440"/>
          </a:xfrm>
          <a:prstGeom prst="rect">
            <a:avLst/>
          </a:prstGeom>
          <a:noFill/>
        </p:spPr>
        <p:txBody>
          <a:bodyPr wrap="square" lIns="0" rIns="0" tIns="0" bIns="0" anchor="t">
            <a:noAutofit/>
          </a:bodyPr>
          <a:lstStyle/>
          <a:p>
            <a:pPr algn="l" marL="182880" indent="-182880">
              <a:spcAft>
                <a:spcPts val="500"/>
              </a:spcAft>
              <a:buClr>
                <a:srgbClr val="EF7D42"/>
              </a:buClr>
              <a:buFont typeface="Arial"/>
              <a:buChar char="•"/>
            </a:pPr>
            <a:r>
              <a:rPr sz="1200" b="0" i="0">
                <a:solidFill>
                  <a:srgbClr val="2B2257"/>
                </a:solidFill>
                <a:latin typeface="Calibri"/>
              </a:rPr>
              <a:t>Wikimedia Commons (licensed photos)</a:t>
            </a:r>
          </a:p>
          <a:p>
            <a:pPr algn="l" marL="182880" indent="-182880">
              <a:spcAft>
                <a:spcPts val="500"/>
              </a:spcAft>
              <a:buClr>
                <a:srgbClr val="EF7D42"/>
              </a:buClr>
              <a:buFont typeface="Arial"/>
              <a:buChar char="•"/>
            </a:pPr>
            <a:r>
              <a:rPr sz="1200" b="0" i="0">
                <a:solidFill>
                  <a:srgbClr val="2B2257"/>
                </a:solidFill>
                <a:latin typeface="Calibri"/>
              </a:rPr>
              <a:t>Esri / OpenStreetMap map tiles</a:t>
            </a:r>
          </a:p>
          <a:p>
            <a:pPr algn="l" marL="182880" indent="-182880">
              <a:spcAft>
                <a:spcPts val="500"/>
              </a:spcAft>
              <a:buClr>
                <a:srgbClr val="EF7D42"/>
              </a:buClr>
              <a:buFont typeface="Arial"/>
              <a:buChar char="•"/>
            </a:pPr>
            <a:r>
              <a:rPr sz="1200" b="0" i="0">
                <a:solidFill>
                  <a:srgbClr val="2B2257"/>
                </a:solidFill>
                <a:latin typeface="Calibri"/>
              </a:rPr>
              <a:t>Google Fonts CDN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System Architecture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HOW THE PIECES FIT</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9</a:t>
            </a:r>
          </a:p>
        </p:txBody>
      </p:sp>
      <p:sp>
        <p:nvSpPr>
          <p:cNvPr id="6" name="Rounded Rectangle 5"/>
          <p:cNvSpPr/>
          <p:nvPr/>
        </p:nvSpPr>
        <p:spPr>
          <a:xfrm>
            <a:off x="2743200" y="1481328"/>
            <a:ext cx="6675120" cy="457200"/>
          </a:xfrm>
          <a:prstGeom prst="roundRect">
            <a:avLst>
              <a:gd name="adj" fmla="val 24000"/>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743200" y="1481328"/>
            <a:ext cx="6675120" cy="457200"/>
          </a:xfrm>
          <a:prstGeom prst="rect">
            <a:avLst/>
          </a:prstGeom>
          <a:noFill/>
        </p:spPr>
        <p:txBody>
          <a:bodyPr wrap="square" lIns="0" rIns="0" tIns="0" bIns="0" anchor="ctr">
            <a:noAutofit/>
          </a:bodyPr>
          <a:lstStyle/>
          <a:p>
            <a:pPr algn="ctr">
              <a:spcAft>
                <a:spcPts val="400"/>
              </a:spcAft>
            </a:pPr>
            <a:r>
              <a:rPr sz="1300" b="1" i="0">
                <a:solidFill>
                  <a:srgbClr val="FFFFFF"/>
                </a:solidFill>
                <a:latin typeface="Calibri"/>
              </a:rPr>
              <a:t>Browser  ·  desktop and mobile</a:t>
            </a:r>
          </a:p>
        </p:txBody>
      </p:sp>
      <p:sp>
        <p:nvSpPr>
          <p:cNvPr id="8" name="Rounded Rectangle 7"/>
          <p:cNvSpPr/>
          <p:nvPr/>
        </p:nvSpPr>
        <p:spPr>
          <a:xfrm>
            <a:off x="2743200" y="2240280"/>
            <a:ext cx="1252728" cy="502920"/>
          </a:xfrm>
          <a:prstGeom prst="roundRect">
            <a:avLst>
              <a:gd name="adj" fmla="val 18181"/>
            </a:avLst>
          </a:prstGeom>
          <a:solidFill>
            <a:srgbClr val="FDECE2"/>
          </a:solidFill>
          <a:ln w="9525">
            <a:solidFill>
              <a:srgbClr val="EF7D4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743200" y="2240280"/>
            <a:ext cx="1252728" cy="502920"/>
          </a:xfrm>
          <a:prstGeom prst="rect">
            <a:avLst/>
          </a:prstGeom>
          <a:noFill/>
        </p:spPr>
        <p:txBody>
          <a:bodyPr wrap="square" lIns="0" rIns="0" tIns="0" bIns="0" anchor="ctr">
            <a:noAutofit/>
          </a:bodyPr>
          <a:lstStyle/>
          <a:p>
            <a:pPr algn="ctr">
              <a:spcAft>
                <a:spcPts val="400"/>
              </a:spcAft>
            </a:pPr>
            <a:r>
              <a:rPr sz="1150" b="1" i="0">
                <a:solidFill>
                  <a:srgbClr val="1C1638"/>
                </a:solidFill>
                <a:latin typeface="Calibri"/>
              </a:rPr>
              <a:t>Home</a:t>
            </a:r>
          </a:p>
        </p:txBody>
      </p:sp>
      <p:sp>
        <p:nvSpPr>
          <p:cNvPr id="10" name="Rounded Rectangle 9"/>
          <p:cNvSpPr/>
          <p:nvPr/>
        </p:nvSpPr>
        <p:spPr>
          <a:xfrm>
            <a:off x="4105656" y="2240280"/>
            <a:ext cx="1252728" cy="502920"/>
          </a:xfrm>
          <a:prstGeom prst="roundRect">
            <a:avLst>
              <a:gd name="adj" fmla="val 18181"/>
            </a:avLst>
          </a:prstGeom>
          <a:solidFill>
            <a:srgbClr val="FDECE2"/>
          </a:solidFill>
          <a:ln w="9525">
            <a:solidFill>
              <a:srgbClr val="EF7D4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05656" y="2240280"/>
            <a:ext cx="1252728" cy="502920"/>
          </a:xfrm>
          <a:prstGeom prst="rect">
            <a:avLst/>
          </a:prstGeom>
          <a:noFill/>
        </p:spPr>
        <p:txBody>
          <a:bodyPr wrap="square" lIns="0" rIns="0" tIns="0" bIns="0" anchor="ctr">
            <a:noAutofit/>
          </a:bodyPr>
          <a:lstStyle/>
          <a:p>
            <a:pPr algn="ctr">
              <a:spcAft>
                <a:spcPts val="400"/>
              </a:spcAft>
            </a:pPr>
            <a:r>
              <a:rPr sz="1150" b="1" i="0">
                <a:solidFill>
                  <a:srgbClr val="1C1638"/>
                </a:solidFill>
                <a:latin typeface="Calibri"/>
              </a:rPr>
              <a:t>Explore</a:t>
            </a:r>
          </a:p>
        </p:txBody>
      </p:sp>
      <p:sp>
        <p:nvSpPr>
          <p:cNvPr id="12" name="Rounded Rectangle 11"/>
          <p:cNvSpPr/>
          <p:nvPr/>
        </p:nvSpPr>
        <p:spPr>
          <a:xfrm>
            <a:off x="5468112" y="2240280"/>
            <a:ext cx="1252728" cy="502920"/>
          </a:xfrm>
          <a:prstGeom prst="roundRect">
            <a:avLst>
              <a:gd name="adj" fmla="val 18181"/>
            </a:avLst>
          </a:prstGeom>
          <a:solidFill>
            <a:srgbClr val="FDECE2"/>
          </a:solidFill>
          <a:ln w="9525">
            <a:solidFill>
              <a:srgbClr val="EF7D4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68112" y="2240280"/>
            <a:ext cx="1252728" cy="502920"/>
          </a:xfrm>
          <a:prstGeom prst="rect">
            <a:avLst/>
          </a:prstGeom>
          <a:noFill/>
        </p:spPr>
        <p:txBody>
          <a:bodyPr wrap="square" lIns="0" rIns="0" tIns="0" bIns="0" anchor="ctr">
            <a:noAutofit/>
          </a:bodyPr>
          <a:lstStyle/>
          <a:p>
            <a:pPr algn="ctr">
              <a:spcAft>
                <a:spcPts val="400"/>
              </a:spcAft>
            </a:pPr>
            <a:r>
              <a:rPr sz="1150" b="1" i="0">
                <a:solidFill>
                  <a:srgbClr val="1C1638"/>
                </a:solidFill>
                <a:latin typeface="Calibri"/>
              </a:rPr>
              <a:t>Plan &amp; budget</a:t>
            </a:r>
          </a:p>
        </p:txBody>
      </p:sp>
      <p:sp>
        <p:nvSpPr>
          <p:cNvPr id="14" name="Rounded Rectangle 13"/>
          <p:cNvSpPr/>
          <p:nvPr/>
        </p:nvSpPr>
        <p:spPr>
          <a:xfrm>
            <a:off x="6830568" y="2240280"/>
            <a:ext cx="1252728" cy="502920"/>
          </a:xfrm>
          <a:prstGeom prst="roundRect">
            <a:avLst>
              <a:gd name="adj" fmla="val 18181"/>
            </a:avLst>
          </a:prstGeom>
          <a:solidFill>
            <a:srgbClr val="FDECE2"/>
          </a:solidFill>
          <a:ln w="9525">
            <a:solidFill>
              <a:srgbClr val="EF7D4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30568" y="2240280"/>
            <a:ext cx="1252728" cy="502920"/>
          </a:xfrm>
          <a:prstGeom prst="rect">
            <a:avLst/>
          </a:prstGeom>
          <a:noFill/>
        </p:spPr>
        <p:txBody>
          <a:bodyPr wrap="square" lIns="0" rIns="0" tIns="0" bIns="0" anchor="ctr">
            <a:noAutofit/>
          </a:bodyPr>
          <a:lstStyle/>
          <a:p>
            <a:pPr algn="ctr">
              <a:spcAft>
                <a:spcPts val="400"/>
              </a:spcAft>
            </a:pPr>
            <a:r>
              <a:rPr sz="1150" b="1" i="0">
                <a:solidFill>
                  <a:srgbClr val="1C1638"/>
                </a:solidFill>
                <a:latin typeface="Calibri"/>
              </a:rPr>
              <a:t>Packages</a:t>
            </a:r>
          </a:p>
        </p:txBody>
      </p:sp>
      <p:sp>
        <p:nvSpPr>
          <p:cNvPr id="16" name="Rounded Rectangle 15"/>
          <p:cNvSpPr/>
          <p:nvPr/>
        </p:nvSpPr>
        <p:spPr>
          <a:xfrm>
            <a:off x="8193024" y="2240280"/>
            <a:ext cx="1252728" cy="502920"/>
          </a:xfrm>
          <a:prstGeom prst="roundRect">
            <a:avLst>
              <a:gd name="adj" fmla="val 18181"/>
            </a:avLst>
          </a:prstGeom>
          <a:solidFill>
            <a:srgbClr val="FDECE2"/>
          </a:solidFill>
          <a:ln w="9525">
            <a:solidFill>
              <a:srgbClr val="EF7D4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93024" y="2240280"/>
            <a:ext cx="1252728" cy="502920"/>
          </a:xfrm>
          <a:prstGeom prst="rect">
            <a:avLst/>
          </a:prstGeom>
          <a:noFill/>
        </p:spPr>
        <p:txBody>
          <a:bodyPr wrap="square" lIns="0" rIns="0" tIns="0" bIns="0" anchor="ctr">
            <a:noAutofit/>
          </a:bodyPr>
          <a:lstStyle/>
          <a:p>
            <a:pPr algn="ctr">
              <a:spcAft>
                <a:spcPts val="400"/>
              </a:spcAft>
            </a:pPr>
            <a:r>
              <a:rPr sz="1150" b="1" i="0">
                <a:solidFill>
                  <a:srgbClr val="1C1638"/>
                </a:solidFill>
                <a:latin typeface="Calibri"/>
              </a:rPr>
              <a:t>Agents</a:t>
            </a:r>
          </a:p>
        </p:txBody>
      </p:sp>
      <p:sp>
        <p:nvSpPr>
          <p:cNvPr id="18" name="TextBox 17"/>
          <p:cNvSpPr txBox="1"/>
          <p:nvPr/>
        </p:nvSpPr>
        <p:spPr>
          <a:xfrm>
            <a:off x="2743200" y="2788920"/>
            <a:ext cx="6675120" cy="274320"/>
          </a:xfrm>
          <a:prstGeom prst="rect">
            <a:avLst/>
          </a:prstGeom>
          <a:noFill/>
        </p:spPr>
        <p:txBody>
          <a:bodyPr wrap="square" lIns="0" rIns="0" tIns="0" bIns="0" anchor="t">
            <a:noAutofit/>
          </a:bodyPr>
          <a:lstStyle/>
          <a:p>
            <a:pPr algn="ctr">
              <a:spcAft>
                <a:spcPts val="400"/>
              </a:spcAft>
            </a:pPr>
            <a:r>
              <a:rPr sz="1000" b="0" i="0">
                <a:solidFill>
                  <a:srgbClr val="6D6585"/>
                </a:solidFill>
                <a:latin typeface="Calibri"/>
              </a:rPr>
              <a:t>5 HTML pages, each with its own script (home.js, explore.js, planner.js, packages.js, agents.js)</a:t>
            </a:r>
          </a:p>
        </p:txBody>
      </p:sp>
      <p:sp>
        <p:nvSpPr>
          <p:cNvPr id="19" name="Rounded Rectangle 18"/>
          <p:cNvSpPr/>
          <p:nvPr/>
        </p:nvSpPr>
        <p:spPr>
          <a:xfrm>
            <a:off x="2743200" y="3200400"/>
            <a:ext cx="1591056" cy="1143000"/>
          </a:xfrm>
          <a:prstGeom prst="roundRect">
            <a:avLst>
              <a:gd name="adj" fmla="val 8000"/>
            </a:avLst>
          </a:prstGeom>
          <a:solidFill>
            <a:srgbClr val="F5F2FC"/>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852928" y="3291840"/>
            <a:ext cx="1371600" cy="274320"/>
          </a:xfrm>
          <a:prstGeom prst="rect">
            <a:avLst/>
          </a:prstGeom>
          <a:noFill/>
        </p:spPr>
        <p:txBody>
          <a:bodyPr wrap="square" lIns="0" rIns="0" tIns="0" bIns="0" anchor="t">
            <a:noAutofit/>
          </a:bodyPr>
          <a:lstStyle/>
          <a:p>
            <a:pPr algn="l">
              <a:spcAft>
                <a:spcPts val="400"/>
              </a:spcAft>
            </a:pPr>
            <a:r>
              <a:rPr sz="1250" b="1" i="0">
                <a:solidFill>
                  <a:srgbClr val="4A3A8F"/>
                </a:solidFill>
                <a:latin typeface="Consolas"/>
              </a:rPr>
              <a:t>data.js</a:t>
            </a:r>
          </a:p>
        </p:txBody>
      </p:sp>
      <p:sp>
        <p:nvSpPr>
          <p:cNvPr id="21" name="TextBox 20"/>
          <p:cNvSpPr txBox="1"/>
          <p:nvPr/>
        </p:nvSpPr>
        <p:spPr>
          <a:xfrm>
            <a:off x="2852928" y="3611880"/>
            <a:ext cx="1371600" cy="68580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Destinations, packages, agents, photos</a:t>
            </a:r>
          </a:p>
        </p:txBody>
      </p:sp>
      <p:sp>
        <p:nvSpPr>
          <p:cNvPr id="22" name="Rounded Rectangle 21"/>
          <p:cNvSpPr/>
          <p:nvPr/>
        </p:nvSpPr>
        <p:spPr>
          <a:xfrm>
            <a:off x="4443984" y="3200400"/>
            <a:ext cx="1591056" cy="1143000"/>
          </a:xfrm>
          <a:prstGeom prst="roundRect">
            <a:avLst>
              <a:gd name="adj" fmla="val 8000"/>
            </a:avLst>
          </a:prstGeom>
          <a:solidFill>
            <a:srgbClr val="F5F2FC"/>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53712" y="3291840"/>
            <a:ext cx="1371600" cy="274320"/>
          </a:xfrm>
          <a:prstGeom prst="rect">
            <a:avLst/>
          </a:prstGeom>
          <a:noFill/>
        </p:spPr>
        <p:txBody>
          <a:bodyPr wrap="square" lIns="0" rIns="0" tIns="0" bIns="0" anchor="t">
            <a:noAutofit/>
          </a:bodyPr>
          <a:lstStyle/>
          <a:p>
            <a:pPr algn="l">
              <a:spcAft>
                <a:spcPts val="400"/>
              </a:spcAft>
            </a:pPr>
            <a:r>
              <a:rPr sz="1250" b="1" i="0">
                <a:solidFill>
                  <a:srgbClr val="4A3A8F"/>
                </a:solidFill>
                <a:latin typeface="Consolas"/>
              </a:rPr>
              <a:t>store.js</a:t>
            </a:r>
          </a:p>
        </p:txBody>
      </p:sp>
      <p:sp>
        <p:nvSpPr>
          <p:cNvPr id="24" name="TextBox 23"/>
          <p:cNvSpPr txBox="1"/>
          <p:nvPr/>
        </p:nvSpPr>
        <p:spPr>
          <a:xfrm>
            <a:off x="4553712" y="3611880"/>
            <a:ext cx="1371600" cy="68580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Shared state in localStorage, change events</a:t>
            </a:r>
          </a:p>
        </p:txBody>
      </p:sp>
      <p:sp>
        <p:nvSpPr>
          <p:cNvPr id="25" name="Rounded Rectangle 24"/>
          <p:cNvSpPr/>
          <p:nvPr/>
        </p:nvSpPr>
        <p:spPr>
          <a:xfrm>
            <a:off x="6144768" y="3200400"/>
            <a:ext cx="1591056" cy="1143000"/>
          </a:xfrm>
          <a:prstGeom prst="roundRect">
            <a:avLst>
              <a:gd name="adj" fmla="val 8000"/>
            </a:avLst>
          </a:prstGeom>
          <a:solidFill>
            <a:srgbClr val="F5F2FC"/>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54496" y="3291840"/>
            <a:ext cx="1371600" cy="274320"/>
          </a:xfrm>
          <a:prstGeom prst="rect">
            <a:avLst/>
          </a:prstGeom>
          <a:noFill/>
        </p:spPr>
        <p:txBody>
          <a:bodyPr wrap="square" lIns="0" rIns="0" tIns="0" bIns="0" anchor="t">
            <a:noAutofit/>
          </a:bodyPr>
          <a:lstStyle/>
          <a:p>
            <a:pPr algn="l">
              <a:spcAft>
                <a:spcPts val="400"/>
              </a:spcAft>
            </a:pPr>
            <a:r>
              <a:rPr sz="1250" b="1" i="0">
                <a:solidFill>
                  <a:srgbClr val="4A3A8F"/>
                </a:solidFill>
                <a:latin typeface="Consolas"/>
              </a:rPr>
              <a:t>budget.js</a:t>
            </a:r>
          </a:p>
        </p:txBody>
      </p:sp>
      <p:sp>
        <p:nvSpPr>
          <p:cNvPr id="27" name="TextBox 26"/>
          <p:cNvSpPr txBox="1"/>
          <p:nvPr/>
        </p:nvSpPr>
        <p:spPr>
          <a:xfrm>
            <a:off x="6254496" y="3611880"/>
            <a:ext cx="1371600" cy="68580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Cost model and day-by-day plan</a:t>
            </a:r>
          </a:p>
        </p:txBody>
      </p:sp>
      <p:sp>
        <p:nvSpPr>
          <p:cNvPr id="28" name="Rounded Rectangle 27"/>
          <p:cNvSpPr/>
          <p:nvPr/>
        </p:nvSpPr>
        <p:spPr>
          <a:xfrm>
            <a:off x="7845552" y="3200400"/>
            <a:ext cx="1591056" cy="1143000"/>
          </a:xfrm>
          <a:prstGeom prst="roundRect">
            <a:avLst>
              <a:gd name="adj" fmla="val 8000"/>
            </a:avLst>
          </a:prstGeom>
          <a:solidFill>
            <a:srgbClr val="F5F2FC"/>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55279" y="3291840"/>
            <a:ext cx="1371600" cy="274320"/>
          </a:xfrm>
          <a:prstGeom prst="rect">
            <a:avLst/>
          </a:prstGeom>
          <a:noFill/>
        </p:spPr>
        <p:txBody>
          <a:bodyPr wrap="square" lIns="0" rIns="0" tIns="0" bIns="0" anchor="t">
            <a:noAutofit/>
          </a:bodyPr>
          <a:lstStyle/>
          <a:p>
            <a:pPr algn="l">
              <a:spcAft>
                <a:spcPts val="400"/>
              </a:spcAft>
            </a:pPr>
            <a:r>
              <a:rPr sz="1250" b="1" i="0">
                <a:solidFill>
                  <a:srgbClr val="4A3A8F"/>
                </a:solidFill>
                <a:latin typeface="Consolas"/>
              </a:rPr>
              <a:t>ui.js</a:t>
            </a:r>
          </a:p>
        </p:txBody>
      </p:sp>
      <p:sp>
        <p:nvSpPr>
          <p:cNvPr id="30" name="TextBox 29"/>
          <p:cNvSpPr txBox="1"/>
          <p:nvPr/>
        </p:nvSpPr>
        <p:spPr>
          <a:xfrm>
            <a:off x="7955279" y="3611880"/>
            <a:ext cx="1371600" cy="68580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Header, cart, modals, maps, carousels</a:t>
            </a:r>
          </a:p>
        </p:txBody>
      </p:sp>
      <p:sp>
        <p:nvSpPr>
          <p:cNvPr id="31" name="Rounded Rectangle 30"/>
          <p:cNvSpPr/>
          <p:nvPr/>
        </p:nvSpPr>
        <p:spPr>
          <a:xfrm>
            <a:off x="4434840" y="4754880"/>
            <a:ext cx="3291840" cy="548640"/>
          </a:xfrm>
          <a:prstGeom prst="roundRect">
            <a:avLst>
              <a:gd name="adj" fmla="val 16666"/>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434840" y="4754880"/>
            <a:ext cx="3291840" cy="548640"/>
          </a:xfrm>
          <a:prstGeom prst="rect">
            <a:avLst/>
          </a:prstGeom>
          <a:noFill/>
        </p:spPr>
        <p:txBody>
          <a:bodyPr wrap="square" lIns="0" rIns="0" tIns="0" bIns="0" anchor="ctr">
            <a:noAutofit/>
          </a:bodyPr>
          <a:lstStyle/>
          <a:p>
            <a:pPr algn="ctr">
              <a:spcAft>
                <a:spcPts val="400"/>
              </a:spcAft>
            </a:pPr>
            <a:r>
              <a:rPr sz="1150" b="1" i="0">
                <a:solidFill>
                  <a:srgbClr val="FFFFFF"/>
                </a:solidFill>
                <a:latin typeface="Calibri"/>
              </a:rPr>
              <a:t>localStorage  ·  persists across pages and tabs</a:t>
            </a:r>
          </a:p>
        </p:txBody>
      </p:sp>
      <p:cxnSp>
        <p:nvCxnSpPr>
          <p:cNvPr id="33" name="Connector 32"/>
          <p:cNvCxnSpPr/>
          <p:nvPr/>
        </p:nvCxnSpPr>
        <p:spPr>
          <a:xfrm>
            <a:off x="4023360" y="1938528"/>
            <a:ext cx="0" cy="283464"/>
          </a:xfrm>
          <a:prstGeom prst="line">
            <a:avLst/>
          </a:prstGeom>
          <a:ln w="22225">
            <a:solidFill>
              <a:srgbClr val="6A5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80760" y="1938528"/>
            <a:ext cx="0" cy="283464"/>
          </a:xfrm>
          <a:prstGeom prst="line">
            <a:avLst/>
          </a:prstGeom>
          <a:ln w="22225">
            <a:solidFill>
              <a:srgbClr val="6A5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138160" y="1938528"/>
            <a:ext cx="0" cy="283464"/>
          </a:xfrm>
          <a:prstGeom prst="line">
            <a:avLst/>
          </a:prstGeom>
          <a:ln w="22225">
            <a:solidFill>
              <a:srgbClr val="6A5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80760" y="3044952"/>
            <a:ext cx="0" cy="137160"/>
          </a:xfrm>
          <a:prstGeom prst="line">
            <a:avLst/>
          </a:prstGeom>
          <a:ln w="22225">
            <a:solidFill>
              <a:srgbClr val="6A5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80760" y="4361688"/>
            <a:ext cx="0" cy="374904"/>
          </a:xfrm>
          <a:prstGeom prst="line">
            <a:avLst/>
          </a:prstGeom>
          <a:ln w="22225">
            <a:solidFill>
              <a:srgbClr val="6A5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8640" y="1481328"/>
            <a:ext cx="1874519" cy="3822191"/>
          </a:xfrm>
          <a:prstGeom prst="roundRect">
            <a:avLst>
              <a:gd name="adj" fmla="val 585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3232" y="1600200"/>
            <a:ext cx="1600200" cy="274320"/>
          </a:xfrm>
          <a:prstGeom prst="rect">
            <a:avLst/>
          </a:prstGeom>
          <a:noFill/>
        </p:spPr>
        <p:txBody>
          <a:bodyPr wrap="square" lIns="0" rIns="0" tIns="0" bIns="0" anchor="t">
            <a:noAutofit/>
          </a:bodyPr>
          <a:lstStyle/>
          <a:p>
            <a:pPr algn="l">
              <a:spcAft>
                <a:spcPts val="400"/>
              </a:spcAft>
            </a:pPr>
            <a:r>
              <a:rPr sz="1050" b="1" i="0">
                <a:solidFill>
                  <a:srgbClr val="EF7D42"/>
                </a:solidFill>
                <a:latin typeface="Calibri"/>
              </a:rPr>
              <a:t>BUILD STEP</a:t>
            </a:r>
          </a:p>
        </p:txBody>
      </p:sp>
      <p:sp>
        <p:nvSpPr>
          <p:cNvPr id="40" name="TextBox 39"/>
          <p:cNvSpPr txBox="1"/>
          <p:nvPr/>
        </p:nvSpPr>
        <p:spPr>
          <a:xfrm>
            <a:off x="713232" y="1965960"/>
            <a:ext cx="1600200" cy="256032"/>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src/pages + partials</a:t>
            </a:r>
          </a:p>
        </p:txBody>
      </p:sp>
      <p:sp>
        <p:nvSpPr>
          <p:cNvPr id="41" name="TextBox 40"/>
          <p:cNvSpPr txBox="1"/>
          <p:nvPr/>
        </p:nvSpPr>
        <p:spPr>
          <a:xfrm>
            <a:off x="713232" y="2212848"/>
            <a:ext cx="1600200" cy="256032"/>
          </a:xfrm>
          <a:prstGeom prst="rect">
            <a:avLst/>
          </a:prstGeom>
          <a:noFill/>
        </p:spPr>
        <p:txBody>
          <a:bodyPr wrap="square" lIns="0" rIns="0" tIns="0" bIns="0" anchor="t">
            <a:noAutofit/>
          </a:bodyPr>
          <a:lstStyle/>
          <a:p>
            <a:pPr algn="l">
              <a:spcAft>
                <a:spcPts val="400"/>
              </a:spcAft>
            </a:pPr>
            <a:r>
              <a:rPr sz="1000" b="0" i="0">
                <a:solidFill>
                  <a:srgbClr val="4A3A8F"/>
                </a:solidFill>
                <a:latin typeface="Calibri"/>
              </a:rPr>
              <a:t>→ build.mjs</a:t>
            </a:r>
          </a:p>
        </p:txBody>
      </p:sp>
      <p:sp>
        <p:nvSpPr>
          <p:cNvPr id="42" name="TextBox 41"/>
          <p:cNvSpPr txBox="1"/>
          <p:nvPr/>
        </p:nvSpPr>
        <p:spPr>
          <a:xfrm>
            <a:off x="713232" y="2459736"/>
            <a:ext cx="1600200" cy="256032"/>
          </a:xfrm>
          <a:prstGeom prst="rect">
            <a:avLst/>
          </a:prstGeom>
          <a:noFill/>
        </p:spPr>
        <p:txBody>
          <a:bodyPr wrap="square" lIns="0" rIns="0" tIns="0" bIns="0" anchor="t">
            <a:noAutofit/>
          </a:bodyPr>
          <a:lstStyle/>
          <a:p>
            <a:pPr algn="l">
              <a:spcAft>
                <a:spcPts val="400"/>
              </a:spcAft>
            </a:pPr>
            <a:r>
              <a:rPr sz="1000" b="0" i="0">
                <a:solidFill>
                  <a:srgbClr val="6D6585"/>
                </a:solidFill>
                <a:latin typeface="Calibri"/>
              </a:rPr>
              <a:t>→ 5 HTML pages</a:t>
            </a:r>
          </a:p>
        </p:txBody>
      </p:sp>
      <p:sp>
        <p:nvSpPr>
          <p:cNvPr id="43" name="TextBox 42"/>
          <p:cNvSpPr txBox="1"/>
          <p:nvPr/>
        </p:nvSpPr>
        <p:spPr>
          <a:xfrm>
            <a:off x="713232" y="3017520"/>
            <a:ext cx="1600200" cy="256032"/>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Lucide SVGs</a:t>
            </a:r>
          </a:p>
        </p:txBody>
      </p:sp>
      <p:sp>
        <p:nvSpPr>
          <p:cNvPr id="44" name="TextBox 43"/>
          <p:cNvSpPr txBox="1"/>
          <p:nvPr/>
        </p:nvSpPr>
        <p:spPr>
          <a:xfrm>
            <a:off x="713232" y="3264408"/>
            <a:ext cx="1600200" cy="256032"/>
          </a:xfrm>
          <a:prstGeom prst="rect">
            <a:avLst/>
          </a:prstGeom>
          <a:noFill/>
        </p:spPr>
        <p:txBody>
          <a:bodyPr wrap="square" lIns="0" rIns="0" tIns="0" bIns="0" anchor="t">
            <a:noAutofit/>
          </a:bodyPr>
          <a:lstStyle/>
          <a:p>
            <a:pPr algn="l">
              <a:spcAft>
                <a:spcPts val="400"/>
              </a:spcAft>
            </a:pPr>
            <a:r>
              <a:rPr sz="1000" b="0" i="0">
                <a:solidFill>
                  <a:srgbClr val="4A3A8F"/>
                </a:solidFill>
                <a:latin typeface="Calibri"/>
              </a:rPr>
              <a:t>→ build.mjs</a:t>
            </a:r>
          </a:p>
        </p:txBody>
      </p:sp>
      <p:sp>
        <p:nvSpPr>
          <p:cNvPr id="45" name="TextBox 44"/>
          <p:cNvSpPr txBox="1"/>
          <p:nvPr/>
        </p:nvSpPr>
        <p:spPr>
          <a:xfrm>
            <a:off x="713232" y="3511296"/>
            <a:ext cx="1600200" cy="256032"/>
          </a:xfrm>
          <a:prstGeom prst="rect">
            <a:avLst/>
          </a:prstGeom>
          <a:noFill/>
        </p:spPr>
        <p:txBody>
          <a:bodyPr wrap="square" lIns="0" rIns="0" tIns="0" bIns="0" anchor="t">
            <a:noAutofit/>
          </a:bodyPr>
          <a:lstStyle/>
          <a:p>
            <a:pPr algn="l">
              <a:spcAft>
                <a:spcPts val="400"/>
              </a:spcAft>
            </a:pPr>
            <a:r>
              <a:rPr sz="1000" b="0" i="0">
                <a:solidFill>
                  <a:srgbClr val="6D6585"/>
                </a:solidFill>
                <a:latin typeface="Calibri"/>
              </a:rPr>
              <a:t>→ icons.js (58 icons)</a:t>
            </a:r>
          </a:p>
        </p:txBody>
      </p:sp>
      <p:sp>
        <p:nvSpPr>
          <p:cNvPr id="46" name="TextBox 45"/>
          <p:cNvSpPr txBox="1"/>
          <p:nvPr/>
        </p:nvSpPr>
        <p:spPr>
          <a:xfrm>
            <a:off x="713232" y="4069079"/>
            <a:ext cx="1600200" cy="256032"/>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hero-scene.js</a:t>
            </a:r>
          </a:p>
        </p:txBody>
      </p:sp>
      <p:sp>
        <p:nvSpPr>
          <p:cNvPr id="47" name="TextBox 46"/>
          <p:cNvSpPr txBox="1"/>
          <p:nvPr/>
        </p:nvSpPr>
        <p:spPr>
          <a:xfrm>
            <a:off x="713232" y="4315967"/>
            <a:ext cx="1600200" cy="256032"/>
          </a:xfrm>
          <a:prstGeom prst="rect">
            <a:avLst/>
          </a:prstGeom>
          <a:noFill/>
        </p:spPr>
        <p:txBody>
          <a:bodyPr wrap="square" lIns="0" rIns="0" tIns="0" bIns="0" anchor="t">
            <a:noAutofit/>
          </a:bodyPr>
          <a:lstStyle/>
          <a:p>
            <a:pPr algn="l">
              <a:spcAft>
                <a:spcPts val="400"/>
              </a:spcAft>
            </a:pPr>
            <a:r>
              <a:rPr sz="1000" b="0" i="0">
                <a:solidFill>
                  <a:srgbClr val="4A3A8F"/>
                </a:solidFill>
                <a:latin typeface="Calibri"/>
              </a:rPr>
              <a:t>→ esbuild</a:t>
            </a:r>
          </a:p>
        </p:txBody>
      </p:sp>
      <p:sp>
        <p:nvSpPr>
          <p:cNvPr id="48" name="TextBox 47"/>
          <p:cNvSpPr txBox="1"/>
          <p:nvPr/>
        </p:nvSpPr>
        <p:spPr>
          <a:xfrm>
            <a:off x="713232" y="4562855"/>
            <a:ext cx="1600200" cy="256032"/>
          </a:xfrm>
          <a:prstGeom prst="rect">
            <a:avLst/>
          </a:prstGeom>
          <a:noFill/>
        </p:spPr>
        <p:txBody>
          <a:bodyPr wrap="square" lIns="0" rIns="0" tIns="0" bIns="0" anchor="t">
            <a:noAutofit/>
          </a:bodyPr>
          <a:lstStyle/>
          <a:p>
            <a:pPr algn="l">
              <a:spcAft>
                <a:spcPts val="400"/>
              </a:spcAft>
            </a:pPr>
            <a:r>
              <a:rPr sz="1000" b="0" i="0">
                <a:solidFill>
                  <a:srgbClr val="6D6585"/>
                </a:solidFill>
                <a:latin typeface="Calibri"/>
              </a:rPr>
              <a:t>→ 3D bundle</a:t>
            </a:r>
          </a:p>
        </p:txBody>
      </p:sp>
      <p:cxnSp>
        <p:nvCxnSpPr>
          <p:cNvPr id="49" name="Connector 48"/>
          <p:cNvCxnSpPr/>
          <p:nvPr/>
        </p:nvCxnSpPr>
        <p:spPr>
          <a:xfrm>
            <a:off x="2441448" y="3291840"/>
            <a:ext cx="283464" cy="0"/>
          </a:xfrm>
          <a:prstGeom prst="line">
            <a:avLst/>
          </a:prstGeom>
          <a:ln w="22225">
            <a:solidFill>
              <a:srgbClr val="6D658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765792" y="1481328"/>
            <a:ext cx="1874519" cy="3822191"/>
          </a:xfrm>
          <a:prstGeom prst="roundRect">
            <a:avLst>
              <a:gd name="adj" fmla="val 5853"/>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930384" y="1600200"/>
            <a:ext cx="1600200" cy="274320"/>
          </a:xfrm>
          <a:prstGeom prst="rect">
            <a:avLst/>
          </a:prstGeom>
          <a:noFill/>
        </p:spPr>
        <p:txBody>
          <a:bodyPr wrap="square" lIns="0" rIns="0" tIns="0" bIns="0" anchor="t">
            <a:noAutofit/>
          </a:bodyPr>
          <a:lstStyle/>
          <a:p>
            <a:pPr algn="l">
              <a:spcAft>
                <a:spcPts val="400"/>
              </a:spcAft>
            </a:pPr>
            <a:r>
              <a:rPr sz="1050" b="1" i="0">
                <a:solidFill>
                  <a:srgbClr val="EF7D42"/>
                </a:solidFill>
                <a:latin typeface="Calibri"/>
              </a:rPr>
              <a:t>EXTERNAL</a:t>
            </a:r>
          </a:p>
        </p:txBody>
      </p:sp>
      <p:pic>
        <p:nvPicPr>
          <p:cNvPr id="52" name="Picture 51" descr="image-v.png"/>
          <p:cNvPicPr>
            <a:picLocks noChangeAspect="1"/>
          </p:cNvPicPr>
          <p:nvPr/>
        </p:nvPicPr>
        <p:blipFill>
          <a:blip r:embed="rId2"/>
          <a:stretch>
            <a:fillRect/>
          </a:stretch>
        </p:blipFill>
        <p:spPr>
          <a:xfrm>
            <a:off x="9930384" y="1965960"/>
            <a:ext cx="292608" cy="292608"/>
          </a:xfrm>
          <a:prstGeom prst="rect">
            <a:avLst/>
          </a:prstGeom>
        </p:spPr>
      </p:pic>
      <p:sp>
        <p:nvSpPr>
          <p:cNvPr id="53" name="TextBox 52"/>
          <p:cNvSpPr txBox="1"/>
          <p:nvPr/>
        </p:nvSpPr>
        <p:spPr>
          <a:xfrm>
            <a:off x="10287000" y="1947672"/>
            <a:ext cx="1280160" cy="274320"/>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Wikimedia Commons</a:t>
            </a:r>
          </a:p>
        </p:txBody>
      </p:sp>
      <p:sp>
        <p:nvSpPr>
          <p:cNvPr id="54" name="TextBox 53"/>
          <p:cNvSpPr txBox="1"/>
          <p:nvPr/>
        </p:nvSpPr>
        <p:spPr>
          <a:xfrm>
            <a:off x="9930384" y="2331720"/>
            <a:ext cx="1600200" cy="457200"/>
          </a:xfrm>
          <a:prstGeom prst="rect">
            <a:avLst/>
          </a:prstGeom>
          <a:noFill/>
        </p:spPr>
        <p:txBody>
          <a:bodyPr wrap="square" lIns="0" rIns="0" tIns="0" bIns="0" anchor="t">
            <a:noAutofit/>
          </a:bodyPr>
          <a:lstStyle/>
          <a:p>
            <a:pPr algn="l">
              <a:spcAft>
                <a:spcPts val="400"/>
              </a:spcAft>
            </a:pPr>
            <a:r>
              <a:rPr sz="950" b="0" i="0">
                <a:solidFill>
                  <a:srgbClr val="6D6585"/>
                </a:solidFill>
                <a:latin typeface="Calibri"/>
              </a:rPr>
              <a:t>photos, CC licences</a:t>
            </a:r>
          </a:p>
        </p:txBody>
      </p:sp>
      <p:pic>
        <p:nvPicPr>
          <p:cNvPr id="55" name="Picture 54" descr="map-v.png"/>
          <p:cNvPicPr>
            <a:picLocks noChangeAspect="1"/>
          </p:cNvPicPr>
          <p:nvPr/>
        </p:nvPicPr>
        <p:blipFill>
          <a:blip r:embed="rId3"/>
          <a:stretch>
            <a:fillRect/>
          </a:stretch>
        </p:blipFill>
        <p:spPr>
          <a:xfrm>
            <a:off x="9930384" y="3017520"/>
            <a:ext cx="292608" cy="292608"/>
          </a:xfrm>
          <a:prstGeom prst="rect">
            <a:avLst/>
          </a:prstGeom>
        </p:spPr>
      </p:pic>
      <p:sp>
        <p:nvSpPr>
          <p:cNvPr id="56" name="TextBox 55"/>
          <p:cNvSpPr txBox="1"/>
          <p:nvPr/>
        </p:nvSpPr>
        <p:spPr>
          <a:xfrm>
            <a:off x="10287000" y="2999232"/>
            <a:ext cx="1280160" cy="274320"/>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Esri / OSM tiles</a:t>
            </a:r>
          </a:p>
        </p:txBody>
      </p:sp>
      <p:sp>
        <p:nvSpPr>
          <p:cNvPr id="57" name="TextBox 56"/>
          <p:cNvSpPr txBox="1"/>
          <p:nvPr/>
        </p:nvSpPr>
        <p:spPr>
          <a:xfrm>
            <a:off x="9930384" y="3383279"/>
            <a:ext cx="1600200" cy="457200"/>
          </a:xfrm>
          <a:prstGeom prst="rect">
            <a:avLst/>
          </a:prstGeom>
          <a:noFill/>
        </p:spPr>
        <p:txBody>
          <a:bodyPr wrap="square" lIns="0" rIns="0" tIns="0" bIns="0" anchor="t">
            <a:noAutofit/>
          </a:bodyPr>
          <a:lstStyle/>
          <a:p>
            <a:pPr algn="l">
              <a:spcAft>
                <a:spcPts val="400"/>
              </a:spcAft>
            </a:pPr>
            <a:r>
              <a:rPr sz="950" b="0" i="0">
                <a:solidFill>
                  <a:srgbClr val="6D6585"/>
                </a:solidFill>
                <a:latin typeface="Calibri"/>
              </a:rPr>
              <a:t>map background</a:t>
            </a:r>
          </a:p>
        </p:txBody>
      </p:sp>
      <p:pic>
        <p:nvPicPr>
          <p:cNvPr id="58" name="Picture 57" descr="sparkles-v.png"/>
          <p:cNvPicPr>
            <a:picLocks noChangeAspect="1"/>
          </p:cNvPicPr>
          <p:nvPr/>
        </p:nvPicPr>
        <p:blipFill>
          <a:blip r:embed="rId4"/>
          <a:stretch>
            <a:fillRect/>
          </a:stretch>
        </p:blipFill>
        <p:spPr>
          <a:xfrm>
            <a:off x="9930384" y="4069079"/>
            <a:ext cx="292608" cy="292608"/>
          </a:xfrm>
          <a:prstGeom prst="rect">
            <a:avLst/>
          </a:prstGeom>
        </p:spPr>
      </p:pic>
      <p:sp>
        <p:nvSpPr>
          <p:cNvPr id="59" name="TextBox 58"/>
          <p:cNvSpPr txBox="1"/>
          <p:nvPr/>
        </p:nvSpPr>
        <p:spPr>
          <a:xfrm>
            <a:off x="10287000" y="4050791"/>
            <a:ext cx="1280160" cy="274320"/>
          </a:xfrm>
          <a:prstGeom prst="rect">
            <a:avLst/>
          </a:prstGeom>
          <a:noFill/>
        </p:spPr>
        <p:txBody>
          <a:bodyPr wrap="square" lIns="0" rIns="0" tIns="0" bIns="0" anchor="t">
            <a:noAutofit/>
          </a:bodyPr>
          <a:lstStyle/>
          <a:p>
            <a:pPr algn="l">
              <a:spcAft>
                <a:spcPts val="400"/>
              </a:spcAft>
            </a:pPr>
            <a:r>
              <a:rPr sz="1000" b="1" i="0">
                <a:solidFill>
                  <a:srgbClr val="1C1638"/>
                </a:solidFill>
                <a:latin typeface="Calibri"/>
              </a:rPr>
              <a:t>Google Fonts</a:t>
            </a:r>
          </a:p>
        </p:txBody>
      </p:sp>
      <p:sp>
        <p:nvSpPr>
          <p:cNvPr id="60" name="TextBox 59"/>
          <p:cNvSpPr txBox="1"/>
          <p:nvPr/>
        </p:nvSpPr>
        <p:spPr>
          <a:xfrm>
            <a:off x="9930384" y="4434840"/>
            <a:ext cx="1600200" cy="457200"/>
          </a:xfrm>
          <a:prstGeom prst="rect">
            <a:avLst/>
          </a:prstGeom>
          <a:noFill/>
        </p:spPr>
        <p:txBody>
          <a:bodyPr wrap="square" lIns="0" rIns="0" tIns="0" bIns="0" anchor="t">
            <a:noAutofit/>
          </a:bodyPr>
          <a:lstStyle/>
          <a:p>
            <a:pPr algn="l">
              <a:spcAft>
                <a:spcPts val="400"/>
              </a:spcAft>
            </a:pPr>
            <a:r>
              <a:rPr sz="950" b="0" i="0">
                <a:solidFill>
                  <a:srgbClr val="6D6585"/>
                </a:solidFill>
                <a:latin typeface="Calibri"/>
              </a:rPr>
              <a:t>Young Serif, Instrument Sans</a:t>
            </a:r>
          </a:p>
        </p:txBody>
      </p:sp>
      <p:cxnSp>
        <p:nvCxnSpPr>
          <p:cNvPr id="61" name="Connector 60"/>
          <p:cNvCxnSpPr/>
          <p:nvPr/>
        </p:nvCxnSpPr>
        <p:spPr>
          <a:xfrm flipH="1">
            <a:off x="9436608" y="3291840"/>
            <a:ext cx="310896" cy="0"/>
          </a:xfrm>
          <a:prstGeom prst="line">
            <a:avLst/>
          </a:prstGeom>
          <a:ln w="22225">
            <a:solidFill>
              <a:srgbClr val="6D658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48640" y="5532120"/>
            <a:ext cx="11064240" cy="731520"/>
          </a:xfrm>
          <a:prstGeom prst="rect">
            <a:avLst/>
          </a:prstGeom>
          <a:noFill/>
        </p:spPr>
        <p:txBody>
          <a:bodyPr wrap="square" lIns="0" rIns="0" tIns="0" bIns="0" anchor="t">
            <a:noAutofit/>
          </a:bodyPr>
          <a:lstStyle/>
          <a:p>
            <a:pPr algn="l">
              <a:spcAft>
                <a:spcPts val="400"/>
              </a:spcAft>
            </a:pPr>
            <a:r>
              <a:rPr sz="1250" b="1" i="0">
                <a:solidFill>
                  <a:srgbClr val="EF7D42"/>
                </a:solidFill>
                <a:latin typeface="Calibri"/>
              </a:rPr>
              <a:t>No server. </a:t>
            </a:r>
            <a:r>
              <a:rPr sz="1250" b="0" i="0">
                <a:solidFill>
                  <a:srgbClr val="2B2257"/>
                </a:solidFill>
                <a:latin typeface="Calibri"/>
              </a:rPr>
              <a:t>Every page loads the shared modules first, then its own script. Leaflet and the Three.js bundle load only when needed, so nothing blocks the first paint. The site also opens straight from a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User Workflow</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FROM IDEA TO BOOKING</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10</a:t>
            </a:r>
          </a:p>
        </p:txBody>
      </p:sp>
      <p:sp>
        <p:nvSpPr>
          <p:cNvPr id="6" name="Rounded Rectangle 5"/>
          <p:cNvSpPr/>
          <p:nvPr/>
        </p:nvSpPr>
        <p:spPr>
          <a:xfrm>
            <a:off x="548640"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85800"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8" name="Oval 7"/>
          <p:cNvSpPr/>
          <p:nvPr/>
        </p:nvSpPr>
        <p:spPr>
          <a:xfrm>
            <a:off x="1037844"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mpass-w.png"/>
          <p:cNvPicPr>
            <a:picLocks noChangeAspect="1"/>
          </p:cNvPicPr>
          <p:nvPr/>
        </p:nvPicPr>
        <p:blipFill>
          <a:blip r:embed="rId2"/>
          <a:stretch>
            <a:fillRect/>
          </a:stretch>
        </p:blipFill>
        <p:spPr>
          <a:xfrm>
            <a:off x="1209294" y="2411730"/>
            <a:ext cx="342900" cy="342900"/>
          </a:xfrm>
          <a:prstGeom prst="rect">
            <a:avLst/>
          </a:prstGeom>
        </p:spPr>
      </p:pic>
      <p:sp>
        <p:nvSpPr>
          <p:cNvPr id="10" name="TextBox 9"/>
          <p:cNvSpPr txBox="1"/>
          <p:nvPr/>
        </p:nvSpPr>
        <p:spPr>
          <a:xfrm>
            <a:off x="548640"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Discover</a:t>
            </a:r>
          </a:p>
        </p:txBody>
      </p:sp>
      <p:sp>
        <p:nvSpPr>
          <p:cNvPr id="11" name="Rounded Rectangle 10"/>
          <p:cNvSpPr/>
          <p:nvPr/>
        </p:nvSpPr>
        <p:spPr>
          <a:xfrm>
            <a:off x="1143000" y="3493008"/>
            <a:ext cx="475488"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3493008"/>
            <a:ext cx="475488"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Home</a:t>
            </a:r>
          </a:p>
        </p:txBody>
      </p:sp>
      <p:sp>
        <p:nvSpPr>
          <p:cNvPr id="13" name="TextBox 12"/>
          <p:cNvSpPr txBox="1"/>
          <p:nvPr/>
        </p:nvSpPr>
        <p:spPr>
          <a:xfrm>
            <a:off x="685800"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Search, trip types, in-season picks</a:t>
            </a:r>
          </a:p>
        </p:txBody>
      </p:sp>
      <p:cxnSp>
        <p:nvCxnSpPr>
          <p:cNvPr id="14" name="Connector 13"/>
          <p:cNvCxnSpPr/>
          <p:nvPr/>
        </p:nvCxnSpPr>
        <p:spPr>
          <a:xfrm>
            <a:off x="2231136"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32304"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569464"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7" name="Oval 16"/>
          <p:cNvSpPr/>
          <p:nvPr/>
        </p:nvSpPr>
        <p:spPr>
          <a:xfrm>
            <a:off x="2921508"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ok-open-w.png"/>
          <p:cNvPicPr>
            <a:picLocks noChangeAspect="1"/>
          </p:cNvPicPr>
          <p:nvPr/>
        </p:nvPicPr>
        <p:blipFill>
          <a:blip r:embed="rId3"/>
          <a:stretch>
            <a:fillRect/>
          </a:stretch>
        </p:blipFill>
        <p:spPr>
          <a:xfrm>
            <a:off x="3092958" y="2411730"/>
            <a:ext cx="342900" cy="342900"/>
          </a:xfrm>
          <a:prstGeom prst="rect">
            <a:avLst/>
          </a:prstGeom>
        </p:spPr>
      </p:pic>
      <p:sp>
        <p:nvSpPr>
          <p:cNvPr id="19" name="TextBox 18"/>
          <p:cNvSpPr txBox="1"/>
          <p:nvPr/>
        </p:nvSpPr>
        <p:spPr>
          <a:xfrm>
            <a:off x="2432304"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Learn</a:t>
            </a:r>
          </a:p>
        </p:txBody>
      </p:sp>
      <p:sp>
        <p:nvSpPr>
          <p:cNvPr id="20" name="Rounded Rectangle 19"/>
          <p:cNvSpPr/>
          <p:nvPr/>
        </p:nvSpPr>
        <p:spPr>
          <a:xfrm>
            <a:off x="2916936" y="3493008"/>
            <a:ext cx="694944"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916936" y="3493008"/>
            <a:ext cx="694944"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Explore</a:t>
            </a:r>
          </a:p>
        </p:txBody>
      </p:sp>
      <p:sp>
        <p:nvSpPr>
          <p:cNvPr id="22" name="TextBox 21"/>
          <p:cNvSpPr txBox="1"/>
          <p:nvPr/>
        </p:nvSpPr>
        <p:spPr>
          <a:xfrm>
            <a:off x="2569464"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Season, routes, daily cost, scams, map</a:t>
            </a:r>
          </a:p>
        </p:txBody>
      </p:sp>
      <p:cxnSp>
        <p:nvCxnSpPr>
          <p:cNvPr id="23" name="Connector 22"/>
          <p:cNvCxnSpPr/>
          <p:nvPr/>
        </p:nvCxnSpPr>
        <p:spPr>
          <a:xfrm>
            <a:off x="4114800"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15968"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453128"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26" name="Oval 25"/>
          <p:cNvSpPr/>
          <p:nvPr/>
        </p:nvSpPr>
        <p:spPr>
          <a:xfrm>
            <a:off x="4805172"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oute-w.png"/>
          <p:cNvPicPr>
            <a:picLocks noChangeAspect="1"/>
          </p:cNvPicPr>
          <p:nvPr/>
        </p:nvPicPr>
        <p:blipFill>
          <a:blip r:embed="rId4"/>
          <a:stretch>
            <a:fillRect/>
          </a:stretch>
        </p:blipFill>
        <p:spPr>
          <a:xfrm>
            <a:off x="4976622" y="2411730"/>
            <a:ext cx="342900" cy="342900"/>
          </a:xfrm>
          <a:prstGeom prst="rect">
            <a:avLst/>
          </a:prstGeom>
        </p:spPr>
      </p:pic>
      <p:sp>
        <p:nvSpPr>
          <p:cNvPr id="28" name="TextBox 27"/>
          <p:cNvSpPr txBox="1"/>
          <p:nvPr/>
        </p:nvSpPr>
        <p:spPr>
          <a:xfrm>
            <a:off x="4315968"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Plan</a:t>
            </a:r>
          </a:p>
        </p:txBody>
      </p:sp>
      <p:sp>
        <p:nvSpPr>
          <p:cNvPr id="29" name="Rounded Rectangle 28"/>
          <p:cNvSpPr/>
          <p:nvPr/>
        </p:nvSpPr>
        <p:spPr>
          <a:xfrm>
            <a:off x="4581144" y="3493008"/>
            <a:ext cx="113385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81144" y="3493008"/>
            <a:ext cx="113385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Plan &amp; budget</a:t>
            </a:r>
          </a:p>
        </p:txBody>
      </p:sp>
      <p:sp>
        <p:nvSpPr>
          <p:cNvPr id="31" name="TextBox 30"/>
          <p:cNvSpPr txBox="1"/>
          <p:nvPr/>
        </p:nvSpPr>
        <p:spPr>
          <a:xfrm>
            <a:off x="4453128"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Add stops, reorder, set nights and dates</a:t>
            </a:r>
          </a:p>
        </p:txBody>
      </p:sp>
      <p:cxnSp>
        <p:nvCxnSpPr>
          <p:cNvPr id="32" name="Connector 31"/>
          <p:cNvCxnSpPr/>
          <p:nvPr/>
        </p:nvCxnSpPr>
        <p:spPr>
          <a:xfrm>
            <a:off x="5998464"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99631"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336792"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35" name="Oval 34"/>
          <p:cNvSpPr/>
          <p:nvPr/>
        </p:nvSpPr>
        <p:spPr>
          <a:xfrm>
            <a:off x="6688836"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wallet-w.png"/>
          <p:cNvPicPr>
            <a:picLocks noChangeAspect="1"/>
          </p:cNvPicPr>
          <p:nvPr/>
        </p:nvPicPr>
        <p:blipFill>
          <a:blip r:embed="rId5"/>
          <a:stretch>
            <a:fillRect/>
          </a:stretch>
        </p:blipFill>
        <p:spPr>
          <a:xfrm>
            <a:off x="6860286" y="2411730"/>
            <a:ext cx="342900" cy="342900"/>
          </a:xfrm>
          <a:prstGeom prst="rect">
            <a:avLst/>
          </a:prstGeom>
        </p:spPr>
      </p:pic>
      <p:sp>
        <p:nvSpPr>
          <p:cNvPr id="37" name="TextBox 36"/>
          <p:cNvSpPr txBox="1"/>
          <p:nvPr/>
        </p:nvSpPr>
        <p:spPr>
          <a:xfrm>
            <a:off x="6199631"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Budget</a:t>
            </a:r>
          </a:p>
        </p:txBody>
      </p:sp>
      <p:sp>
        <p:nvSpPr>
          <p:cNvPr id="38" name="Rounded Rectangle 37"/>
          <p:cNvSpPr/>
          <p:nvPr/>
        </p:nvSpPr>
        <p:spPr>
          <a:xfrm>
            <a:off x="6464807" y="3493008"/>
            <a:ext cx="113385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64807" y="3493008"/>
            <a:ext cx="113385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Plan &amp; budget</a:t>
            </a:r>
          </a:p>
        </p:txBody>
      </p:sp>
      <p:sp>
        <p:nvSpPr>
          <p:cNvPr id="40" name="TextBox 39"/>
          <p:cNvSpPr txBox="1"/>
          <p:nvPr/>
        </p:nvSpPr>
        <p:spPr>
          <a:xfrm>
            <a:off x="6336792"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Live breakdown, target meter, warnings</a:t>
            </a:r>
          </a:p>
        </p:txBody>
      </p:sp>
      <p:cxnSp>
        <p:nvCxnSpPr>
          <p:cNvPr id="41" name="Connector 40"/>
          <p:cNvCxnSpPr/>
          <p:nvPr/>
        </p:nvCxnSpPr>
        <p:spPr>
          <a:xfrm>
            <a:off x="7882127" y="3291840"/>
            <a:ext cx="182881"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083296" y="1920240"/>
            <a:ext cx="1664208" cy="2743200"/>
          </a:xfrm>
          <a:prstGeom prst="roundRect">
            <a:avLst>
              <a:gd name="adj" fmla="val 7692"/>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8220456"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44" name="Oval 43"/>
          <p:cNvSpPr/>
          <p:nvPr/>
        </p:nvSpPr>
        <p:spPr>
          <a:xfrm>
            <a:off x="8572500" y="2240280"/>
            <a:ext cx="685800" cy="6858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send-w.png"/>
          <p:cNvPicPr>
            <a:picLocks noChangeAspect="1"/>
          </p:cNvPicPr>
          <p:nvPr/>
        </p:nvPicPr>
        <p:blipFill>
          <a:blip r:embed="rId6"/>
          <a:stretch>
            <a:fillRect/>
          </a:stretch>
        </p:blipFill>
        <p:spPr>
          <a:xfrm>
            <a:off x="8743950" y="2411730"/>
            <a:ext cx="342900" cy="342900"/>
          </a:xfrm>
          <a:prstGeom prst="rect">
            <a:avLst/>
          </a:prstGeom>
        </p:spPr>
      </p:pic>
      <p:sp>
        <p:nvSpPr>
          <p:cNvPr id="46" name="TextBox 45"/>
          <p:cNvSpPr txBox="1"/>
          <p:nvPr/>
        </p:nvSpPr>
        <p:spPr>
          <a:xfrm>
            <a:off x="8083296"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Enquire</a:t>
            </a:r>
          </a:p>
        </p:txBody>
      </p:sp>
      <p:sp>
        <p:nvSpPr>
          <p:cNvPr id="47" name="Rounded Rectangle 46"/>
          <p:cNvSpPr/>
          <p:nvPr/>
        </p:nvSpPr>
        <p:spPr>
          <a:xfrm>
            <a:off x="8604504" y="3493008"/>
            <a:ext cx="621792"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604504" y="3493008"/>
            <a:ext cx="621792"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Agents</a:t>
            </a:r>
          </a:p>
        </p:txBody>
      </p:sp>
      <p:sp>
        <p:nvSpPr>
          <p:cNvPr id="49" name="TextBox 48"/>
          <p:cNvSpPr txBox="1"/>
          <p:nvPr/>
        </p:nvSpPr>
        <p:spPr>
          <a:xfrm>
            <a:off x="8220456"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Send the trip to one agent, track the quote</a:t>
            </a:r>
          </a:p>
        </p:txBody>
      </p:sp>
      <p:cxnSp>
        <p:nvCxnSpPr>
          <p:cNvPr id="50" name="Connector 49"/>
          <p:cNvCxnSpPr/>
          <p:nvPr/>
        </p:nvCxnSpPr>
        <p:spPr>
          <a:xfrm>
            <a:off x="9765792" y="3291840"/>
            <a:ext cx="182880"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966960" y="1920240"/>
            <a:ext cx="1664208" cy="2743200"/>
          </a:xfrm>
          <a:prstGeom prst="roundRect">
            <a:avLst>
              <a:gd name="adj" fmla="val 7692"/>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0104120" y="1755648"/>
            <a:ext cx="329184" cy="329184"/>
          </a:xfrm>
          <a:prstGeom prst="ellipse">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53" name="Oval 52"/>
          <p:cNvSpPr/>
          <p:nvPr/>
        </p:nvSpPr>
        <p:spPr>
          <a:xfrm>
            <a:off x="10456164" y="2240280"/>
            <a:ext cx="685800" cy="6858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ticket-w.png"/>
          <p:cNvPicPr>
            <a:picLocks noChangeAspect="1"/>
          </p:cNvPicPr>
          <p:nvPr/>
        </p:nvPicPr>
        <p:blipFill>
          <a:blip r:embed="rId7"/>
          <a:stretch>
            <a:fillRect/>
          </a:stretch>
        </p:blipFill>
        <p:spPr>
          <a:xfrm>
            <a:off x="10627614" y="2411730"/>
            <a:ext cx="342900" cy="342900"/>
          </a:xfrm>
          <a:prstGeom prst="rect">
            <a:avLst/>
          </a:prstGeom>
        </p:spPr>
      </p:pic>
      <p:sp>
        <p:nvSpPr>
          <p:cNvPr id="55" name="TextBox 54"/>
          <p:cNvSpPr txBox="1"/>
          <p:nvPr/>
        </p:nvSpPr>
        <p:spPr>
          <a:xfrm>
            <a:off x="9966960" y="3063240"/>
            <a:ext cx="1664208" cy="365760"/>
          </a:xfrm>
          <a:prstGeom prst="rect">
            <a:avLst/>
          </a:prstGeom>
          <a:noFill/>
        </p:spPr>
        <p:txBody>
          <a:bodyPr wrap="square" lIns="0" rIns="0" tIns="0" bIns="0" anchor="t">
            <a:noAutofit/>
          </a:bodyPr>
          <a:lstStyle/>
          <a:p>
            <a:pPr algn="ctr">
              <a:spcAft>
                <a:spcPts val="400"/>
              </a:spcAft>
            </a:pPr>
            <a:r>
              <a:rPr sz="1700" b="1" i="0">
                <a:solidFill>
                  <a:srgbClr val="1C1638"/>
                </a:solidFill>
                <a:latin typeface="Cambria"/>
              </a:rPr>
              <a:t>Book</a:t>
            </a:r>
          </a:p>
        </p:txBody>
      </p:sp>
      <p:sp>
        <p:nvSpPr>
          <p:cNvPr id="56" name="Rounded Rectangle 55"/>
          <p:cNvSpPr/>
          <p:nvPr/>
        </p:nvSpPr>
        <p:spPr>
          <a:xfrm>
            <a:off x="10415016" y="3493008"/>
            <a:ext cx="768096" cy="256032"/>
          </a:xfrm>
          <a:prstGeom prst="roundRect">
            <a:avLst>
              <a:gd name="adj" fmla="val 50000"/>
            </a:avLst>
          </a:prstGeom>
          <a:solidFill>
            <a:srgbClr val="FFFFFF"/>
          </a:solidFill>
          <a:ln w="9525">
            <a:solidFill>
              <a:srgbClr val="6A57B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415016" y="3493008"/>
            <a:ext cx="768096" cy="256032"/>
          </a:xfrm>
          <a:prstGeom prst="rect">
            <a:avLst/>
          </a:prstGeom>
          <a:noFill/>
        </p:spPr>
        <p:txBody>
          <a:bodyPr wrap="square" lIns="0" rIns="0" tIns="0" bIns="0" anchor="ctr">
            <a:noAutofit/>
          </a:bodyPr>
          <a:lstStyle/>
          <a:p>
            <a:pPr algn="ctr">
              <a:spcAft>
                <a:spcPts val="400"/>
              </a:spcAft>
            </a:pPr>
            <a:r>
              <a:rPr sz="950" b="1" i="0">
                <a:solidFill>
                  <a:srgbClr val="4A3A8F"/>
                </a:solidFill>
                <a:latin typeface="Calibri"/>
              </a:rPr>
              <a:t>Packages</a:t>
            </a:r>
          </a:p>
        </p:txBody>
      </p:sp>
      <p:sp>
        <p:nvSpPr>
          <p:cNvPr id="58" name="TextBox 57"/>
          <p:cNvSpPr txBox="1"/>
          <p:nvPr/>
        </p:nvSpPr>
        <p:spPr>
          <a:xfrm>
            <a:off x="10104120" y="3886200"/>
            <a:ext cx="1389888" cy="73152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Cart with GST, reserve with 20%</a:t>
            </a:r>
          </a:p>
        </p:txBody>
      </p:sp>
      <p:cxnSp>
        <p:nvCxnSpPr>
          <p:cNvPr id="59" name="Connector 58"/>
          <p:cNvCxnSpPr/>
          <p:nvPr/>
        </p:nvCxnSpPr>
        <p:spPr>
          <a:xfrm>
            <a:off x="3264408" y="4681728"/>
            <a:ext cx="0" cy="393192"/>
          </a:xfrm>
          <a:prstGeom prst="line">
            <a:avLst/>
          </a:prstGeom>
          <a:ln w="19050">
            <a:solidFill>
              <a:srgbClr val="6A57B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264408" y="5074920"/>
            <a:ext cx="7534656" cy="0"/>
          </a:xfrm>
          <a:prstGeom prst="line">
            <a:avLst/>
          </a:prstGeom>
          <a:ln w="19050">
            <a:solidFill>
              <a:srgbClr val="6A57B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799064" y="4690872"/>
            <a:ext cx="0" cy="384048"/>
          </a:xfrm>
          <a:prstGeom prst="line">
            <a:avLst/>
          </a:prstGeom>
          <a:ln w="19050">
            <a:solidFill>
              <a:srgbClr val="6A57B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4206240" y="4919472"/>
            <a:ext cx="3749039" cy="329184"/>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4206240" y="4919472"/>
            <a:ext cx="3749039" cy="329184"/>
          </a:xfrm>
          <a:prstGeom prst="rect">
            <a:avLst/>
          </a:prstGeom>
          <a:noFill/>
        </p:spPr>
        <p:txBody>
          <a:bodyPr wrap="square" lIns="0" rIns="0" tIns="0" bIns="0" anchor="ctr">
            <a:noAutofit/>
          </a:bodyPr>
          <a:lstStyle/>
          <a:p>
            <a:pPr algn="ctr">
              <a:spcAft>
                <a:spcPts val="400"/>
              </a:spcAft>
            </a:pPr>
            <a:r>
              <a:rPr sz="1100" b="1" i="0">
                <a:solidFill>
                  <a:srgbClr val="4A3A8F"/>
                </a:solidFill>
                <a:latin typeface="Calibri"/>
              </a:rPr>
              <a:t>Shortcut: like a fixed package? Book it directly</a:t>
            </a:r>
          </a:p>
        </p:txBody>
      </p:sp>
      <p:sp>
        <p:nvSpPr>
          <p:cNvPr id="64" name="Rounded Rectangle 63"/>
          <p:cNvSpPr/>
          <p:nvPr/>
        </p:nvSpPr>
        <p:spPr>
          <a:xfrm>
            <a:off x="548640" y="5532120"/>
            <a:ext cx="11091672" cy="640080"/>
          </a:xfrm>
          <a:prstGeom prst="roundRect">
            <a:avLst>
              <a:gd name="adj" fmla="val 1714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5" name="Picture 64" descr="refresh-cw-w.png"/>
          <p:cNvPicPr>
            <a:picLocks noChangeAspect="1"/>
          </p:cNvPicPr>
          <p:nvPr/>
        </p:nvPicPr>
        <p:blipFill>
          <a:blip r:embed="rId8"/>
          <a:stretch>
            <a:fillRect/>
          </a:stretch>
        </p:blipFill>
        <p:spPr>
          <a:xfrm>
            <a:off x="777240" y="5687568"/>
            <a:ext cx="329184" cy="329184"/>
          </a:xfrm>
          <a:prstGeom prst="rect">
            <a:avLst/>
          </a:prstGeom>
        </p:spPr>
      </p:pic>
      <p:sp>
        <p:nvSpPr>
          <p:cNvPr id="66" name="TextBox 65"/>
          <p:cNvSpPr txBox="1"/>
          <p:nvPr/>
        </p:nvSpPr>
        <p:spPr>
          <a:xfrm>
            <a:off x="1280160" y="5532120"/>
            <a:ext cx="10149840" cy="640080"/>
          </a:xfrm>
          <a:prstGeom prst="rect">
            <a:avLst/>
          </a:prstGeom>
          <a:noFill/>
        </p:spPr>
        <p:txBody>
          <a:bodyPr wrap="square" lIns="0" rIns="0" tIns="0" bIns="0" anchor="ctr">
            <a:noAutofit/>
          </a:bodyPr>
          <a:lstStyle/>
          <a:p>
            <a:pPr algn="l">
              <a:spcAft>
                <a:spcPts val="400"/>
              </a:spcAft>
            </a:pPr>
            <a:r>
              <a:rPr sz="1250" b="1" i="0">
                <a:solidFill>
                  <a:srgbClr val="FFC46B"/>
                </a:solidFill>
                <a:latin typeface="Calibri"/>
              </a:rPr>
              <a:t>Shared state:  </a:t>
            </a:r>
            <a:r>
              <a:rPr sz="1250" b="0" i="0">
                <a:solidFill>
                  <a:srgbClr val="FFFFFF"/>
                </a:solidFill>
                <a:latin typeface="Calibri"/>
              </a:rPr>
              <a:t>the trip, cart, enquiries and bookings are saved in the browser, so the header counters and every page stay in sync, even across tabs.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Modules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REQUIREMENTS F1 TO F6</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11</a:t>
            </a:r>
          </a:p>
        </p:txBody>
      </p:sp>
      <p:sp>
        <p:nvSpPr>
          <p:cNvPr id="6" name="Rounded Rectangle 5"/>
          <p:cNvSpPr/>
          <p:nvPr/>
        </p:nvSpPr>
        <p:spPr>
          <a:xfrm>
            <a:off x="548640" y="155448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ass-w.png"/>
          <p:cNvPicPr>
            <a:picLocks noChangeAspect="1"/>
          </p:cNvPicPr>
          <p:nvPr/>
        </p:nvPicPr>
        <p:blipFill>
          <a:blip r:embed="rId2"/>
          <a:stretch>
            <a:fillRect/>
          </a:stretch>
        </p:blipFill>
        <p:spPr>
          <a:xfrm>
            <a:off x="902970" y="1908810"/>
            <a:ext cx="251460" cy="251460"/>
          </a:xfrm>
          <a:prstGeom prst="rect">
            <a:avLst/>
          </a:prstGeom>
        </p:spPr>
      </p:pic>
      <p:sp>
        <p:nvSpPr>
          <p:cNvPr id="9" name="TextBox 8"/>
          <p:cNvSpPr txBox="1"/>
          <p:nvPr/>
        </p:nvSpPr>
        <p:spPr>
          <a:xfrm>
            <a:off x="1417319" y="1773936"/>
            <a:ext cx="182880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F1</a:t>
            </a:r>
          </a:p>
        </p:txBody>
      </p:sp>
      <p:sp>
        <p:nvSpPr>
          <p:cNvPr id="10" name="TextBox 9"/>
          <p:cNvSpPr txBox="1"/>
          <p:nvPr/>
        </p:nvSpPr>
        <p:spPr>
          <a:xfrm>
            <a:off x="1417319" y="201168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Discover</a:t>
            </a:r>
          </a:p>
        </p:txBody>
      </p:sp>
      <p:sp>
        <p:nvSpPr>
          <p:cNvPr id="11" name="TextBox 10"/>
          <p:cNvSpPr txBox="1"/>
          <p:nvPr/>
        </p:nvSpPr>
        <p:spPr>
          <a:xfrm>
            <a:off x="822959" y="246888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Search with suggestions</a:t>
            </a:r>
          </a:p>
          <a:p>
            <a:pPr algn="l" marL="182880" indent="-182880">
              <a:spcAft>
                <a:spcPts val="400"/>
              </a:spcAft>
              <a:buClr>
                <a:srgbClr val="EF7D42"/>
              </a:buClr>
              <a:buFont typeface="Arial"/>
              <a:buChar char="•"/>
            </a:pPr>
            <a:r>
              <a:rPr sz="1200" b="0" i="0">
                <a:solidFill>
                  <a:srgbClr val="2B2257"/>
                </a:solidFill>
                <a:latin typeface="Calibri"/>
              </a:rPr>
              <a:t>Filters: month, region, type, daily budget</a:t>
            </a:r>
          </a:p>
          <a:p>
            <a:pPr algn="l" marL="182880" indent="-182880">
              <a:spcAft>
                <a:spcPts val="400"/>
              </a:spcAft>
              <a:buClr>
                <a:srgbClr val="EF7D42"/>
              </a:buClr>
              <a:buFont typeface="Arial"/>
              <a:buChar char="•"/>
            </a:pPr>
            <a:r>
              <a:rPr sz="1200" b="0" i="0">
                <a:solidFill>
                  <a:srgbClr val="2B2257"/>
                </a:solidFill>
                <a:latin typeface="Calibri"/>
              </a:rPr>
              <a:t>Filters saved in the URL</a:t>
            </a:r>
          </a:p>
        </p:txBody>
      </p:sp>
      <p:sp>
        <p:nvSpPr>
          <p:cNvPr id="12" name="Rounded Rectangle 11"/>
          <p:cNvSpPr/>
          <p:nvPr/>
        </p:nvSpPr>
        <p:spPr>
          <a:xfrm>
            <a:off x="4297679" y="155448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ook-open-w.png"/>
          <p:cNvPicPr>
            <a:picLocks noChangeAspect="1"/>
          </p:cNvPicPr>
          <p:nvPr/>
        </p:nvPicPr>
        <p:blipFill>
          <a:blip r:embed="rId3"/>
          <a:stretch>
            <a:fillRect/>
          </a:stretch>
        </p:blipFill>
        <p:spPr>
          <a:xfrm>
            <a:off x="4652009" y="1908810"/>
            <a:ext cx="251460" cy="251460"/>
          </a:xfrm>
          <a:prstGeom prst="rect">
            <a:avLst/>
          </a:prstGeom>
        </p:spPr>
      </p:pic>
      <p:sp>
        <p:nvSpPr>
          <p:cNvPr id="15" name="TextBox 14"/>
          <p:cNvSpPr txBox="1"/>
          <p:nvPr/>
        </p:nvSpPr>
        <p:spPr>
          <a:xfrm>
            <a:off x="5166359" y="1773936"/>
            <a:ext cx="182880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F2</a:t>
            </a:r>
          </a:p>
        </p:txBody>
      </p:sp>
      <p:sp>
        <p:nvSpPr>
          <p:cNvPr id="16" name="TextBox 15"/>
          <p:cNvSpPr txBox="1"/>
          <p:nvPr/>
        </p:nvSpPr>
        <p:spPr>
          <a:xfrm>
            <a:off x="5166359" y="201168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Learn</a:t>
            </a:r>
          </a:p>
        </p:txBody>
      </p:sp>
      <p:sp>
        <p:nvSpPr>
          <p:cNvPr id="17" name="TextBox 16"/>
          <p:cNvSpPr txBox="1"/>
          <p:nvPr/>
        </p:nvSpPr>
        <p:spPr>
          <a:xfrm>
            <a:off x="4571999" y="246888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Best months strip</a:t>
            </a:r>
          </a:p>
          <a:p>
            <a:pPr algn="l" marL="182880" indent="-182880">
              <a:spcAft>
                <a:spcPts val="400"/>
              </a:spcAft>
              <a:buClr>
                <a:srgbClr val="EF7D42"/>
              </a:buClr>
              <a:buFont typeface="Arial"/>
              <a:buChar char="•"/>
            </a:pPr>
            <a:r>
              <a:rPr sz="1200" b="0" i="0">
                <a:solidFill>
                  <a:srgbClr val="2B2257"/>
                </a:solidFill>
                <a:latin typeface="Calibri"/>
              </a:rPr>
              <a:t>Getting there by air, rail, road</a:t>
            </a:r>
          </a:p>
          <a:p>
            <a:pPr algn="l" marL="182880" indent="-182880">
              <a:spcAft>
                <a:spcPts val="400"/>
              </a:spcAft>
              <a:buClr>
                <a:srgbClr val="EF7D42"/>
              </a:buClr>
              <a:buFont typeface="Arial"/>
              <a:buChar char="•"/>
            </a:pPr>
            <a:r>
              <a:rPr sz="1200" b="0" i="0">
                <a:solidFill>
                  <a:srgbClr val="2B2257"/>
                </a:solidFill>
                <a:latin typeface="Calibri"/>
              </a:rPr>
              <a:t>Tips, scams and a location map</a:t>
            </a:r>
          </a:p>
        </p:txBody>
      </p:sp>
      <p:sp>
        <p:nvSpPr>
          <p:cNvPr id="18" name="Rounded Rectangle 17"/>
          <p:cNvSpPr/>
          <p:nvPr/>
        </p:nvSpPr>
        <p:spPr>
          <a:xfrm>
            <a:off x="8046719" y="155448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ute-w.png"/>
          <p:cNvPicPr>
            <a:picLocks noChangeAspect="1"/>
          </p:cNvPicPr>
          <p:nvPr/>
        </p:nvPicPr>
        <p:blipFill>
          <a:blip r:embed="rId4"/>
          <a:stretch>
            <a:fillRect/>
          </a:stretch>
        </p:blipFill>
        <p:spPr>
          <a:xfrm>
            <a:off x="8401049" y="1908810"/>
            <a:ext cx="251460" cy="251460"/>
          </a:xfrm>
          <a:prstGeom prst="rect">
            <a:avLst/>
          </a:prstGeom>
        </p:spPr>
      </p:pic>
      <p:sp>
        <p:nvSpPr>
          <p:cNvPr id="21" name="TextBox 20"/>
          <p:cNvSpPr txBox="1"/>
          <p:nvPr/>
        </p:nvSpPr>
        <p:spPr>
          <a:xfrm>
            <a:off x="8915399" y="1773936"/>
            <a:ext cx="1828800" cy="274320"/>
          </a:xfrm>
          <a:prstGeom prst="rect">
            <a:avLst/>
          </a:prstGeom>
          <a:noFill/>
        </p:spPr>
        <p:txBody>
          <a:bodyPr wrap="square" lIns="0" rIns="0" tIns="0" bIns="0" anchor="t">
            <a:noAutofit/>
          </a:bodyPr>
          <a:lstStyle/>
          <a:p>
            <a:pPr algn="l">
              <a:spcAft>
                <a:spcPts val="400"/>
              </a:spcAft>
            </a:pPr>
            <a:r>
              <a:rPr sz="1100" b="1" i="0">
                <a:solidFill>
                  <a:srgbClr val="EF7D42"/>
                </a:solidFill>
                <a:latin typeface="Calibri"/>
              </a:rPr>
              <a:t>F3</a:t>
            </a:r>
          </a:p>
        </p:txBody>
      </p:sp>
      <p:sp>
        <p:nvSpPr>
          <p:cNvPr id="22" name="TextBox 21"/>
          <p:cNvSpPr txBox="1"/>
          <p:nvPr/>
        </p:nvSpPr>
        <p:spPr>
          <a:xfrm>
            <a:off x="8915399" y="201168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Itinerary</a:t>
            </a:r>
          </a:p>
        </p:txBody>
      </p:sp>
      <p:sp>
        <p:nvSpPr>
          <p:cNvPr id="23" name="TextBox 22"/>
          <p:cNvSpPr txBox="1"/>
          <p:nvPr/>
        </p:nvSpPr>
        <p:spPr>
          <a:xfrm>
            <a:off x="8321040" y="246888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Add, remove, reorder stops</a:t>
            </a:r>
          </a:p>
          <a:p>
            <a:pPr algn="l" marL="182880" indent="-182880">
              <a:spcAft>
                <a:spcPts val="400"/>
              </a:spcAft>
              <a:buClr>
                <a:srgbClr val="EF7D42"/>
              </a:buClr>
              <a:buFont typeface="Arial"/>
              <a:buChar char="•"/>
            </a:pPr>
            <a:r>
              <a:rPr sz="1200" b="0" i="0">
                <a:solidFill>
                  <a:srgbClr val="2B2257"/>
                </a:solidFill>
                <a:latin typeface="Calibri"/>
              </a:rPr>
              <a:t>Nights per stop, start date</a:t>
            </a:r>
          </a:p>
          <a:p>
            <a:pPr algn="l" marL="182880" indent="-182880">
              <a:spcAft>
                <a:spcPts val="400"/>
              </a:spcAft>
              <a:buClr>
                <a:srgbClr val="EF7D42"/>
              </a:buClr>
              <a:buFont typeface="Arial"/>
              <a:buChar char="•"/>
            </a:pPr>
            <a:r>
              <a:rPr sz="1200" b="0" i="0">
                <a:solidFill>
                  <a:srgbClr val="2B2257"/>
                </a:solidFill>
                <a:latin typeface="Calibri"/>
              </a:rPr>
              <a:t>Dated day-by-day plan, season warnings</a:t>
            </a:r>
          </a:p>
        </p:txBody>
      </p:sp>
      <p:sp>
        <p:nvSpPr>
          <p:cNvPr id="24" name="Rounded Rectangle 23"/>
          <p:cNvSpPr/>
          <p:nvPr/>
        </p:nvSpPr>
        <p:spPr>
          <a:xfrm>
            <a:off x="548640" y="393192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77240"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wallet-w.png"/>
          <p:cNvPicPr>
            <a:picLocks noChangeAspect="1"/>
          </p:cNvPicPr>
          <p:nvPr/>
        </p:nvPicPr>
        <p:blipFill>
          <a:blip r:embed="rId5"/>
          <a:stretch>
            <a:fillRect/>
          </a:stretch>
        </p:blipFill>
        <p:spPr>
          <a:xfrm>
            <a:off x="902970" y="4286250"/>
            <a:ext cx="251460" cy="251460"/>
          </a:xfrm>
          <a:prstGeom prst="rect">
            <a:avLst/>
          </a:prstGeom>
        </p:spPr>
      </p:pic>
      <p:sp>
        <p:nvSpPr>
          <p:cNvPr id="27" name="TextBox 26"/>
          <p:cNvSpPr txBox="1"/>
          <p:nvPr/>
        </p:nvSpPr>
        <p:spPr>
          <a:xfrm>
            <a:off x="1417319" y="4151376"/>
            <a:ext cx="1828800" cy="274320"/>
          </a:xfrm>
          <a:prstGeom prst="rect">
            <a:avLst/>
          </a:prstGeom>
          <a:noFill/>
        </p:spPr>
        <p:txBody>
          <a:bodyPr wrap="square" lIns="0" rIns="0" tIns="0" bIns="0" anchor="t">
            <a:noAutofit/>
          </a:bodyPr>
          <a:lstStyle/>
          <a:p>
            <a:pPr algn="l">
              <a:spcAft>
                <a:spcPts val="400"/>
              </a:spcAft>
            </a:pPr>
            <a:r>
              <a:rPr sz="1100" b="1" i="0">
                <a:solidFill>
                  <a:srgbClr val="4A3A8F"/>
                </a:solidFill>
                <a:latin typeface="Calibri"/>
              </a:rPr>
              <a:t>F4</a:t>
            </a:r>
          </a:p>
        </p:txBody>
      </p:sp>
      <p:sp>
        <p:nvSpPr>
          <p:cNvPr id="28" name="TextBox 27"/>
          <p:cNvSpPr txBox="1"/>
          <p:nvPr/>
        </p:nvSpPr>
        <p:spPr>
          <a:xfrm>
            <a:off x="1417319" y="438912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Budget</a:t>
            </a:r>
          </a:p>
        </p:txBody>
      </p:sp>
      <p:sp>
        <p:nvSpPr>
          <p:cNvPr id="29" name="TextBox 28"/>
          <p:cNvSpPr txBox="1"/>
          <p:nvPr/>
        </p:nvSpPr>
        <p:spPr>
          <a:xfrm>
            <a:off x="822959" y="484632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Stay, food, transport, sights, travel</a:t>
            </a:r>
          </a:p>
          <a:p>
            <a:pPr algn="l" marL="182880" indent="-182880">
              <a:spcAft>
                <a:spcPts val="400"/>
              </a:spcAft>
              <a:buClr>
                <a:srgbClr val="EF7D42"/>
              </a:buClr>
              <a:buFont typeface="Arial"/>
              <a:buChar char="•"/>
            </a:pPr>
            <a:r>
              <a:rPr sz="1200" b="0" i="0">
                <a:solidFill>
                  <a:srgbClr val="2B2257"/>
                </a:solidFill>
                <a:latin typeface="Calibri"/>
              </a:rPr>
              <a:t>Rooms split by group size, 10% buffer</a:t>
            </a:r>
          </a:p>
          <a:p>
            <a:pPr algn="l" marL="182880" indent="-182880">
              <a:spcAft>
                <a:spcPts val="400"/>
              </a:spcAft>
              <a:buClr>
                <a:srgbClr val="EF7D42"/>
              </a:buClr>
              <a:buFont typeface="Arial"/>
              <a:buChar char="•"/>
            </a:pPr>
            <a:r>
              <a:rPr sz="1200" b="0" i="0">
                <a:solidFill>
                  <a:srgbClr val="2B2257"/>
                </a:solidFill>
                <a:latin typeface="Calibri"/>
              </a:rPr>
              <a:t>Target budget with advice</a:t>
            </a:r>
          </a:p>
        </p:txBody>
      </p:sp>
      <p:sp>
        <p:nvSpPr>
          <p:cNvPr id="30" name="Rounded Rectangle 29"/>
          <p:cNvSpPr/>
          <p:nvPr/>
        </p:nvSpPr>
        <p:spPr>
          <a:xfrm>
            <a:off x="4297679" y="393192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2627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end-w.png"/>
          <p:cNvPicPr>
            <a:picLocks noChangeAspect="1"/>
          </p:cNvPicPr>
          <p:nvPr/>
        </p:nvPicPr>
        <p:blipFill>
          <a:blip r:embed="rId6"/>
          <a:stretch>
            <a:fillRect/>
          </a:stretch>
        </p:blipFill>
        <p:spPr>
          <a:xfrm>
            <a:off x="4652009" y="4286250"/>
            <a:ext cx="251460" cy="251460"/>
          </a:xfrm>
          <a:prstGeom prst="rect">
            <a:avLst/>
          </a:prstGeom>
        </p:spPr>
      </p:pic>
      <p:sp>
        <p:nvSpPr>
          <p:cNvPr id="33" name="TextBox 32"/>
          <p:cNvSpPr txBox="1"/>
          <p:nvPr/>
        </p:nvSpPr>
        <p:spPr>
          <a:xfrm>
            <a:off x="5166359" y="4151376"/>
            <a:ext cx="1828800" cy="274320"/>
          </a:xfrm>
          <a:prstGeom prst="rect">
            <a:avLst/>
          </a:prstGeom>
          <a:noFill/>
        </p:spPr>
        <p:txBody>
          <a:bodyPr wrap="square" lIns="0" rIns="0" tIns="0" bIns="0" anchor="t">
            <a:noAutofit/>
          </a:bodyPr>
          <a:lstStyle/>
          <a:p>
            <a:pPr algn="l">
              <a:spcAft>
                <a:spcPts val="400"/>
              </a:spcAft>
            </a:pPr>
            <a:r>
              <a:rPr sz="1100" b="1" i="0">
                <a:solidFill>
                  <a:srgbClr val="4A3A8F"/>
                </a:solidFill>
                <a:latin typeface="Calibri"/>
              </a:rPr>
              <a:t>F5</a:t>
            </a:r>
          </a:p>
        </p:txBody>
      </p:sp>
      <p:sp>
        <p:nvSpPr>
          <p:cNvPr id="34" name="TextBox 33"/>
          <p:cNvSpPr txBox="1"/>
          <p:nvPr/>
        </p:nvSpPr>
        <p:spPr>
          <a:xfrm>
            <a:off x="5166359" y="438912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Enquire</a:t>
            </a:r>
          </a:p>
        </p:txBody>
      </p:sp>
      <p:sp>
        <p:nvSpPr>
          <p:cNvPr id="35" name="TextBox 34"/>
          <p:cNvSpPr txBox="1"/>
          <p:nvPr/>
        </p:nvSpPr>
        <p:spPr>
          <a:xfrm>
            <a:off x="4571999" y="484632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7 registered agents to choose from</a:t>
            </a:r>
          </a:p>
          <a:p>
            <a:pPr algn="l" marL="182880" indent="-182880">
              <a:spcAft>
                <a:spcPts val="400"/>
              </a:spcAft>
              <a:buClr>
                <a:srgbClr val="EF7D42"/>
              </a:buClr>
              <a:buFont typeface="Arial"/>
              <a:buChar char="•"/>
            </a:pPr>
            <a:r>
              <a:rPr sz="1200" b="0" i="0">
                <a:solidFill>
                  <a:srgbClr val="2B2257"/>
                </a:solidFill>
                <a:latin typeface="Calibri"/>
              </a:rPr>
              <a:t>Trip attached to the enquiry</a:t>
            </a:r>
          </a:p>
          <a:p>
            <a:pPr algn="l" marL="182880" indent="-182880">
              <a:spcAft>
                <a:spcPts val="400"/>
              </a:spcAft>
              <a:buClr>
                <a:srgbClr val="EF7D42"/>
              </a:buClr>
              <a:buFont typeface="Arial"/>
              <a:buChar char="•"/>
            </a:pPr>
            <a:r>
              <a:rPr sz="1200" b="0" i="0">
                <a:solidFill>
                  <a:srgbClr val="2B2257"/>
                </a:solidFill>
                <a:latin typeface="Calibri"/>
              </a:rPr>
              <a:t>Tracker: sent, seen, quote ready</a:t>
            </a:r>
          </a:p>
        </p:txBody>
      </p:sp>
      <p:sp>
        <p:nvSpPr>
          <p:cNvPr id="36" name="Rounded Rectangle 35"/>
          <p:cNvSpPr/>
          <p:nvPr/>
        </p:nvSpPr>
        <p:spPr>
          <a:xfrm>
            <a:off x="8046719" y="3931920"/>
            <a:ext cx="3584448" cy="2212848"/>
          </a:xfrm>
          <a:prstGeom prst="roundRect">
            <a:avLst>
              <a:gd name="adj" fmla="val 5785"/>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27531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icket-w.png"/>
          <p:cNvPicPr>
            <a:picLocks noChangeAspect="1"/>
          </p:cNvPicPr>
          <p:nvPr/>
        </p:nvPicPr>
        <p:blipFill>
          <a:blip r:embed="rId7"/>
          <a:stretch>
            <a:fillRect/>
          </a:stretch>
        </p:blipFill>
        <p:spPr>
          <a:xfrm>
            <a:off x="8401049" y="4286250"/>
            <a:ext cx="251460" cy="251460"/>
          </a:xfrm>
          <a:prstGeom prst="rect">
            <a:avLst/>
          </a:prstGeom>
        </p:spPr>
      </p:pic>
      <p:sp>
        <p:nvSpPr>
          <p:cNvPr id="39" name="TextBox 38"/>
          <p:cNvSpPr txBox="1"/>
          <p:nvPr/>
        </p:nvSpPr>
        <p:spPr>
          <a:xfrm>
            <a:off x="8915399" y="4151376"/>
            <a:ext cx="1828800" cy="274320"/>
          </a:xfrm>
          <a:prstGeom prst="rect">
            <a:avLst/>
          </a:prstGeom>
          <a:noFill/>
        </p:spPr>
        <p:txBody>
          <a:bodyPr wrap="square" lIns="0" rIns="0" tIns="0" bIns="0" anchor="t">
            <a:noAutofit/>
          </a:bodyPr>
          <a:lstStyle/>
          <a:p>
            <a:pPr algn="l">
              <a:spcAft>
                <a:spcPts val="400"/>
              </a:spcAft>
            </a:pPr>
            <a:r>
              <a:rPr sz="1100" b="1" i="0">
                <a:solidFill>
                  <a:srgbClr val="4A3A8F"/>
                </a:solidFill>
                <a:latin typeface="Calibri"/>
              </a:rPr>
              <a:t>F6</a:t>
            </a:r>
          </a:p>
        </p:txBody>
      </p:sp>
      <p:sp>
        <p:nvSpPr>
          <p:cNvPr id="40" name="TextBox 39"/>
          <p:cNvSpPr txBox="1"/>
          <p:nvPr/>
        </p:nvSpPr>
        <p:spPr>
          <a:xfrm>
            <a:off x="8915399" y="4389120"/>
            <a:ext cx="256032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Book</a:t>
            </a:r>
          </a:p>
        </p:txBody>
      </p:sp>
      <p:sp>
        <p:nvSpPr>
          <p:cNvPr id="41" name="TextBox 40"/>
          <p:cNvSpPr txBox="1"/>
          <p:nvPr/>
        </p:nvSpPr>
        <p:spPr>
          <a:xfrm>
            <a:off x="8321040" y="4846320"/>
            <a:ext cx="3154680" cy="1234440"/>
          </a:xfrm>
          <a:prstGeom prst="rect">
            <a:avLst/>
          </a:prstGeom>
          <a:noFill/>
        </p:spPr>
        <p:txBody>
          <a:bodyPr wrap="square" lIns="0" rIns="0" tIns="0" bIns="0" anchor="t">
            <a:noAutofit/>
          </a:bodyPr>
          <a:lstStyle/>
          <a:p>
            <a:pPr algn="l" marL="182880" indent="-182880">
              <a:spcAft>
                <a:spcPts val="400"/>
              </a:spcAft>
              <a:buClr>
                <a:srgbClr val="EF7D42"/>
              </a:buClr>
              <a:buFont typeface="Arial"/>
              <a:buChar char="•"/>
            </a:pPr>
            <a:r>
              <a:rPr sz="1200" b="0" i="0">
                <a:solidFill>
                  <a:srgbClr val="2B2257"/>
                </a:solidFill>
                <a:latin typeface="Calibri"/>
              </a:rPr>
              <a:t>Inclusions and exclusions listed</a:t>
            </a:r>
          </a:p>
          <a:p>
            <a:pPr algn="l" marL="182880" indent="-182880">
              <a:spcAft>
                <a:spcPts val="400"/>
              </a:spcAft>
              <a:buClr>
                <a:srgbClr val="EF7D42"/>
              </a:buClr>
              <a:buFont typeface="Arial"/>
              <a:buChar char="•"/>
            </a:pPr>
            <a:r>
              <a:rPr sz="1200" b="0" i="0">
                <a:solidFill>
                  <a:srgbClr val="2B2257"/>
                </a:solidFill>
                <a:latin typeface="Calibri"/>
              </a:rPr>
              <a:t>Cart with 5% GST line</a:t>
            </a:r>
          </a:p>
          <a:p>
            <a:pPr algn="l" marL="182880" indent="-182880">
              <a:spcAft>
                <a:spcPts val="400"/>
              </a:spcAft>
              <a:buClr>
                <a:srgbClr val="EF7D42"/>
              </a:buClr>
              <a:buFont typeface="Arial"/>
              <a:buChar char="•"/>
            </a:pPr>
            <a:r>
              <a:rPr sz="1200" b="0" i="0">
                <a:solidFill>
                  <a:srgbClr val="2B2257"/>
                </a:solidFill>
                <a:latin typeface="Calibri"/>
              </a:rPr>
              <a:t>Reserve with 20%, reference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Home: start from a mood or a search</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INDEX.HTML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12</a:t>
            </a:r>
          </a:p>
        </p:txBody>
      </p:sp>
      <p:sp>
        <p:nvSpPr>
          <p:cNvPr id="6" name="Rounded Rectangle 5"/>
          <p:cNvSpPr/>
          <p:nvPr/>
        </p:nvSpPr>
        <p:spPr>
          <a:xfrm>
            <a:off x="548640" y="1508760"/>
            <a:ext cx="6583680" cy="4341114"/>
          </a:xfrm>
          <a:prstGeom prst="roundRect">
            <a:avLst>
              <a:gd name="adj" fmla="val 2106"/>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864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864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864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77440" y="1563624"/>
            <a:ext cx="292608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77440" y="1559051"/>
            <a:ext cx="292608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home</a:t>
            </a:r>
          </a:p>
        </p:txBody>
      </p:sp>
      <p:pic>
        <p:nvPicPr>
          <p:cNvPr id="12" name="Picture 11" descr="Screenshot of the Pathik website: pathik / home"/>
          <p:cNvPicPr>
            <a:picLocks noChangeAspect="1"/>
          </p:cNvPicPr>
          <p:nvPr/>
        </p:nvPicPr>
        <p:blipFill>
          <a:blip r:embed="rId2"/>
          <a:stretch>
            <a:fillRect/>
          </a:stretch>
        </p:blipFill>
        <p:spPr>
          <a:xfrm>
            <a:off x="594360" y="1746504"/>
            <a:ext cx="6492240" cy="4057650"/>
          </a:xfrm>
          <a:prstGeom prst="rect">
            <a:avLst/>
          </a:prstGeom>
        </p:spPr>
      </p:pic>
      <p:sp>
        <p:nvSpPr>
          <p:cNvPr id="13" name="TextBox 12"/>
          <p:cNvSpPr txBox="1"/>
          <p:nvPr/>
        </p:nvSpPr>
        <p:spPr>
          <a:xfrm>
            <a:off x="7452360" y="1508760"/>
            <a:ext cx="420624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What it does</a:t>
            </a:r>
          </a:p>
        </p:txBody>
      </p:sp>
      <p:sp>
        <p:nvSpPr>
          <p:cNvPr id="14" name="TextBox 13"/>
          <p:cNvSpPr txBox="1"/>
          <p:nvPr/>
        </p:nvSpPr>
        <p:spPr>
          <a:xfrm>
            <a:off x="7452360" y="1920240"/>
            <a:ext cx="4206240" cy="2743200"/>
          </a:xfrm>
          <a:prstGeom prst="rect">
            <a:avLst/>
          </a:prstGeom>
          <a:noFill/>
        </p:spPr>
        <p:txBody>
          <a:bodyPr wrap="square" lIns="0" rIns="0" tIns="0" bIns="0" anchor="t">
            <a:noAutofit/>
          </a:bodyPr>
          <a:lstStyle/>
          <a:p>
            <a:pPr algn="l" marL="182880" indent="-182880">
              <a:spcAft>
                <a:spcPts val="700"/>
              </a:spcAft>
              <a:buClr>
                <a:srgbClr val="EF7D42"/>
              </a:buClr>
              <a:buFont typeface="Arial"/>
              <a:buChar char="•"/>
            </a:pPr>
            <a:r>
              <a:rPr sz="1200" b="1" i="0">
                <a:solidFill>
                  <a:srgbClr val="2B2257"/>
                </a:solidFill>
                <a:latin typeface="Calibri"/>
              </a:rPr>
              <a:t>3D hero </a:t>
            </a:r>
            <a:r>
              <a:rPr sz="1200" b="0" i="0">
                <a:solidFill>
                  <a:srgbClr val="2B2257"/>
                </a:solidFill>
                <a:latin typeface="Calibri"/>
              </a:rPr>
              <a:t>built with Three.js. Loads after the page is ready and pauses when off-screen.</a:t>
            </a:r>
          </a:p>
          <a:p>
            <a:pPr algn="l" marL="182880" indent="-182880">
              <a:spcAft>
                <a:spcPts val="700"/>
              </a:spcAft>
              <a:buClr>
                <a:srgbClr val="EF7D42"/>
              </a:buClr>
              <a:buFont typeface="Arial"/>
              <a:buChar char="•"/>
            </a:pPr>
            <a:r>
              <a:rPr sz="1200" b="1" i="0">
                <a:solidFill>
                  <a:srgbClr val="2B2257"/>
                </a:solidFill>
                <a:latin typeface="Calibri"/>
              </a:rPr>
              <a:t>Search bar </a:t>
            </a:r>
            <a:r>
              <a:rPr sz="1200" b="0" i="0">
                <a:solidFill>
                  <a:srgbClr val="2B2257"/>
                </a:solidFill>
                <a:latin typeface="Calibri"/>
              </a:rPr>
              <a:t>with suggestions. Sends place, month and style straight into Explore.</a:t>
            </a:r>
          </a:p>
          <a:p>
            <a:pPr algn="l" marL="182880" indent="-182880">
              <a:spcAft>
                <a:spcPts val="700"/>
              </a:spcAft>
              <a:buClr>
                <a:srgbClr val="EF7D42"/>
              </a:buClr>
              <a:buFont typeface="Arial"/>
              <a:buChar char="•"/>
            </a:pPr>
            <a:r>
              <a:rPr sz="1200" b="1" i="0">
                <a:solidFill>
                  <a:srgbClr val="2B2257"/>
                </a:solidFill>
                <a:latin typeface="Calibri"/>
              </a:rPr>
              <a:t>Trip types and an in-season carousel </a:t>
            </a:r>
            <a:r>
              <a:rPr sz="1200" b="0" i="0">
                <a:solidFill>
                  <a:srgbClr val="2B2257"/>
                </a:solidFill>
                <a:latin typeface="Calibri"/>
              </a:rPr>
              <a:t>picked for the current month.</a:t>
            </a:r>
          </a:p>
          <a:p>
            <a:pPr algn="l" marL="182880" indent="-182880">
              <a:spcAft>
                <a:spcPts val="700"/>
              </a:spcAft>
              <a:buClr>
                <a:srgbClr val="EF7D42"/>
              </a:buClr>
              <a:buFont typeface="Arial"/>
              <a:buChar char="•"/>
            </a:pPr>
            <a:r>
              <a:rPr sz="1200" b="1" i="0">
                <a:solidFill>
                  <a:srgbClr val="2B2257"/>
                </a:solidFill>
                <a:latin typeface="Calibri"/>
              </a:rPr>
              <a:t>Fixed-price offers, reviews </a:t>
            </a:r>
            <a:r>
              <a:rPr sz="1200" b="0" i="0">
                <a:solidFill>
                  <a:srgbClr val="2B2257"/>
                </a:solidFill>
                <a:latin typeface="Calibri"/>
              </a:rPr>
              <a:t>and travel notes in a reader.</a:t>
            </a:r>
          </a:p>
        </p:txBody>
      </p:sp>
      <p:sp>
        <p:nvSpPr>
          <p:cNvPr id="15" name="Rounded Rectangle 14"/>
          <p:cNvSpPr/>
          <p:nvPr/>
        </p:nvSpPr>
        <p:spPr>
          <a:xfrm>
            <a:off x="7452360" y="4206240"/>
            <a:ext cx="3154680" cy="2197988"/>
          </a:xfrm>
          <a:prstGeom prst="roundRect">
            <a:avLst>
              <a:gd name="adj" fmla="val 4160"/>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580376" y="42839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17536" y="42839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54696" y="42839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9897" y="4261103"/>
            <a:ext cx="1419606"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19897" y="4256531"/>
            <a:ext cx="1419606"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in-season carousel</a:t>
            </a:r>
          </a:p>
        </p:txBody>
      </p:sp>
      <p:pic>
        <p:nvPicPr>
          <p:cNvPr id="21" name="Picture 20" descr="Screenshot of the Pathik website: in-season carousel"/>
          <p:cNvPicPr>
            <a:picLocks noChangeAspect="1"/>
          </p:cNvPicPr>
          <p:nvPr/>
        </p:nvPicPr>
        <p:blipFill>
          <a:blip r:embed="rId3"/>
          <a:stretch>
            <a:fillRect/>
          </a:stretch>
        </p:blipFill>
        <p:spPr>
          <a:xfrm>
            <a:off x="7498080" y="4443983"/>
            <a:ext cx="3063240" cy="19145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Explore: filter by month and money</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EXPLORE.HTML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13</a:t>
            </a:r>
          </a:p>
        </p:txBody>
      </p:sp>
      <p:sp>
        <p:nvSpPr>
          <p:cNvPr id="6" name="Rounded Rectangle 5"/>
          <p:cNvSpPr/>
          <p:nvPr/>
        </p:nvSpPr>
        <p:spPr>
          <a:xfrm>
            <a:off x="548640"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94535"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94535"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explore</a:t>
            </a:r>
          </a:p>
        </p:txBody>
      </p:sp>
      <p:pic>
        <p:nvPicPr>
          <p:cNvPr id="12" name="Picture 11" descr="Screenshot of the Pathik website: pathik / explore"/>
          <p:cNvPicPr>
            <a:picLocks noChangeAspect="1"/>
          </p:cNvPicPr>
          <p:nvPr/>
        </p:nvPicPr>
        <p:blipFill>
          <a:blip r:embed="rId2"/>
          <a:stretch>
            <a:fillRect/>
          </a:stretch>
        </p:blipFill>
        <p:spPr>
          <a:xfrm>
            <a:off x="594360" y="1700784"/>
            <a:ext cx="5166360" cy="3228975"/>
          </a:xfrm>
          <a:prstGeom prst="rect">
            <a:avLst/>
          </a:prstGeom>
        </p:spPr>
      </p:pic>
      <p:sp>
        <p:nvSpPr>
          <p:cNvPr id="13" name="Rounded Rectangle 12"/>
          <p:cNvSpPr/>
          <p:nvPr/>
        </p:nvSpPr>
        <p:spPr>
          <a:xfrm>
            <a:off x="6382512"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10528"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47688"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28407"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28407"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explore?month=12</a:t>
            </a:r>
          </a:p>
        </p:txBody>
      </p:sp>
      <p:pic>
        <p:nvPicPr>
          <p:cNvPr id="19" name="Picture 18" descr="Screenshot of the Pathik website: explore?month=12"/>
          <p:cNvPicPr>
            <a:picLocks noChangeAspect="1"/>
          </p:cNvPicPr>
          <p:nvPr/>
        </p:nvPicPr>
        <p:blipFill>
          <a:blip r:embed="rId3"/>
          <a:stretch>
            <a:fillRect/>
          </a:stretch>
        </p:blipFill>
        <p:spPr>
          <a:xfrm>
            <a:off x="6428232" y="1700784"/>
            <a:ext cx="5166360" cy="3228975"/>
          </a:xfrm>
          <a:prstGeom prst="rect">
            <a:avLst/>
          </a:prstGeom>
        </p:spPr>
      </p:pic>
      <p:sp>
        <p:nvSpPr>
          <p:cNvPr id="20" name="Oval 19"/>
          <p:cNvSpPr/>
          <p:nvPr/>
        </p:nvSpPr>
        <p:spPr>
          <a:xfrm>
            <a:off x="548640" y="5285232"/>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liders-horizontal-w.png"/>
          <p:cNvPicPr>
            <a:picLocks noChangeAspect="1"/>
          </p:cNvPicPr>
          <p:nvPr/>
        </p:nvPicPr>
        <p:blipFill>
          <a:blip r:embed="rId4"/>
          <a:stretch>
            <a:fillRect/>
          </a:stretch>
        </p:blipFill>
        <p:spPr>
          <a:xfrm>
            <a:off x="662940" y="5399532"/>
            <a:ext cx="228600" cy="228600"/>
          </a:xfrm>
          <a:prstGeom prst="rect">
            <a:avLst/>
          </a:prstGeom>
        </p:spPr>
      </p:pic>
      <p:sp>
        <p:nvSpPr>
          <p:cNvPr id="22" name="TextBox 21"/>
          <p:cNvSpPr txBox="1"/>
          <p:nvPr/>
        </p:nvSpPr>
        <p:spPr>
          <a:xfrm>
            <a:off x="1143000" y="5257800"/>
            <a:ext cx="301752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Filters that stack</a:t>
            </a:r>
          </a:p>
        </p:txBody>
      </p:sp>
      <p:sp>
        <p:nvSpPr>
          <p:cNvPr id="23" name="TextBox 22"/>
          <p:cNvSpPr txBox="1"/>
          <p:nvPr/>
        </p:nvSpPr>
        <p:spPr>
          <a:xfrm>
            <a:off x="1143000" y="5532120"/>
            <a:ext cx="3017520" cy="82296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Text, month, style, daily budget, region and type. Results update as you type and the URL keeps the state.</a:t>
            </a:r>
          </a:p>
        </p:txBody>
      </p:sp>
      <p:sp>
        <p:nvSpPr>
          <p:cNvPr id="24" name="Oval 23"/>
          <p:cNvSpPr/>
          <p:nvPr/>
        </p:nvSpPr>
        <p:spPr>
          <a:xfrm>
            <a:off x="4297679" y="5285232"/>
            <a:ext cx="457200" cy="45720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alendar-days-w.png"/>
          <p:cNvPicPr>
            <a:picLocks noChangeAspect="1"/>
          </p:cNvPicPr>
          <p:nvPr/>
        </p:nvPicPr>
        <p:blipFill>
          <a:blip r:embed="rId5"/>
          <a:stretch>
            <a:fillRect/>
          </a:stretch>
        </p:blipFill>
        <p:spPr>
          <a:xfrm>
            <a:off x="4411979" y="5399532"/>
            <a:ext cx="228600" cy="228600"/>
          </a:xfrm>
          <a:prstGeom prst="rect">
            <a:avLst/>
          </a:prstGeom>
        </p:spPr>
      </p:pic>
      <p:sp>
        <p:nvSpPr>
          <p:cNvPr id="26" name="TextBox 25"/>
          <p:cNvSpPr txBox="1"/>
          <p:nvPr/>
        </p:nvSpPr>
        <p:spPr>
          <a:xfrm>
            <a:off x="4892040" y="5257800"/>
            <a:ext cx="301752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Season first</a:t>
            </a:r>
          </a:p>
        </p:txBody>
      </p:sp>
      <p:sp>
        <p:nvSpPr>
          <p:cNvPr id="27" name="TextBox 26"/>
          <p:cNvSpPr txBox="1"/>
          <p:nvPr/>
        </p:nvSpPr>
        <p:spPr>
          <a:xfrm>
            <a:off x="4892040" y="5532120"/>
            <a:ext cx="3017520" cy="82296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Places in season for the chosen month sort to the top and get an 'In season' tag and a month strip.</a:t>
            </a:r>
          </a:p>
        </p:txBody>
      </p:sp>
      <p:sp>
        <p:nvSpPr>
          <p:cNvPr id="28" name="Oval 27"/>
          <p:cNvSpPr/>
          <p:nvPr/>
        </p:nvSpPr>
        <p:spPr>
          <a:xfrm>
            <a:off x="8046719" y="5285232"/>
            <a:ext cx="457200" cy="45720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w.png"/>
          <p:cNvPicPr>
            <a:picLocks noChangeAspect="1"/>
          </p:cNvPicPr>
          <p:nvPr/>
        </p:nvPicPr>
        <p:blipFill>
          <a:blip r:embed="rId6"/>
          <a:stretch>
            <a:fillRect/>
          </a:stretch>
        </p:blipFill>
        <p:spPr>
          <a:xfrm>
            <a:off x="8161019" y="5399532"/>
            <a:ext cx="228600" cy="228600"/>
          </a:xfrm>
          <a:prstGeom prst="rect">
            <a:avLst/>
          </a:prstGeom>
        </p:spPr>
      </p:pic>
      <p:sp>
        <p:nvSpPr>
          <p:cNvPr id="30" name="TextBox 29"/>
          <p:cNvSpPr txBox="1"/>
          <p:nvPr/>
        </p:nvSpPr>
        <p:spPr>
          <a:xfrm>
            <a:off x="8641080" y="5257800"/>
            <a:ext cx="3017520" cy="274320"/>
          </a:xfrm>
          <a:prstGeom prst="rect">
            <a:avLst/>
          </a:prstGeom>
          <a:noFill/>
        </p:spPr>
        <p:txBody>
          <a:bodyPr wrap="square" lIns="0" rIns="0" tIns="0" bIns="0" anchor="t">
            <a:noAutofit/>
          </a:bodyPr>
          <a:lstStyle/>
          <a:p>
            <a:pPr algn="l">
              <a:spcAft>
                <a:spcPts val="400"/>
              </a:spcAft>
            </a:pPr>
            <a:r>
              <a:rPr sz="1350" b="1" i="0">
                <a:solidFill>
                  <a:srgbClr val="1C1638"/>
                </a:solidFill>
                <a:latin typeface="Calibri"/>
              </a:rPr>
              <a:t>Real photos</a:t>
            </a:r>
          </a:p>
        </p:txBody>
      </p:sp>
      <p:sp>
        <p:nvSpPr>
          <p:cNvPr id="31" name="TextBox 30"/>
          <p:cNvSpPr txBox="1"/>
          <p:nvPr/>
        </p:nvSpPr>
        <p:spPr>
          <a:xfrm>
            <a:off x="8641080" y="5532120"/>
            <a:ext cx="3017520" cy="822960"/>
          </a:xfrm>
          <a:prstGeom prst="rect">
            <a:avLst/>
          </a:prstGeom>
          <a:noFill/>
        </p:spPr>
        <p:txBody>
          <a:bodyPr wrap="square" lIns="0" rIns="0" tIns="0" bIns="0" anchor="t">
            <a:noAutofit/>
          </a:bodyPr>
          <a:lstStyle/>
          <a:p>
            <a:pPr algn="l">
              <a:spcAft>
                <a:spcPts val="400"/>
              </a:spcAft>
            </a:pPr>
            <a:r>
              <a:rPr sz="1100" b="0" i="0">
                <a:solidFill>
                  <a:srgbClr val="2B2257"/>
                </a:solidFill>
                <a:latin typeface="Calibri"/>
              </a:rPr>
              <a:t>A slideshow of 8 Commons photos up top, each linking to its destination.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Destination details and maps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EXPLORE.HTML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14</a:t>
            </a:r>
          </a:p>
        </p:txBody>
      </p:sp>
      <p:sp>
        <p:nvSpPr>
          <p:cNvPr id="6" name="Rounded Rectangle 5"/>
          <p:cNvSpPr/>
          <p:nvPr/>
        </p:nvSpPr>
        <p:spPr>
          <a:xfrm>
            <a:off x="548640" y="1508760"/>
            <a:ext cx="3584448" cy="2970393"/>
          </a:xfrm>
          <a:prstGeom prst="roundRect">
            <a:avLst>
              <a:gd name="adj" fmla="val 3078"/>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864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864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864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34363" y="1563624"/>
            <a:ext cx="1613001"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4363" y="1559051"/>
            <a:ext cx="1613001"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explore#leh</a:t>
            </a:r>
          </a:p>
        </p:txBody>
      </p:sp>
      <p:pic>
        <p:nvPicPr>
          <p:cNvPr id="12" name="Picture 11" descr="Screenshot of the Pathik website: explore#leh"/>
          <p:cNvPicPr>
            <a:picLocks noChangeAspect="1"/>
          </p:cNvPicPr>
          <p:nvPr/>
        </p:nvPicPr>
        <p:blipFill>
          <a:blip r:embed="rId2"/>
          <a:stretch>
            <a:fillRect/>
          </a:stretch>
        </p:blipFill>
        <p:spPr>
          <a:xfrm>
            <a:off x="594360" y="1746504"/>
            <a:ext cx="3493008" cy="2686929"/>
          </a:xfrm>
          <a:prstGeom prst="rect">
            <a:avLst/>
          </a:prstGeom>
        </p:spPr>
      </p:pic>
      <p:sp>
        <p:nvSpPr>
          <p:cNvPr id="13" name="Oval 12"/>
          <p:cNvSpPr/>
          <p:nvPr/>
        </p:nvSpPr>
        <p:spPr>
          <a:xfrm>
            <a:off x="548640" y="4572000"/>
            <a:ext cx="365760" cy="36576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4" name="TextBox 13"/>
          <p:cNvSpPr txBox="1"/>
          <p:nvPr/>
        </p:nvSpPr>
        <p:spPr>
          <a:xfrm>
            <a:off x="1051560" y="4572000"/>
            <a:ext cx="3063240" cy="32004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Detail view</a:t>
            </a:r>
          </a:p>
        </p:txBody>
      </p:sp>
      <p:sp>
        <p:nvSpPr>
          <p:cNvPr id="15" name="TextBox 14"/>
          <p:cNvSpPr txBox="1"/>
          <p:nvPr/>
        </p:nvSpPr>
        <p:spPr>
          <a:xfrm>
            <a:off x="1051560" y="4919472"/>
            <a:ext cx="3063240" cy="91440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Overview, best months and what a day costs at three comfort levels.</a:t>
            </a:r>
          </a:p>
        </p:txBody>
      </p:sp>
      <p:sp>
        <p:nvSpPr>
          <p:cNvPr id="16" name="Rounded Rectangle 15"/>
          <p:cNvSpPr/>
          <p:nvPr/>
        </p:nvSpPr>
        <p:spPr>
          <a:xfrm>
            <a:off x="4297679" y="1508760"/>
            <a:ext cx="3584448" cy="2970393"/>
          </a:xfrm>
          <a:prstGeom prst="roundRect">
            <a:avLst>
              <a:gd name="adj" fmla="val 3078"/>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425695" y="15864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62855" y="15864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00015" y="15864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83403" y="1563624"/>
            <a:ext cx="1613001"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3403" y="1559051"/>
            <a:ext cx="1613001"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explore#leh</a:t>
            </a:r>
          </a:p>
        </p:txBody>
      </p:sp>
      <p:pic>
        <p:nvPicPr>
          <p:cNvPr id="22" name="Picture 21" descr="Screenshot of the Pathik website: explore#leh"/>
          <p:cNvPicPr>
            <a:picLocks noChangeAspect="1"/>
          </p:cNvPicPr>
          <p:nvPr/>
        </p:nvPicPr>
        <p:blipFill>
          <a:blip r:embed="rId3"/>
          <a:stretch>
            <a:fillRect/>
          </a:stretch>
        </p:blipFill>
        <p:spPr>
          <a:xfrm>
            <a:off x="4343399" y="1746504"/>
            <a:ext cx="3493008" cy="2686929"/>
          </a:xfrm>
          <a:prstGeom prst="rect">
            <a:avLst/>
          </a:prstGeom>
        </p:spPr>
      </p:pic>
      <p:sp>
        <p:nvSpPr>
          <p:cNvPr id="23" name="Oval 22"/>
          <p:cNvSpPr/>
          <p:nvPr/>
        </p:nvSpPr>
        <p:spPr>
          <a:xfrm>
            <a:off x="4297679" y="4572000"/>
            <a:ext cx="365760" cy="36576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24" name="TextBox 23"/>
          <p:cNvSpPr txBox="1"/>
          <p:nvPr/>
        </p:nvSpPr>
        <p:spPr>
          <a:xfrm>
            <a:off x="4800599" y="4572000"/>
            <a:ext cx="3063240" cy="32004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Know before you go</a:t>
            </a:r>
          </a:p>
        </p:txBody>
      </p:sp>
      <p:sp>
        <p:nvSpPr>
          <p:cNvPr id="25" name="TextBox 24"/>
          <p:cNvSpPr txBox="1"/>
          <p:nvPr/>
        </p:nvSpPr>
        <p:spPr>
          <a:xfrm>
            <a:off x="4800599" y="4919472"/>
            <a:ext cx="3063240" cy="91440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Getting there, a location map, Google Maps link, tips and scams.</a:t>
            </a:r>
          </a:p>
        </p:txBody>
      </p:sp>
      <p:sp>
        <p:nvSpPr>
          <p:cNvPr id="26" name="Rounded Rectangle 25"/>
          <p:cNvSpPr/>
          <p:nvPr/>
        </p:nvSpPr>
        <p:spPr>
          <a:xfrm>
            <a:off x="8046719" y="1508760"/>
            <a:ext cx="3584448" cy="2970393"/>
          </a:xfrm>
          <a:prstGeom prst="roundRect">
            <a:avLst>
              <a:gd name="adj" fmla="val 3078"/>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174736" y="15864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11896" y="15864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49056" y="15864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32443" y="1563624"/>
            <a:ext cx="1613001"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032443" y="1559051"/>
            <a:ext cx="1613001"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explore?view=map</a:t>
            </a:r>
          </a:p>
        </p:txBody>
      </p:sp>
      <p:pic>
        <p:nvPicPr>
          <p:cNvPr id="32" name="Picture 31" descr="Screenshot of the Pathik website: explore?view=map"/>
          <p:cNvPicPr>
            <a:picLocks noChangeAspect="1"/>
          </p:cNvPicPr>
          <p:nvPr/>
        </p:nvPicPr>
        <p:blipFill>
          <a:blip r:embed="rId4"/>
          <a:stretch>
            <a:fillRect/>
          </a:stretch>
        </p:blipFill>
        <p:spPr>
          <a:xfrm>
            <a:off x="8092440" y="1746504"/>
            <a:ext cx="3493008" cy="2686929"/>
          </a:xfrm>
          <a:prstGeom prst="rect">
            <a:avLst/>
          </a:prstGeom>
        </p:spPr>
      </p:pic>
      <p:sp>
        <p:nvSpPr>
          <p:cNvPr id="33" name="Oval 32"/>
          <p:cNvSpPr/>
          <p:nvPr/>
        </p:nvSpPr>
        <p:spPr>
          <a:xfrm>
            <a:off x="8046719" y="4572000"/>
            <a:ext cx="365760" cy="36576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34" name="TextBox 33"/>
          <p:cNvSpPr txBox="1"/>
          <p:nvPr/>
        </p:nvSpPr>
        <p:spPr>
          <a:xfrm>
            <a:off x="8549640" y="4572000"/>
            <a:ext cx="3063240" cy="32004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Map view</a:t>
            </a:r>
          </a:p>
        </p:txBody>
      </p:sp>
      <p:sp>
        <p:nvSpPr>
          <p:cNvPr id="35" name="TextBox 34"/>
          <p:cNvSpPr txBox="1"/>
          <p:nvPr/>
        </p:nvSpPr>
        <p:spPr>
          <a:xfrm>
            <a:off x="8549640" y="4919472"/>
            <a:ext cx="3063240" cy="914400"/>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Every match as a pin. Popups open details or add the place to the trip.</a:t>
            </a:r>
          </a:p>
        </p:txBody>
      </p:sp>
      <p:sp>
        <p:nvSpPr>
          <p:cNvPr id="36" name="Rounded Rectangle 35"/>
          <p:cNvSpPr/>
          <p:nvPr/>
        </p:nvSpPr>
        <p:spPr>
          <a:xfrm>
            <a:off x="548640" y="5715000"/>
            <a:ext cx="11091672" cy="502920"/>
          </a:xfrm>
          <a:prstGeom prst="roundRect">
            <a:avLst>
              <a:gd name="adj" fmla="val 21818"/>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 y="5715000"/>
            <a:ext cx="10698480" cy="502920"/>
          </a:xfrm>
          <a:prstGeom prst="rect">
            <a:avLst/>
          </a:prstGeom>
          <a:noFill/>
        </p:spPr>
        <p:txBody>
          <a:bodyPr wrap="square" lIns="0" rIns="0" tIns="0" bIns="0" anchor="ctr">
            <a:noAutofit/>
          </a:bodyPr>
          <a:lstStyle/>
          <a:p>
            <a:pPr algn="l">
              <a:spcAft>
                <a:spcPts val="400"/>
              </a:spcAft>
            </a:pPr>
            <a:r>
              <a:rPr sz="1200" b="1" i="0">
                <a:solidFill>
                  <a:srgbClr val="4A3A8F"/>
                </a:solidFill>
                <a:latin typeface="Calibri"/>
              </a:rPr>
              <a:t>Example, Leh-Ladakh:  </a:t>
            </a:r>
            <a:r>
              <a:rPr sz="1200" b="0" i="0">
                <a:solidFill>
                  <a:srgbClr val="2B2257"/>
                </a:solidFill>
                <a:latin typeface="Calibri"/>
              </a:rPr>
              <a:t>best May to Sep, rest 36 to 48 hours for altitude, Inner Line Permit for Nubra and Pangong, carry a postpaid SIM.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Plan &amp; budget: the route and the money</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PLANNER.HTML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15</a:t>
            </a:r>
          </a:p>
        </p:txBody>
      </p:sp>
      <p:sp>
        <p:nvSpPr>
          <p:cNvPr id="6" name="Rounded Rectangle 5"/>
          <p:cNvSpPr/>
          <p:nvPr/>
        </p:nvSpPr>
        <p:spPr>
          <a:xfrm>
            <a:off x="548640" y="1508760"/>
            <a:ext cx="6675120" cy="4398264"/>
          </a:xfrm>
          <a:prstGeom prst="roundRect">
            <a:avLst>
              <a:gd name="adj" fmla="val 2079"/>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864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864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864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23160" y="1563624"/>
            <a:ext cx="292608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23160" y="1559051"/>
            <a:ext cx="292608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planner</a:t>
            </a:r>
          </a:p>
        </p:txBody>
      </p:sp>
      <p:pic>
        <p:nvPicPr>
          <p:cNvPr id="12" name="Picture 11" descr="Screenshot of the Pathik website: pathik / planner"/>
          <p:cNvPicPr>
            <a:picLocks noChangeAspect="1"/>
          </p:cNvPicPr>
          <p:nvPr/>
        </p:nvPicPr>
        <p:blipFill>
          <a:blip r:embed="rId2"/>
          <a:stretch>
            <a:fillRect/>
          </a:stretch>
        </p:blipFill>
        <p:spPr>
          <a:xfrm>
            <a:off x="594360" y="1746504"/>
            <a:ext cx="6583680" cy="4114800"/>
          </a:xfrm>
          <a:prstGeom prst="rect">
            <a:avLst/>
          </a:prstGeom>
        </p:spPr>
      </p:pic>
      <p:sp>
        <p:nvSpPr>
          <p:cNvPr id="13" name="TextBox 12"/>
          <p:cNvSpPr txBox="1"/>
          <p:nvPr/>
        </p:nvSpPr>
        <p:spPr>
          <a:xfrm>
            <a:off x="7498079" y="1481328"/>
            <a:ext cx="4160520" cy="320040"/>
          </a:xfrm>
          <a:prstGeom prst="rect">
            <a:avLst/>
          </a:prstGeom>
          <a:noFill/>
        </p:spPr>
        <p:txBody>
          <a:bodyPr wrap="square" lIns="0" rIns="0" tIns="0" bIns="0" anchor="t">
            <a:noAutofit/>
          </a:bodyPr>
          <a:lstStyle/>
          <a:p>
            <a:pPr algn="l">
              <a:spcAft>
                <a:spcPts val="400"/>
              </a:spcAft>
            </a:pPr>
            <a:r>
              <a:rPr sz="1600" b="1" i="0">
                <a:solidFill>
                  <a:srgbClr val="1C1638"/>
                </a:solidFill>
                <a:latin typeface="Cambria"/>
              </a:rPr>
              <a:t>How the estimate is calculated</a:t>
            </a:r>
          </a:p>
        </p:txBody>
      </p:sp>
      <p:sp>
        <p:nvSpPr>
          <p:cNvPr id="14" name="Rounded Rectangle 13"/>
          <p:cNvSpPr/>
          <p:nvPr/>
        </p:nvSpPr>
        <p:spPr>
          <a:xfrm>
            <a:off x="7498079" y="192024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5240" y="1965960"/>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Stay</a:t>
            </a:r>
          </a:p>
        </p:txBody>
      </p:sp>
      <p:sp>
        <p:nvSpPr>
          <p:cNvPr id="16" name="TextBox 15"/>
          <p:cNvSpPr txBox="1"/>
          <p:nvPr/>
        </p:nvSpPr>
        <p:spPr>
          <a:xfrm>
            <a:off x="8961120" y="196596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room rate × rooms × nights (2 adults per room)</a:t>
            </a:r>
          </a:p>
        </p:txBody>
      </p:sp>
      <p:sp>
        <p:nvSpPr>
          <p:cNvPr id="17" name="Rounded Rectangle 16"/>
          <p:cNvSpPr/>
          <p:nvPr/>
        </p:nvSpPr>
        <p:spPr>
          <a:xfrm>
            <a:off x="7498079" y="256032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35240" y="2606039"/>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Food, sights</a:t>
            </a:r>
          </a:p>
        </p:txBody>
      </p:sp>
      <p:sp>
        <p:nvSpPr>
          <p:cNvPr id="19" name="TextBox 18"/>
          <p:cNvSpPr txBox="1"/>
          <p:nvPr/>
        </p:nvSpPr>
        <p:spPr>
          <a:xfrm>
            <a:off x="8961120" y="2606039"/>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daily rate × (adults + 0.6 × children)</a:t>
            </a:r>
          </a:p>
        </p:txBody>
      </p:sp>
      <p:sp>
        <p:nvSpPr>
          <p:cNvPr id="20" name="Rounded Rectangle 19"/>
          <p:cNvSpPr/>
          <p:nvPr/>
        </p:nvSpPr>
        <p:spPr>
          <a:xfrm>
            <a:off x="7498079" y="3200400"/>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35240" y="3246120"/>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Local transport</a:t>
            </a:r>
          </a:p>
        </p:txBody>
      </p:sp>
      <p:sp>
        <p:nvSpPr>
          <p:cNvPr id="22" name="TextBox 21"/>
          <p:cNvSpPr txBox="1"/>
          <p:nvPr/>
        </p:nvSpPr>
        <p:spPr>
          <a:xfrm>
            <a:off x="8961120" y="324612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daily rate × travellers</a:t>
            </a:r>
          </a:p>
        </p:txBody>
      </p:sp>
      <p:sp>
        <p:nvSpPr>
          <p:cNvPr id="23" name="Rounded Rectangle 22"/>
          <p:cNvSpPr/>
          <p:nvPr/>
        </p:nvSpPr>
        <p:spPr>
          <a:xfrm>
            <a:off x="7498079" y="3840479"/>
            <a:ext cx="4160520" cy="548640"/>
          </a:xfrm>
          <a:prstGeom prst="roundRect">
            <a:avLst>
              <a:gd name="adj" fmla="val 16666"/>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635240" y="3886199"/>
            <a:ext cx="1325880" cy="457200"/>
          </a:xfrm>
          <a:prstGeom prst="rect">
            <a:avLst/>
          </a:prstGeom>
          <a:noFill/>
        </p:spPr>
        <p:txBody>
          <a:bodyPr wrap="square" lIns="0" rIns="0" tIns="0" bIns="0" anchor="ctr">
            <a:noAutofit/>
          </a:bodyPr>
          <a:lstStyle/>
          <a:p>
            <a:pPr algn="l">
              <a:spcAft>
                <a:spcPts val="400"/>
              </a:spcAft>
            </a:pPr>
            <a:r>
              <a:rPr sz="1150" b="1" i="0">
                <a:solidFill>
                  <a:srgbClr val="4A3A8F"/>
                </a:solidFill>
                <a:latin typeface="Calibri"/>
              </a:rPr>
              <a:t>Between stops</a:t>
            </a:r>
          </a:p>
        </p:txBody>
      </p:sp>
      <p:sp>
        <p:nvSpPr>
          <p:cNvPr id="25" name="TextBox 24"/>
          <p:cNvSpPr txBox="1"/>
          <p:nvPr/>
        </p:nvSpPr>
        <p:spPr>
          <a:xfrm>
            <a:off x="8961120" y="3886199"/>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distance × 1.3 road factor × rate per km</a:t>
            </a:r>
          </a:p>
        </p:txBody>
      </p:sp>
      <p:sp>
        <p:nvSpPr>
          <p:cNvPr id="26" name="Rounded Rectangle 25"/>
          <p:cNvSpPr/>
          <p:nvPr/>
        </p:nvSpPr>
        <p:spPr>
          <a:xfrm>
            <a:off x="7498079" y="4480560"/>
            <a:ext cx="4160520" cy="548640"/>
          </a:xfrm>
          <a:prstGeom prst="roundRect">
            <a:avLst>
              <a:gd name="adj" fmla="val 16666"/>
            </a:avLst>
          </a:prstGeom>
          <a:solidFill>
            <a:srgbClr val="FDECE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35240" y="4526280"/>
            <a:ext cx="1325880" cy="457200"/>
          </a:xfrm>
          <a:prstGeom prst="rect">
            <a:avLst/>
          </a:prstGeom>
          <a:noFill/>
        </p:spPr>
        <p:txBody>
          <a:bodyPr wrap="square" lIns="0" rIns="0" tIns="0" bIns="0" anchor="ctr">
            <a:noAutofit/>
          </a:bodyPr>
          <a:lstStyle/>
          <a:p>
            <a:pPr algn="l">
              <a:spcAft>
                <a:spcPts val="400"/>
              </a:spcAft>
            </a:pPr>
            <a:r>
              <a:rPr sz="1150" b="1" i="0">
                <a:solidFill>
                  <a:srgbClr val="EF7D42"/>
                </a:solidFill>
                <a:latin typeface="Calibri"/>
              </a:rPr>
              <a:t>Buffer</a:t>
            </a:r>
          </a:p>
        </p:txBody>
      </p:sp>
      <p:sp>
        <p:nvSpPr>
          <p:cNvPr id="28" name="TextBox 27"/>
          <p:cNvSpPr txBox="1"/>
          <p:nvPr/>
        </p:nvSpPr>
        <p:spPr>
          <a:xfrm>
            <a:off x="8961120" y="4526280"/>
            <a:ext cx="2606040" cy="457200"/>
          </a:xfrm>
          <a:prstGeom prst="rect">
            <a:avLst/>
          </a:prstGeom>
          <a:noFill/>
        </p:spPr>
        <p:txBody>
          <a:bodyPr wrap="square" lIns="0" rIns="0" tIns="0" bIns="0" anchor="ctr">
            <a:noAutofit/>
          </a:bodyPr>
          <a:lstStyle/>
          <a:p>
            <a:pPr algn="l">
              <a:spcAft>
                <a:spcPts val="400"/>
              </a:spcAft>
            </a:pPr>
            <a:r>
              <a:rPr sz="1100" b="0" i="0">
                <a:solidFill>
                  <a:srgbClr val="2B2257"/>
                </a:solidFill>
                <a:latin typeface="Calibri"/>
              </a:rPr>
              <a:t>+10% for tips, tickets, SIM, laundry</a:t>
            </a:r>
          </a:p>
        </p:txBody>
      </p:sp>
      <p:sp>
        <p:nvSpPr>
          <p:cNvPr id="29" name="TextBox 28"/>
          <p:cNvSpPr txBox="1"/>
          <p:nvPr/>
        </p:nvSpPr>
        <p:spPr>
          <a:xfrm>
            <a:off x="7498079" y="5212080"/>
            <a:ext cx="4160520" cy="1005840"/>
          </a:xfrm>
          <a:prstGeom prst="rect">
            <a:avLst/>
          </a:prstGeom>
          <a:noFill/>
        </p:spPr>
        <p:txBody>
          <a:bodyPr wrap="square" lIns="0" rIns="0" tIns="0" bIns="0" anchor="t">
            <a:noAutofit/>
          </a:bodyPr>
          <a:lstStyle/>
          <a:p>
            <a:pPr algn="l">
              <a:spcAft>
                <a:spcPts val="400"/>
              </a:spcAft>
            </a:pPr>
            <a:r>
              <a:rPr sz="1150" b="1" i="0">
                <a:solidFill>
                  <a:srgbClr val="EF7D42"/>
                </a:solidFill>
                <a:latin typeface="Calibri"/>
              </a:rPr>
              <a:t>Target budget: </a:t>
            </a:r>
            <a:r>
              <a:rPr sz="1150" b="0" i="0">
                <a:solidFill>
                  <a:srgbClr val="2B2257"/>
                </a:solidFill>
                <a:latin typeface="Calibri"/>
              </a:rPr>
              <a:t>enter a limit and the meter turns red when you go over, with a hint such as 'drop a night in Udaipur'.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Plan &amp; budget: route map and day-by-day plan</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PLANNER.HTML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16</a:t>
            </a:r>
          </a:p>
        </p:txBody>
      </p:sp>
      <p:sp>
        <p:nvSpPr>
          <p:cNvPr id="6" name="Rounded Rectangle 5"/>
          <p:cNvSpPr/>
          <p:nvPr/>
        </p:nvSpPr>
        <p:spPr>
          <a:xfrm>
            <a:off x="548640"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94535"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94535"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planner · route map</a:t>
            </a:r>
          </a:p>
        </p:txBody>
      </p:sp>
      <p:pic>
        <p:nvPicPr>
          <p:cNvPr id="12" name="Picture 11" descr="Screenshot of the Pathik website: planner · route map"/>
          <p:cNvPicPr>
            <a:picLocks noChangeAspect="1"/>
          </p:cNvPicPr>
          <p:nvPr/>
        </p:nvPicPr>
        <p:blipFill>
          <a:blip r:embed="rId2"/>
          <a:stretch>
            <a:fillRect/>
          </a:stretch>
        </p:blipFill>
        <p:spPr>
          <a:xfrm>
            <a:off x="594360" y="1700784"/>
            <a:ext cx="5166360" cy="3228975"/>
          </a:xfrm>
          <a:prstGeom prst="rect">
            <a:avLst/>
          </a:prstGeom>
        </p:spPr>
      </p:pic>
      <p:sp>
        <p:nvSpPr>
          <p:cNvPr id="13" name="Rounded Rectangle 12"/>
          <p:cNvSpPr/>
          <p:nvPr/>
        </p:nvSpPr>
        <p:spPr>
          <a:xfrm>
            <a:off x="6382512"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10528"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47688"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28407"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28407"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planner · day by day</a:t>
            </a:r>
          </a:p>
        </p:txBody>
      </p:sp>
      <p:pic>
        <p:nvPicPr>
          <p:cNvPr id="19" name="Picture 18" descr="Screenshot of the Pathik website: planner · day by day"/>
          <p:cNvPicPr>
            <a:picLocks noChangeAspect="1"/>
          </p:cNvPicPr>
          <p:nvPr/>
        </p:nvPicPr>
        <p:blipFill>
          <a:blip r:embed="rId3"/>
          <a:stretch>
            <a:fillRect/>
          </a:stretch>
        </p:blipFill>
        <p:spPr>
          <a:xfrm>
            <a:off x="6428232" y="1700784"/>
            <a:ext cx="5166360" cy="3228975"/>
          </a:xfrm>
          <a:prstGeom prst="rect">
            <a:avLst/>
          </a:prstGeom>
        </p:spPr>
      </p:pic>
      <p:sp>
        <p:nvSpPr>
          <p:cNvPr id="20" name="Oval 19"/>
          <p:cNvSpPr/>
          <p:nvPr/>
        </p:nvSpPr>
        <p:spPr>
          <a:xfrm>
            <a:off x="548640" y="5285232"/>
            <a:ext cx="420624" cy="42062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ap-w.png"/>
          <p:cNvPicPr>
            <a:picLocks noChangeAspect="1"/>
          </p:cNvPicPr>
          <p:nvPr/>
        </p:nvPicPr>
        <p:blipFill>
          <a:blip r:embed="rId4"/>
          <a:stretch>
            <a:fillRect/>
          </a:stretch>
        </p:blipFill>
        <p:spPr>
          <a:xfrm>
            <a:off x="653796" y="5390388"/>
            <a:ext cx="210312" cy="210312"/>
          </a:xfrm>
          <a:prstGeom prst="rect">
            <a:avLst/>
          </a:prstGeom>
        </p:spPr>
      </p:pic>
      <p:sp>
        <p:nvSpPr>
          <p:cNvPr id="22" name="TextBox 21"/>
          <p:cNvSpPr txBox="1"/>
          <p:nvPr/>
        </p:nvSpPr>
        <p:spPr>
          <a:xfrm>
            <a:off x="1078992"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Numbered route</a:t>
            </a:r>
          </a:p>
        </p:txBody>
      </p:sp>
      <p:sp>
        <p:nvSpPr>
          <p:cNvPr id="23" name="TextBox 22"/>
          <p:cNvSpPr txBox="1"/>
          <p:nvPr/>
        </p:nvSpPr>
        <p:spPr>
          <a:xfrm>
            <a:off x="1078992"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Stops in order on a Leaflet map, with total kilometres between stops.</a:t>
            </a:r>
          </a:p>
        </p:txBody>
      </p:sp>
      <p:sp>
        <p:nvSpPr>
          <p:cNvPr id="24" name="Oval 23"/>
          <p:cNvSpPr/>
          <p:nvPr/>
        </p:nvSpPr>
        <p:spPr>
          <a:xfrm>
            <a:off x="3364992" y="5285232"/>
            <a:ext cx="420624" cy="42062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alendar-days-w.png"/>
          <p:cNvPicPr>
            <a:picLocks noChangeAspect="1"/>
          </p:cNvPicPr>
          <p:nvPr/>
        </p:nvPicPr>
        <p:blipFill>
          <a:blip r:embed="rId5"/>
          <a:stretch>
            <a:fillRect/>
          </a:stretch>
        </p:blipFill>
        <p:spPr>
          <a:xfrm>
            <a:off x="3470148" y="5390388"/>
            <a:ext cx="210312" cy="210312"/>
          </a:xfrm>
          <a:prstGeom prst="rect">
            <a:avLst/>
          </a:prstGeom>
        </p:spPr>
      </p:pic>
      <p:sp>
        <p:nvSpPr>
          <p:cNvPr id="26" name="TextBox 25"/>
          <p:cNvSpPr txBox="1"/>
          <p:nvPr/>
        </p:nvSpPr>
        <p:spPr>
          <a:xfrm>
            <a:off x="3895344"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Dated days</a:t>
            </a:r>
          </a:p>
        </p:txBody>
      </p:sp>
      <p:sp>
        <p:nvSpPr>
          <p:cNvPr id="27" name="TextBox 26"/>
          <p:cNvSpPr txBox="1"/>
          <p:nvPr/>
        </p:nvSpPr>
        <p:spPr>
          <a:xfrm>
            <a:off x="3895344"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Sights spread across the nights; travel days show mode, hours and distance.</a:t>
            </a:r>
          </a:p>
        </p:txBody>
      </p:sp>
      <p:sp>
        <p:nvSpPr>
          <p:cNvPr id="28" name="Oval 27"/>
          <p:cNvSpPr/>
          <p:nvPr/>
        </p:nvSpPr>
        <p:spPr>
          <a:xfrm>
            <a:off x="6181344" y="5285232"/>
            <a:ext cx="420624" cy="42062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triangle-alert-w.png"/>
          <p:cNvPicPr>
            <a:picLocks noChangeAspect="1"/>
          </p:cNvPicPr>
          <p:nvPr/>
        </p:nvPicPr>
        <p:blipFill>
          <a:blip r:embed="rId6"/>
          <a:stretch>
            <a:fillRect/>
          </a:stretch>
        </p:blipFill>
        <p:spPr>
          <a:xfrm>
            <a:off x="6286500" y="5390388"/>
            <a:ext cx="210312" cy="210312"/>
          </a:xfrm>
          <a:prstGeom prst="rect">
            <a:avLst/>
          </a:prstGeom>
        </p:spPr>
      </p:pic>
      <p:sp>
        <p:nvSpPr>
          <p:cNvPr id="30" name="TextBox 29"/>
          <p:cNvSpPr txBox="1"/>
          <p:nvPr/>
        </p:nvSpPr>
        <p:spPr>
          <a:xfrm>
            <a:off x="6711696"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Season warnings</a:t>
            </a:r>
          </a:p>
        </p:txBody>
      </p:sp>
      <p:sp>
        <p:nvSpPr>
          <p:cNvPr id="31" name="TextBox 30"/>
          <p:cNvSpPr txBox="1"/>
          <p:nvPr/>
        </p:nvSpPr>
        <p:spPr>
          <a:xfrm>
            <a:off x="6711696"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Flags a stop that falls outside its best months on those dates.</a:t>
            </a:r>
          </a:p>
        </p:txBody>
      </p:sp>
      <p:sp>
        <p:nvSpPr>
          <p:cNvPr id="32" name="Oval 31"/>
          <p:cNvSpPr/>
          <p:nvPr/>
        </p:nvSpPr>
        <p:spPr>
          <a:xfrm>
            <a:off x="8997696" y="5285232"/>
            <a:ext cx="420624" cy="42062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inter-w.png"/>
          <p:cNvPicPr>
            <a:picLocks noChangeAspect="1"/>
          </p:cNvPicPr>
          <p:nvPr/>
        </p:nvPicPr>
        <p:blipFill>
          <a:blip r:embed="rId7"/>
          <a:stretch>
            <a:fillRect/>
          </a:stretch>
        </p:blipFill>
        <p:spPr>
          <a:xfrm>
            <a:off x="9102852" y="5390388"/>
            <a:ext cx="210312" cy="210312"/>
          </a:xfrm>
          <a:prstGeom prst="rect">
            <a:avLst/>
          </a:prstGeom>
        </p:spPr>
      </p:pic>
      <p:sp>
        <p:nvSpPr>
          <p:cNvPr id="34" name="TextBox 33"/>
          <p:cNvSpPr txBox="1"/>
          <p:nvPr/>
        </p:nvSpPr>
        <p:spPr>
          <a:xfrm>
            <a:off x="9528048"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Share it</a:t>
            </a:r>
          </a:p>
        </p:txBody>
      </p:sp>
      <p:sp>
        <p:nvSpPr>
          <p:cNvPr id="35" name="TextBox 34"/>
          <p:cNvSpPr txBox="1"/>
          <p:nvPr/>
        </p:nvSpPr>
        <p:spPr>
          <a:xfrm>
            <a:off x="9528048"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Print, copy a text summary, or send the plan to an agent.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Packages: book with every rupee listed</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PACKAGES.HTML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17</a:t>
            </a:r>
          </a:p>
        </p:txBody>
      </p:sp>
      <p:sp>
        <p:nvSpPr>
          <p:cNvPr id="6" name="Rounded Rectangle 5"/>
          <p:cNvSpPr/>
          <p:nvPr/>
        </p:nvSpPr>
        <p:spPr>
          <a:xfrm>
            <a:off x="548640" y="1600200"/>
            <a:ext cx="2606040" cy="2295144"/>
          </a:xfrm>
          <a:prstGeom prst="roundRect">
            <a:avLst>
              <a:gd name="adj" fmla="val 3984"/>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67792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67792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67792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65301" y="1655064"/>
            <a:ext cx="117271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65301" y="1650492"/>
            <a:ext cx="117271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packages</a:t>
            </a:r>
          </a:p>
        </p:txBody>
      </p:sp>
      <p:pic>
        <p:nvPicPr>
          <p:cNvPr id="12" name="Picture 11" descr="Screenshot of the Pathik website: packages"/>
          <p:cNvPicPr>
            <a:picLocks noChangeAspect="1"/>
          </p:cNvPicPr>
          <p:nvPr/>
        </p:nvPicPr>
        <p:blipFill>
          <a:blip r:embed="rId2"/>
          <a:stretch>
            <a:fillRect/>
          </a:stretch>
        </p:blipFill>
        <p:spPr>
          <a:xfrm>
            <a:off x="594360" y="1837943"/>
            <a:ext cx="2514600" cy="2011680"/>
          </a:xfrm>
          <a:prstGeom prst="rect">
            <a:avLst/>
          </a:prstGeom>
        </p:spPr>
      </p:pic>
      <p:sp>
        <p:nvSpPr>
          <p:cNvPr id="13" name="Oval 12"/>
          <p:cNvSpPr/>
          <p:nvPr/>
        </p:nvSpPr>
        <p:spPr>
          <a:xfrm>
            <a:off x="548640" y="4343400"/>
            <a:ext cx="347472" cy="34747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4" name="TextBox 13"/>
          <p:cNvSpPr txBox="1"/>
          <p:nvPr/>
        </p:nvSpPr>
        <p:spPr>
          <a:xfrm>
            <a:off x="1005840" y="4352544"/>
            <a:ext cx="2148840" cy="32004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Choose</a:t>
            </a:r>
          </a:p>
        </p:txBody>
      </p:sp>
      <p:sp>
        <p:nvSpPr>
          <p:cNvPr id="15" name="TextBox 14"/>
          <p:cNvSpPr txBox="1"/>
          <p:nvPr/>
        </p:nvSpPr>
        <p:spPr>
          <a:xfrm>
            <a:off x="1005840" y="4681728"/>
            <a:ext cx="214884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8 packages with saving, nights and agent rating.</a:t>
            </a:r>
          </a:p>
        </p:txBody>
      </p:sp>
      <p:cxnSp>
        <p:nvCxnSpPr>
          <p:cNvPr id="16" name="Connector 15"/>
          <p:cNvCxnSpPr/>
          <p:nvPr/>
        </p:nvCxnSpPr>
        <p:spPr>
          <a:xfrm>
            <a:off x="3182112" y="2743200"/>
            <a:ext cx="164592"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74136" y="1600200"/>
            <a:ext cx="2606040" cy="2295144"/>
          </a:xfrm>
          <a:prstGeom prst="roundRect">
            <a:avLst>
              <a:gd name="adj" fmla="val 3984"/>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502152" y="167792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39312" y="167792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776472" y="167792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090797" y="1655064"/>
            <a:ext cx="117271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090797" y="1650492"/>
            <a:ext cx="117271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booking</a:t>
            </a:r>
          </a:p>
        </p:txBody>
      </p:sp>
      <p:pic>
        <p:nvPicPr>
          <p:cNvPr id="23" name="Picture 22" descr="Screenshot of the Pathik website: booking"/>
          <p:cNvPicPr>
            <a:picLocks noChangeAspect="1"/>
          </p:cNvPicPr>
          <p:nvPr/>
        </p:nvPicPr>
        <p:blipFill>
          <a:blip r:embed="rId3"/>
          <a:stretch>
            <a:fillRect/>
          </a:stretch>
        </p:blipFill>
        <p:spPr>
          <a:xfrm>
            <a:off x="3419856" y="1837943"/>
            <a:ext cx="2514600" cy="2011680"/>
          </a:xfrm>
          <a:prstGeom prst="rect">
            <a:avLst/>
          </a:prstGeom>
        </p:spPr>
      </p:pic>
      <p:sp>
        <p:nvSpPr>
          <p:cNvPr id="24" name="Oval 23"/>
          <p:cNvSpPr/>
          <p:nvPr/>
        </p:nvSpPr>
        <p:spPr>
          <a:xfrm>
            <a:off x="3374136" y="4343400"/>
            <a:ext cx="347472" cy="34747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25" name="TextBox 24"/>
          <p:cNvSpPr txBox="1"/>
          <p:nvPr/>
        </p:nvSpPr>
        <p:spPr>
          <a:xfrm>
            <a:off x="3831335" y="4352544"/>
            <a:ext cx="2148840" cy="32004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Pick date and travellers</a:t>
            </a:r>
          </a:p>
        </p:txBody>
      </p:sp>
      <p:sp>
        <p:nvSpPr>
          <p:cNvPr id="26" name="TextBox 25"/>
          <p:cNvSpPr txBox="1"/>
          <p:nvPr/>
        </p:nvSpPr>
        <p:spPr>
          <a:xfrm>
            <a:off x="3831335" y="4681728"/>
            <a:ext cx="214884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Included and not included, cancellation rule, live total.</a:t>
            </a:r>
          </a:p>
        </p:txBody>
      </p:sp>
      <p:cxnSp>
        <p:nvCxnSpPr>
          <p:cNvPr id="27" name="Connector 26"/>
          <p:cNvCxnSpPr/>
          <p:nvPr/>
        </p:nvCxnSpPr>
        <p:spPr>
          <a:xfrm>
            <a:off x="6007608" y="2743200"/>
            <a:ext cx="164592"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99631" y="1600200"/>
            <a:ext cx="2606040" cy="2295144"/>
          </a:xfrm>
          <a:prstGeom prst="roundRect">
            <a:avLst>
              <a:gd name="adj" fmla="val 3984"/>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327647" y="167792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4807" y="167792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01967" y="167792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16293" y="1655064"/>
            <a:ext cx="117271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16293" y="1650492"/>
            <a:ext cx="117271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cart</a:t>
            </a:r>
          </a:p>
        </p:txBody>
      </p:sp>
      <p:pic>
        <p:nvPicPr>
          <p:cNvPr id="34" name="Picture 33" descr="Screenshot of the Pathik website: cart"/>
          <p:cNvPicPr>
            <a:picLocks noChangeAspect="1"/>
          </p:cNvPicPr>
          <p:nvPr/>
        </p:nvPicPr>
        <p:blipFill>
          <a:blip r:embed="rId4"/>
          <a:stretch>
            <a:fillRect/>
          </a:stretch>
        </p:blipFill>
        <p:spPr>
          <a:xfrm>
            <a:off x="6245351" y="1837943"/>
            <a:ext cx="2514600" cy="2011680"/>
          </a:xfrm>
          <a:prstGeom prst="rect">
            <a:avLst/>
          </a:prstGeom>
        </p:spPr>
      </p:pic>
      <p:sp>
        <p:nvSpPr>
          <p:cNvPr id="35" name="Oval 34"/>
          <p:cNvSpPr/>
          <p:nvPr/>
        </p:nvSpPr>
        <p:spPr>
          <a:xfrm>
            <a:off x="6199631" y="4343400"/>
            <a:ext cx="347472" cy="347472"/>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36" name="TextBox 35"/>
          <p:cNvSpPr txBox="1"/>
          <p:nvPr/>
        </p:nvSpPr>
        <p:spPr>
          <a:xfrm>
            <a:off x="6656831" y="4352544"/>
            <a:ext cx="2148840" cy="32004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Review the cart</a:t>
            </a:r>
          </a:p>
        </p:txBody>
      </p:sp>
      <p:sp>
        <p:nvSpPr>
          <p:cNvPr id="37" name="TextBox 36"/>
          <p:cNvSpPr txBox="1"/>
          <p:nvPr/>
        </p:nvSpPr>
        <p:spPr>
          <a:xfrm>
            <a:off x="6656831" y="4681728"/>
            <a:ext cx="214884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Subtotal, 5% GST line, total and the 20% due now.</a:t>
            </a:r>
          </a:p>
        </p:txBody>
      </p:sp>
      <p:cxnSp>
        <p:nvCxnSpPr>
          <p:cNvPr id="38" name="Connector 37"/>
          <p:cNvCxnSpPr/>
          <p:nvPr/>
        </p:nvCxnSpPr>
        <p:spPr>
          <a:xfrm>
            <a:off x="8833103" y="2743200"/>
            <a:ext cx="164593" cy="0"/>
          </a:xfrm>
          <a:prstGeom prst="line">
            <a:avLst/>
          </a:prstGeom>
          <a:ln w="25400">
            <a:solidFill>
              <a:srgbClr val="EF7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25128" y="1600200"/>
            <a:ext cx="2606040" cy="2295144"/>
          </a:xfrm>
          <a:prstGeom prst="roundRect">
            <a:avLst>
              <a:gd name="adj" fmla="val 3984"/>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153144" y="167792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90304" y="167792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27464" y="167792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741788" y="1655064"/>
            <a:ext cx="1172718"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741788" y="1650492"/>
            <a:ext cx="1172718"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reserved</a:t>
            </a:r>
          </a:p>
        </p:txBody>
      </p:sp>
      <p:pic>
        <p:nvPicPr>
          <p:cNvPr id="45" name="Picture 44" descr="Screenshot of the Pathik website: reserved"/>
          <p:cNvPicPr>
            <a:picLocks noChangeAspect="1"/>
          </p:cNvPicPr>
          <p:nvPr/>
        </p:nvPicPr>
        <p:blipFill>
          <a:blip r:embed="rId5"/>
          <a:stretch>
            <a:fillRect/>
          </a:stretch>
        </p:blipFill>
        <p:spPr>
          <a:xfrm>
            <a:off x="9070848" y="1837943"/>
            <a:ext cx="2514600" cy="2011680"/>
          </a:xfrm>
          <a:prstGeom prst="rect">
            <a:avLst/>
          </a:prstGeom>
        </p:spPr>
      </p:pic>
      <p:sp>
        <p:nvSpPr>
          <p:cNvPr id="46" name="Oval 45"/>
          <p:cNvSpPr/>
          <p:nvPr/>
        </p:nvSpPr>
        <p:spPr>
          <a:xfrm>
            <a:off x="9025128" y="4343400"/>
            <a:ext cx="347472" cy="347472"/>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47" name="TextBox 46"/>
          <p:cNvSpPr txBox="1"/>
          <p:nvPr/>
        </p:nvSpPr>
        <p:spPr>
          <a:xfrm>
            <a:off x="9482328" y="4352544"/>
            <a:ext cx="2148840" cy="32004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Reserve</a:t>
            </a:r>
          </a:p>
        </p:txBody>
      </p:sp>
      <p:sp>
        <p:nvSpPr>
          <p:cNvPr id="48" name="TextBox 47"/>
          <p:cNvSpPr txBox="1"/>
          <p:nvPr/>
        </p:nvSpPr>
        <p:spPr>
          <a:xfrm>
            <a:off x="9482328" y="4681728"/>
            <a:ext cx="2148840" cy="73152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Validated form, then a reference number like PTK-B95S0.</a:t>
            </a:r>
          </a:p>
        </p:txBody>
      </p:sp>
      <p:sp>
        <p:nvSpPr>
          <p:cNvPr id="49" name="Rounded Rectangle 48"/>
          <p:cNvSpPr/>
          <p:nvPr/>
        </p:nvSpPr>
        <p:spPr>
          <a:xfrm>
            <a:off x="548640" y="5577840"/>
            <a:ext cx="11091672" cy="640080"/>
          </a:xfrm>
          <a:prstGeom prst="roundRect">
            <a:avLst>
              <a:gd name="adj" fmla="val 17142"/>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shield-check-w.png"/>
          <p:cNvPicPr>
            <a:picLocks noChangeAspect="1"/>
          </p:cNvPicPr>
          <p:nvPr/>
        </p:nvPicPr>
        <p:blipFill>
          <a:blip r:embed="rId6"/>
          <a:stretch>
            <a:fillRect/>
          </a:stretch>
        </p:blipFill>
        <p:spPr>
          <a:xfrm>
            <a:off x="777240" y="5733288"/>
            <a:ext cx="329184" cy="329184"/>
          </a:xfrm>
          <a:prstGeom prst="rect">
            <a:avLst/>
          </a:prstGeom>
        </p:spPr>
      </p:pic>
      <p:sp>
        <p:nvSpPr>
          <p:cNvPr id="51" name="TextBox 50"/>
          <p:cNvSpPr txBox="1"/>
          <p:nvPr/>
        </p:nvSpPr>
        <p:spPr>
          <a:xfrm>
            <a:off x="1280160" y="5577840"/>
            <a:ext cx="10241280" cy="640080"/>
          </a:xfrm>
          <a:prstGeom prst="rect">
            <a:avLst/>
          </a:prstGeom>
          <a:noFill/>
        </p:spPr>
        <p:txBody>
          <a:bodyPr wrap="square" lIns="0" rIns="0" tIns="0" bIns="0" anchor="ctr">
            <a:noAutofit/>
          </a:bodyPr>
          <a:lstStyle/>
          <a:p>
            <a:pPr algn="l">
              <a:spcAft>
                <a:spcPts val="400"/>
              </a:spcAft>
            </a:pPr>
            <a:r>
              <a:rPr sz="1250" b="1" i="0">
                <a:solidFill>
                  <a:srgbClr val="FFC46B"/>
                </a:solidFill>
                <a:latin typeface="Calibri"/>
              </a:rPr>
              <a:t>No full payment upfront. </a:t>
            </a:r>
            <a:r>
              <a:rPr sz="1250" b="0" i="0">
                <a:solidFill>
                  <a:srgbClr val="FFFFFF"/>
                </a:solidFill>
                <a:latin typeface="Calibri"/>
              </a:rPr>
              <a:t>Children pay 70%, GST is a visible line, and the balance is due only after the agent confirms.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Agents: one enquiry, tracked to a quote</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AGENTS.HTML</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18</a:t>
            </a:r>
          </a:p>
        </p:txBody>
      </p:sp>
      <p:sp>
        <p:nvSpPr>
          <p:cNvPr id="6" name="Rounded Rectangle 5"/>
          <p:cNvSpPr/>
          <p:nvPr/>
        </p:nvSpPr>
        <p:spPr>
          <a:xfrm>
            <a:off x="548640"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76656"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94535"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94535"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agents</a:t>
            </a:r>
          </a:p>
        </p:txBody>
      </p:sp>
      <p:pic>
        <p:nvPicPr>
          <p:cNvPr id="12" name="Picture 11" descr="Screenshot of the Pathik website: pathik / agents"/>
          <p:cNvPicPr>
            <a:picLocks noChangeAspect="1"/>
          </p:cNvPicPr>
          <p:nvPr/>
        </p:nvPicPr>
        <p:blipFill>
          <a:blip r:embed="rId2"/>
          <a:stretch>
            <a:fillRect/>
          </a:stretch>
        </p:blipFill>
        <p:spPr>
          <a:xfrm>
            <a:off x="594360" y="1700784"/>
            <a:ext cx="5166360" cy="3228975"/>
          </a:xfrm>
          <a:prstGeom prst="rect">
            <a:avLst/>
          </a:prstGeom>
        </p:spPr>
      </p:pic>
      <p:sp>
        <p:nvSpPr>
          <p:cNvPr id="13" name="Rounded Rectangle 12"/>
          <p:cNvSpPr/>
          <p:nvPr/>
        </p:nvSpPr>
        <p:spPr>
          <a:xfrm>
            <a:off x="6382512" y="1463040"/>
            <a:ext cx="5257800" cy="3512438"/>
          </a:xfrm>
          <a:prstGeom prst="roundRect">
            <a:avLst>
              <a:gd name="adj" fmla="val 2603"/>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10528" y="154076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47688" y="154076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154076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28407" y="1517904"/>
            <a:ext cx="2366010"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28407" y="1513332"/>
            <a:ext cx="2366010"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agents · your enquiries</a:t>
            </a:r>
          </a:p>
        </p:txBody>
      </p:sp>
      <p:pic>
        <p:nvPicPr>
          <p:cNvPr id="19" name="Picture 18" descr="Screenshot of the Pathik website: agents · your enquiries"/>
          <p:cNvPicPr>
            <a:picLocks noChangeAspect="1"/>
          </p:cNvPicPr>
          <p:nvPr/>
        </p:nvPicPr>
        <p:blipFill>
          <a:blip r:embed="rId3"/>
          <a:stretch>
            <a:fillRect/>
          </a:stretch>
        </p:blipFill>
        <p:spPr>
          <a:xfrm>
            <a:off x="6428232" y="1700784"/>
            <a:ext cx="5166360" cy="3228975"/>
          </a:xfrm>
          <a:prstGeom prst="rect">
            <a:avLst/>
          </a:prstGeom>
        </p:spPr>
      </p:pic>
      <p:sp>
        <p:nvSpPr>
          <p:cNvPr id="20" name="Oval 19"/>
          <p:cNvSpPr/>
          <p:nvPr/>
        </p:nvSpPr>
        <p:spPr>
          <a:xfrm>
            <a:off x="548640" y="5285232"/>
            <a:ext cx="420624" cy="42062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adge-check-w.png"/>
          <p:cNvPicPr>
            <a:picLocks noChangeAspect="1"/>
          </p:cNvPicPr>
          <p:nvPr/>
        </p:nvPicPr>
        <p:blipFill>
          <a:blip r:embed="rId4"/>
          <a:stretch>
            <a:fillRect/>
          </a:stretch>
        </p:blipFill>
        <p:spPr>
          <a:xfrm>
            <a:off x="653796" y="5390388"/>
            <a:ext cx="210312" cy="210312"/>
          </a:xfrm>
          <a:prstGeom prst="rect">
            <a:avLst/>
          </a:prstGeom>
        </p:spPr>
      </p:pic>
      <p:sp>
        <p:nvSpPr>
          <p:cNvPr id="22" name="TextBox 21"/>
          <p:cNvSpPr txBox="1"/>
          <p:nvPr/>
        </p:nvSpPr>
        <p:spPr>
          <a:xfrm>
            <a:off x="1078992"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Registered agents</a:t>
            </a:r>
          </a:p>
        </p:txBody>
      </p:sp>
      <p:sp>
        <p:nvSpPr>
          <p:cNvPr id="23" name="TextBox 22"/>
          <p:cNvSpPr txBox="1"/>
          <p:nvPr/>
        </p:nvSpPr>
        <p:spPr>
          <a:xfrm>
            <a:off x="1078992"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Registration number, reply time, rating and languages. Best match picked from the trip.</a:t>
            </a:r>
          </a:p>
        </p:txBody>
      </p:sp>
      <p:sp>
        <p:nvSpPr>
          <p:cNvPr id="24" name="Oval 23"/>
          <p:cNvSpPr/>
          <p:nvPr/>
        </p:nvSpPr>
        <p:spPr>
          <a:xfrm>
            <a:off x="3364992" y="5285232"/>
            <a:ext cx="420624" cy="42062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route-w.png"/>
          <p:cNvPicPr>
            <a:picLocks noChangeAspect="1"/>
          </p:cNvPicPr>
          <p:nvPr/>
        </p:nvPicPr>
        <p:blipFill>
          <a:blip r:embed="rId5"/>
          <a:stretch>
            <a:fillRect/>
          </a:stretch>
        </p:blipFill>
        <p:spPr>
          <a:xfrm>
            <a:off x="3470148" y="5390388"/>
            <a:ext cx="210312" cy="210312"/>
          </a:xfrm>
          <a:prstGeom prst="rect">
            <a:avLst/>
          </a:prstGeom>
        </p:spPr>
      </p:pic>
      <p:sp>
        <p:nvSpPr>
          <p:cNvPr id="26" name="TextBox 25"/>
          <p:cNvSpPr txBox="1"/>
          <p:nvPr/>
        </p:nvSpPr>
        <p:spPr>
          <a:xfrm>
            <a:off x="3895344"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Trip attached</a:t>
            </a:r>
          </a:p>
        </p:txBody>
      </p:sp>
      <p:sp>
        <p:nvSpPr>
          <p:cNvPr id="27" name="TextBox 26"/>
          <p:cNvSpPr txBox="1"/>
          <p:nvPr/>
        </p:nvSpPr>
        <p:spPr>
          <a:xfrm>
            <a:off x="3895344"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Stops, nights, travellers and the estimate go with the enquiry. No retyping.</a:t>
            </a:r>
          </a:p>
        </p:txBody>
      </p:sp>
      <p:sp>
        <p:nvSpPr>
          <p:cNvPr id="28" name="Oval 27"/>
          <p:cNvSpPr/>
          <p:nvPr/>
        </p:nvSpPr>
        <p:spPr>
          <a:xfrm>
            <a:off x="6181344" y="5285232"/>
            <a:ext cx="420624" cy="42062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ist-checks-w.png"/>
          <p:cNvPicPr>
            <a:picLocks noChangeAspect="1"/>
          </p:cNvPicPr>
          <p:nvPr/>
        </p:nvPicPr>
        <p:blipFill>
          <a:blip r:embed="rId6"/>
          <a:stretch>
            <a:fillRect/>
          </a:stretch>
        </p:blipFill>
        <p:spPr>
          <a:xfrm>
            <a:off x="6286500" y="5390388"/>
            <a:ext cx="210312" cy="210312"/>
          </a:xfrm>
          <a:prstGeom prst="rect">
            <a:avLst/>
          </a:prstGeom>
        </p:spPr>
      </p:pic>
      <p:sp>
        <p:nvSpPr>
          <p:cNvPr id="30" name="TextBox 29"/>
          <p:cNvSpPr txBox="1"/>
          <p:nvPr/>
        </p:nvSpPr>
        <p:spPr>
          <a:xfrm>
            <a:off x="6711696"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Checked form</a:t>
            </a:r>
          </a:p>
        </p:txBody>
      </p:sp>
      <p:sp>
        <p:nvSpPr>
          <p:cNvPr id="31" name="TextBox 30"/>
          <p:cNvSpPr txBox="1"/>
          <p:nvPr/>
        </p:nvSpPr>
        <p:spPr>
          <a:xfrm>
            <a:off x="6711696"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Name, 10-digit Indian mobile and email checked before sending.</a:t>
            </a:r>
          </a:p>
        </p:txBody>
      </p:sp>
      <p:sp>
        <p:nvSpPr>
          <p:cNvPr id="32" name="Oval 31"/>
          <p:cNvSpPr/>
          <p:nvPr/>
        </p:nvSpPr>
        <p:spPr>
          <a:xfrm>
            <a:off x="8997696" y="5285232"/>
            <a:ext cx="420624" cy="42062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nbox-w.png"/>
          <p:cNvPicPr>
            <a:picLocks noChangeAspect="1"/>
          </p:cNvPicPr>
          <p:nvPr/>
        </p:nvPicPr>
        <p:blipFill>
          <a:blip r:embed="rId7"/>
          <a:stretch>
            <a:fillRect/>
          </a:stretch>
        </p:blipFill>
        <p:spPr>
          <a:xfrm>
            <a:off x="9102852" y="5390388"/>
            <a:ext cx="210312" cy="210312"/>
          </a:xfrm>
          <a:prstGeom prst="rect">
            <a:avLst/>
          </a:prstGeom>
        </p:spPr>
      </p:pic>
      <p:sp>
        <p:nvSpPr>
          <p:cNvPr id="34" name="TextBox 33"/>
          <p:cNvSpPr txBox="1"/>
          <p:nvPr/>
        </p:nvSpPr>
        <p:spPr>
          <a:xfrm>
            <a:off x="9528048" y="5257800"/>
            <a:ext cx="2194560" cy="274320"/>
          </a:xfrm>
          <a:prstGeom prst="rect">
            <a:avLst/>
          </a:prstGeom>
          <a:noFill/>
        </p:spPr>
        <p:txBody>
          <a:bodyPr wrap="square" lIns="0" rIns="0" tIns="0" bIns="0" anchor="t">
            <a:noAutofit/>
          </a:bodyPr>
          <a:lstStyle/>
          <a:p>
            <a:pPr algn="l">
              <a:spcAft>
                <a:spcPts val="400"/>
              </a:spcAft>
            </a:pPr>
            <a:r>
              <a:rPr sz="1300" b="1" i="0">
                <a:solidFill>
                  <a:srgbClr val="1C1638"/>
                </a:solidFill>
                <a:latin typeface="Calibri"/>
              </a:rPr>
              <a:t>Quote tracker</a:t>
            </a:r>
          </a:p>
        </p:txBody>
      </p:sp>
      <p:sp>
        <p:nvSpPr>
          <p:cNvPr id="35" name="TextBox 34"/>
          <p:cNvSpPr txBox="1"/>
          <p:nvPr/>
        </p:nvSpPr>
        <p:spPr>
          <a:xfrm>
            <a:off x="9528048" y="5532120"/>
            <a:ext cx="2194560" cy="822960"/>
          </a:xfrm>
          <a:prstGeom prst="rect">
            <a:avLst/>
          </a:prstGeom>
          <a:noFill/>
        </p:spPr>
        <p:txBody>
          <a:bodyPr wrap="square" lIns="0" rIns="0" tIns="0" bIns="0" anchor="t">
            <a:noAutofit/>
          </a:bodyPr>
          <a:lstStyle/>
          <a:p>
            <a:pPr algn="l">
              <a:spcAft>
                <a:spcPts val="400"/>
              </a:spcAft>
            </a:pPr>
            <a:r>
              <a:rPr sz="1050" b="0" i="0">
                <a:solidFill>
                  <a:srgbClr val="2B2257"/>
                </a:solidFill>
                <a:latin typeface="Calibri"/>
              </a:rPr>
              <a:t>Sent, seen, quote ready. Accept or decline the quote.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Works on every screen, loads fast</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SCREENSHOTS  ·  MOBILE AND QUALITY</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19</a:t>
            </a:r>
          </a:p>
        </p:txBody>
      </p:sp>
      <p:sp>
        <p:nvSpPr>
          <p:cNvPr id="6" name="Rounded Rectangle 5"/>
          <p:cNvSpPr/>
          <p:nvPr/>
        </p:nvSpPr>
        <p:spPr>
          <a:xfrm>
            <a:off x="685800" y="1417320"/>
            <a:ext cx="2240280" cy="4656593"/>
          </a:xfrm>
          <a:prstGeom prst="roundRect">
            <a:avLst>
              <a:gd name="adj" fmla="val 11428"/>
            </a:avLst>
          </a:prstGeom>
          <a:solidFill>
            <a:srgbClr val="1C1638"/>
          </a:solidFill>
          <a:ln>
            <a:noFill/>
          </a:ln>
          <a:effectLst>
            <a:outerShdw blurRad="228600" dist="50800" dir="5400000" algn="t" rotWithShape="0">
              <a:srgbClr val="1C16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creenshot of the Pathik website on a phone"/>
          <p:cNvPicPr>
            <a:picLocks noChangeAspect="1"/>
          </p:cNvPicPr>
          <p:nvPr/>
        </p:nvPicPr>
        <p:blipFill>
          <a:blip r:embed="rId2"/>
          <a:stretch>
            <a:fillRect/>
          </a:stretch>
        </p:blipFill>
        <p:spPr>
          <a:xfrm>
            <a:off x="768096" y="1499616"/>
            <a:ext cx="2075688" cy="4492001"/>
          </a:xfrm>
          <a:prstGeom prst="rect">
            <a:avLst/>
          </a:prstGeom>
        </p:spPr>
      </p:pic>
      <p:sp>
        <p:nvSpPr>
          <p:cNvPr id="8" name="Rounded Rectangle 7"/>
          <p:cNvSpPr/>
          <p:nvPr/>
        </p:nvSpPr>
        <p:spPr>
          <a:xfrm>
            <a:off x="3154680" y="1417320"/>
            <a:ext cx="2240280" cy="4656593"/>
          </a:xfrm>
          <a:prstGeom prst="roundRect">
            <a:avLst>
              <a:gd name="adj" fmla="val 11428"/>
            </a:avLst>
          </a:prstGeom>
          <a:solidFill>
            <a:srgbClr val="1C1638"/>
          </a:solidFill>
          <a:ln>
            <a:noFill/>
          </a:ln>
          <a:effectLst>
            <a:outerShdw blurRad="228600" dist="50800" dir="5400000" algn="t" rotWithShape="0">
              <a:srgbClr val="1C16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creenshot of the Pathik website on a phone"/>
          <p:cNvPicPr>
            <a:picLocks noChangeAspect="1"/>
          </p:cNvPicPr>
          <p:nvPr/>
        </p:nvPicPr>
        <p:blipFill>
          <a:blip r:embed="rId3"/>
          <a:stretch>
            <a:fillRect/>
          </a:stretch>
        </p:blipFill>
        <p:spPr>
          <a:xfrm>
            <a:off x="3236976" y="1499616"/>
            <a:ext cx="2075688" cy="4492001"/>
          </a:xfrm>
          <a:prstGeom prst="rect">
            <a:avLst/>
          </a:prstGeom>
        </p:spPr>
      </p:pic>
      <p:sp>
        <p:nvSpPr>
          <p:cNvPr id="10" name="Rounded Rectangle 9"/>
          <p:cNvSpPr/>
          <p:nvPr/>
        </p:nvSpPr>
        <p:spPr>
          <a:xfrm>
            <a:off x="5852160" y="1508760"/>
            <a:ext cx="5806440" cy="1024128"/>
          </a:xfrm>
          <a:prstGeom prst="roundRect">
            <a:avLst>
              <a:gd name="adj" fmla="val 10714"/>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035040" y="1755648"/>
            <a:ext cx="512064" cy="51206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nitor-smartphone-w.png"/>
          <p:cNvPicPr>
            <a:picLocks noChangeAspect="1"/>
          </p:cNvPicPr>
          <p:nvPr/>
        </p:nvPicPr>
        <p:blipFill>
          <a:blip r:embed="rId4"/>
          <a:stretch>
            <a:fillRect/>
          </a:stretch>
        </p:blipFill>
        <p:spPr>
          <a:xfrm>
            <a:off x="6163055" y="1883664"/>
            <a:ext cx="256032" cy="256032"/>
          </a:xfrm>
          <a:prstGeom prst="rect">
            <a:avLst/>
          </a:prstGeom>
        </p:spPr>
      </p:pic>
      <p:sp>
        <p:nvSpPr>
          <p:cNvPr id="13" name="TextBox 12"/>
          <p:cNvSpPr txBox="1"/>
          <p:nvPr/>
        </p:nvSpPr>
        <p:spPr>
          <a:xfrm>
            <a:off x="6720840" y="1636776"/>
            <a:ext cx="4800600" cy="27432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Responsive</a:t>
            </a:r>
          </a:p>
        </p:txBody>
      </p:sp>
      <p:sp>
        <p:nvSpPr>
          <p:cNvPr id="14" name="TextBox 13"/>
          <p:cNvSpPr txBox="1"/>
          <p:nvPr/>
        </p:nvSpPr>
        <p:spPr>
          <a:xfrm>
            <a:off x="6720840" y="1929384"/>
            <a:ext cx="4800600" cy="56692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From 360 px phones to wide desktops. Menu, finder and carousels reflow; no sideways scrolling.</a:t>
            </a:r>
          </a:p>
        </p:txBody>
      </p:sp>
      <p:sp>
        <p:nvSpPr>
          <p:cNvPr id="15" name="Rounded Rectangle 14"/>
          <p:cNvSpPr/>
          <p:nvPr/>
        </p:nvSpPr>
        <p:spPr>
          <a:xfrm>
            <a:off x="5852160" y="2679191"/>
            <a:ext cx="5806440" cy="1024128"/>
          </a:xfrm>
          <a:prstGeom prst="roundRect">
            <a:avLst>
              <a:gd name="adj" fmla="val 10714"/>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035040" y="2926079"/>
            <a:ext cx="512064" cy="51206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auge-w.png"/>
          <p:cNvPicPr>
            <a:picLocks noChangeAspect="1"/>
          </p:cNvPicPr>
          <p:nvPr/>
        </p:nvPicPr>
        <p:blipFill>
          <a:blip r:embed="rId5"/>
          <a:stretch>
            <a:fillRect/>
          </a:stretch>
        </p:blipFill>
        <p:spPr>
          <a:xfrm>
            <a:off x="6163055" y="3054096"/>
            <a:ext cx="256032" cy="256032"/>
          </a:xfrm>
          <a:prstGeom prst="rect">
            <a:avLst/>
          </a:prstGeom>
        </p:spPr>
      </p:pic>
      <p:sp>
        <p:nvSpPr>
          <p:cNvPr id="18" name="TextBox 17"/>
          <p:cNvSpPr txBox="1"/>
          <p:nvPr/>
        </p:nvSpPr>
        <p:spPr>
          <a:xfrm>
            <a:off x="6720840" y="2807208"/>
            <a:ext cx="4800600" cy="27432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Performance</a:t>
            </a:r>
          </a:p>
        </p:txBody>
      </p:sp>
      <p:sp>
        <p:nvSpPr>
          <p:cNvPr id="19" name="TextBox 18"/>
          <p:cNvSpPr txBox="1"/>
          <p:nvPr/>
        </p:nvSpPr>
        <p:spPr>
          <a:xfrm>
            <a:off x="6720840" y="3099815"/>
            <a:ext cx="4800600" cy="56692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No render-blocking scripts. Lazy images in the right size. 3D and maps load only when needed.</a:t>
            </a:r>
          </a:p>
        </p:txBody>
      </p:sp>
      <p:sp>
        <p:nvSpPr>
          <p:cNvPr id="20" name="Rounded Rectangle 19"/>
          <p:cNvSpPr/>
          <p:nvPr/>
        </p:nvSpPr>
        <p:spPr>
          <a:xfrm>
            <a:off x="5852160" y="3849624"/>
            <a:ext cx="5806440" cy="1024128"/>
          </a:xfrm>
          <a:prstGeom prst="roundRect">
            <a:avLst>
              <a:gd name="adj" fmla="val 10714"/>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35040" y="4096512"/>
            <a:ext cx="512064" cy="512064"/>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w.png"/>
          <p:cNvPicPr>
            <a:picLocks noChangeAspect="1"/>
          </p:cNvPicPr>
          <p:nvPr/>
        </p:nvPicPr>
        <p:blipFill>
          <a:blip r:embed="rId6"/>
          <a:stretch>
            <a:fillRect/>
          </a:stretch>
        </p:blipFill>
        <p:spPr>
          <a:xfrm>
            <a:off x="6163055" y="4224528"/>
            <a:ext cx="256032" cy="256032"/>
          </a:xfrm>
          <a:prstGeom prst="rect">
            <a:avLst/>
          </a:prstGeom>
        </p:spPr>
      </p:pic>
      <p:sp>
        <p:nvSpPr>
          <p:cNvPr id="23" name="TextBox 22"/>
          <p:cNvSpPr txBox="1"/>
          <p:nvPr/>
        </p:nvSpPr>
        <p:spPr>
          <a:xfrm>
            <a:off x="6720840" y="3977639"/>
            <a:ext cx="4800600" cy="27432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Accessible</a:t>
            </a:r>
          </a:p>
        </p:txBody>
      </p:sp>
      <p:sp>
        <p:nvSpPr>
          <p:cNvPr id="24" name="TextBox 23"/>
          <p:cNvSpPr txBox="1"/>
          <p:nvPr/>
        </p:nvSpPr>
        <p:spPr>
          <a:xfrm>
            <a:off x="6720840" y="4270248"/>
            <a:ext cx="4800600" cy="56692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Keyboard friendly, visible focus, labelled fields, reduced-motion support.</a:t>
            </a:r>
          </a:p>
        </p:txBody>
      </p:sp>
      <p:sp>
        <p:nvSpPr>
          <p:cNvPr id="25" name="Rounded Rectangle 24"/>
          <p:cNvSpPr/>
          <p:nvPr/>
        </p:nvSpPr>
        <p:spPr>
          <a:xfrm>
            <a:off x="5852160" y="5020056"/>
            <a:ext cx="5806440" cy="1024128"/>
          </a:xfrm>
          <a:prstGeom prst="roundRect">
            <a:avLst>
              <a:gd name="adj" fmla="val 10714"/>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035040" y="5266944"/>
            <a:ext cx="512064" cy="512064"/>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lask-conical-w.png"/>
          <p:cNvPicPr>
            <a:picLocks noChangeAspect="1"/>
          </p:cNvPicPr>
          <p:nvPr/>
        </p:nvPicPr>
        <p:blipFill>
          <a:blip r:embed="rId7"/>
          <a:stretch>
            <a:fillRect/>
          </a:stretch>
        </p:blipFill>
        <p:spPr>
          <a:xfrm>
            <a:off x="6163055" y="5394959"/>
            <a:ext cx="256032" cy="256032"/>
          </a:xfrm>
          <a:prstGeom prst="rect">
            <a:avLst/>
          </a:prstGeom>
        </p:spPr>
      </p:pic>
      <p:sp>
        <p:nvSpPr>
          <p:cNvPr id="28" name="TextBox 27"/>
          <p:cNvSpPr txBox="1"/>
          <p:nvPr/>
        </p:nvSpPr>
        <p:spPr>
          <a:xfrm>
            <a:off x="6720840" y="5148072"/>
            <a:ext cx="4800600" cy="27432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Tested</a:t>
            </a:r>
          </a:p>
        </p:txBody>
      </p:sp>
      <p:sp>
        <p:nvSpPr>
          <p:cNvPr id="29" name="TextBox 28"/>
          <p:cNvSpPr txBox="1"/>
          <p:nvPr/>
        </p:nvSpPr>
        <p:spPr>
          <a:xfrm>
            <a:off x="6720840" y="5440680"/>
            <a:ext cx="4800600" cy="566928"/>
          </a:xfrm>
          <a:prstGeom prst="rect">
            <a:avLst/>
          </a:prstGeom>
          <a:noFill/>
        </p:spPr>
        <p:txBody>
          <a:bodyPr wrap="square" lIns="0" rIns="0" tIns="0" bIns="0" anchor="t">
            <a:noAutofit/>
          </a:bodyPr>
          <a:lstStyle/>
          <a:p>
            <a:pPr algn="l">
              <a:spcAft>
                <a:spcPts val="400"/>
              </a:spcAft>
            </a:pPr>
            <a:r>
              <a:rPr sz="1150" b="0" i="0">
                <a:solidFill>
                  <a:srgbClr val="2B2257"/>
                </a:solidFill>
                <a:latin typeface="Calibri"/>
              </a:rPr>
              <a:t>Playwright scripts click through every flow on desktop and mobile and check for console errors.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Development Methodology</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ITERATIVE, FEEDBACK-DRIVEN</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20</a:t>
            </a:r>
          </a:p>
        </p:txBody>
      </p:sp>
      <p:cxnSp>
        <p:nvCxnSpPr>
          <p:cNvPr id="6" name="Connector 5"/>
          <p:cNvCxnSpPr/>
          <p:nvPr/>
        </p:nvCxnSpPr>
        <p:spPr>
          <a:xfrm>
            <a:off x="1394460" y="2514600"/>
            <a:ext cx="9372600" cy="0"/>
          </a:xfrm>
          <a:prstGeom prst="line">
            <a:avLst/>
          </a:prstGeom>
          <a:ln w="38100">
            <a:solidFill>
              <a:srgbClr val="E2DC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28700" y="2148840"/>
            <a:ext cx="731520" cy="7315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arch-w.png"/>
          <p:cNvPicPr>
            <a:picLocks noChangeAspect="1"/>
          </p:cNvPicPr>
          <p:nvPr/>
        </p:nvPicPr>
        <p:blipFill>
          <a:blip r:embed="rId2"/>
          <a:stretch>
            <a:fillRect/>
          </a:stretch>
        </p:blipFill>
        <p:spPr>
          <a:xfrm>
            <a:off x="1211580" y="2331720"/>
            <a:ext cx="365760" cy="365760"/>
          </a:xfrm>
          <a:prstGeom prst="rect">
            <a:avLst/>
          </a:prstGeom>
        </p:spPr>
      </p:pic>
      <p:sp>
        <p:nvSpPr>
          <p:cNvPr id="9" name="TextBox 8"/>
          <p:cNvSpPr txBox="1"/>
          <p:nvPr/>
        </p:nvSpPr>
        <p:spPr>
          <a:xfrm>
            <a:off x="54864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01</a:t>
            </a:r>
          </a:p>
        </p:txBody>
      </p:sp>
      <p:sp>
        <p:nvSpPr>
          <p:cNvPr id="10" name="TextBox 9"/>
          <p:cNvSpPr txBox="1"/>
          <p:nvPr/>
        </p:nvSpPr>
        <p:spPr>
          <a:xfrm>
            <a:off x="54864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Research</a:t>
            </a:r>
          </a:p>
        </p:txBody>
      </p:sp>
      <p:sp>
        <p:nvSpPr>
          <p:cNvPr id="11" name="TextBox 10"/>
          <p:cNvSpPr txBox="1"/>
          <p:nvPr/>
        </p:nvSpPr>
        <p:spPr>
          <a:xfrm>
            <a:off x="59436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Published studies, traveller pain points, stakeholders</a:t>
            </a:r>
          </a:p>
        </p:txBody>
      </p:sp>
      <p:sp>
        <p:nvSpPr>
          <p:cNvPr id="12" name="Oval 11"/>
          <p:cNvSpPr/>
          <p:nvPr/>
        </p:nvSpPr>
        <p:spPr>
          <a:xfrm>
            <a:off x="2903220" y="2148840"/>
            <a:ext cx="731520" cy="7315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w.png"/>
          <p:cNvPicPr>
            <a:picLocks noChangeAspect="1"/>
          </p:cNvPicPr>
          <p:nvPr/>
        </p:nvPicPr>
        <p:blipFill>
          <a:blip r:embed="rId3"/>
          <a:stretch>
            <a:fillRect/>
          </a:stretch>
        </p:blipFill>
        <p:spPr>
          <a:xfrm>
            <a:off x="3086100" y="2331720"/>
            <a:ext cx="365760" cy="365760"/>
          </a:xfrm>
          <a:prstGeom prst="rect">
            <a:avLst/>
          </a:prstGeom>
        </p:spPr>
      </p:pic>
      <p:sp>
        <p:nvSpPr>
          <p:cNvPr id="14" name="TextBox 13"/>
          <p:cNvSpPr txBox="1"/>
          <p:nvPr/>
        </p:nvSpPr>
        <p:spPr>
          <a:xfrm>
            <a:off x="242316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02</a:t>
            </a:r>
          </a:p>
        </p:txBody>
      </p:sp>
      <p:sp>
        <p:nvSpPr>
          <p:cNvPr id="15" name="TextBox 14"/>
          <p:cNvSpPr txBox="1"/>
          <p:nvPr/>
        </p:nvSpPr>
        <p:spPr>
          <a:xfrm>
            <a:off x="242316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Requirements</a:t>
            </a:r>
          </a:p>
        </p:txBody>
      </p:sp>
      <p:sp>
        <p:nvSpPr>
          <p:cNvPr id="16" name="TextBox 15"/>
          <p:cNvSpPr txBox="1"/>
          <p:nvPr/>
        </p:nvSpPr>
        <p:spPr>
          <a:xfrm>
            <a:off x="246888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F1 to F6 functions plus speed, access and offline goals</a:t>
            </a:r>
          </a:p>
        </p:txBody>
      </p:sp>
      <p:sp>
        <p:nvSpPr>
          <p:cNvPr id="17" name="Oval 16"/>
          <p:cNvSpPr/>
          <p:nvPr/>
        </p:nvSpPr>
        <p:spPr>
          <a:xfrm>
            <a:off x="4777740" y="2148840"/>
            <a:ext cx="731520" cy="7315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lette-w.png"/>
          <p:cNvPicPr>
            <a:picLocks noChangeAspect="1"/>
          </p:cNvPicPr>
          <p:nvPr/>
        </p:nvPicPr>
        <p:blipFill>
          <a:blip r:embed="rId4"/>
          <a:stretch>
            <a:fillRect/>
          </a:stretch>
        </p:blipFill>
        <p:spPr>
          <a:xfrm>
            <a:off x="4960620" y="2331720"/>
            <a:ext cx="365760" cy="365760"/>
          </a:xfrm>
          <a:prstGeom prst="rect">
            <a:avLst/>
          </a:prstGeom>
        </p:spPr>
      </p:pic>
      <p:sp>
        <p:nvSpPr>
          <p:cNvPr id="19" name="TextBox 18"/>
          <p:cNvSpPr txBox="1"/>
          <p:nvPr/>
        </p:nvSpPr>
        <p:spPr>
          <a:xfrm>
            <a:off x="429768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03</a:t>
            </a:r>
          </a:p>
        </p:txBody>
      </p:sp>
      <p:sp>
        <p:nvSpPr>
          <p:cNvPr id="20" name="TextBox 19"/>
          <p:cNvSpPr txBox="1"/>
          <p:nvPr/>
        </p:nvSpPr>
        <p:spPr>
          <a:xfrm>
            <a:off x="429768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Design</a:t>
            </a:r>
          </a:p>
        </p:txBody>
      </p:sp>
      <p:sp>
        <p:nvSpPr>
          <p:cNvPr id="21" name="TextBox 20"/>
          <p:cNvSpPr txBox="1"/>
          <p:nvPr/>
        </p:nvSpPr>
        <p:spPr>
          <a:xfrm>
            <a:off x="434340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Layout from agency sites, colours and type from a dusk illustration</a:t>
            </a:r>
          </a:p>
        </p:txBody>
      </p:sp>
      <p:sp>
        <p:nvSpPr>
          <p:cNvPr id="22" name="Oval 21"/>
          <p:cNvSpPr/>
          <p:nvPr/>
        </p:nvSpPr>
        <p:spPr>
          <a:xfrm>
            <a:off x="6652260" y="2148840"/>
            <a:ext cx="731520" cy="7315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ode-xml-w.png"/>
          <p:cNvPicPr>
            <a:picLocks noChangeAspect="1"/>
          </p:cNvPicPr>
          <p:nvPr/>
        </p:nvPicPr>
        <p:blipFill>
          <a:blip r:embed="rId5"/>
          <a:stretch>
            <a:fillRect/>
          </a:stretch>
        </p:blipFill>
        <p:spPr>
          <a:xfrm>
            <a:off x="6835140" y="2331720"/>
            <a:ext cx="365760" cy="365760"/>
          </a:xfrm>
          <a:prstGeom prst="rect">
            <a:avLst/>
          </a:prstGeom>
        </p:spPr>
      </p:pic>
      <p:sp>
        <p:nvSpPr>
          <p:cNvPr id="24" name="TextBox 23"/>
          <p:cNvSpPr txBox="1"/>
          <p:nvPr/>
        </p:nvSpPr>
        <p:spPr>
          <a:xfrm>
            <a:off x="617220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04</a:t>
            </a:r>
          </a:p>
        </p:txBody>
      </p:sp>
      <p:sp>
        <p:nvSpPr>
          <p:cNvPr id="25" name="TextBox 24"/>
          <p:cNvSpPr txBox="1"/>
          <p:nvPr/>
        </p:nvSpPr>
        <p:spPr>
          <a:xfrm>
            <a:off x="617220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Build</a:t>
            </a:r>
          </a:p>
        </p:txBody>
      </p:sp>
      <p:sp>
        <p:nvSpPr>
          <p:cNvPr id="26" name="TextBox 25"/>
          <p:cNvSpPr txBox="1"/>
          <p:nvPr/>
        </p:nvSpPr>
        <p:spPr>
          <a:xfrm>
            <a:off x="621792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5 pages, shared modules, build script, 3D scene</a:t>
            </a:r>
          </a:p>
        </p:txBody>
      </p:sp>
      <p:sp>
        <p:nvSpPr>
          <p:cNvPr id="27" name="Oval 26"/>
          <p:cNvSpPr/>
          <p:nvPr/>
        </p:nvSpPr>
        <p:spPr>
          <a:xfrm>
            <a:off x="8526780" y="2148840"/>
            <a:ext cx="731520" cy="7315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lask-conical-w.png"/>
          <p:cNvPicPr>
            <a:picLocks noChangeAspect="1"/>
          </p:cNvPicPr>
          <p:nvPr/>
        </p:nvPicPr>
        <p:blipFill>
          <a:blip r:embed="rId6"/>
          <a:stretch>
            <a:fillRect/>
          </a:stretch>
        </p:blipFill>
        <p:spPr>
          <a:xfrm>
            <a:off x="8709660" y="2331720"/>
            <a:ext cx="365760" cy="365760"/>
          </a:xfrm>
          <a:prstGeom prst="rect">
            <a:avLst/>
          </a:prstGeom>
        </p:spPr>
      </p:pic>
      <p:sp>
        <p:nvSpPr>
          <p:cNvPr id="29" name="TextBox 28"/>
          <p:cNvSpPr txBox="1"/>
          <p:nvPr/>
        </p:nvSpPr>
        <p:spPr>
          <a:xfrm>
            <a:off x="804672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05</a:t>
            </a:r>
          </a:p>
        </p:txBody>
      </p:sp>
      <p:sp>
        <p:nvSpPr>
          <p:cNvPr id="30" name="TextBox 29"/>
          <p:cNvSpPr txBox="1"/>
          <p:nvPr/>
        </p:nvSpPr>
        <p:spPr>
          <a:xfrm>
            <a:off x="804672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Test</a:t>
            </a:r>
          </a:p>
        </p:txBody>
      </p:sp>
      <p:sp>
        <p:nvSpPr>
          <p:cNvPr id="31" name="TextBox 30"/>
          <p:cNvSpPr txBox="1"/>
          <p:nvPr/>
        </p:nvSpPr>
        <p:spPr>
          <a:xfrm>
            <a:off x="809244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Playwright flows, mobile widths, file:// check</a:t>
            </a:r>
          </a:p>
        </p:txBody>
      </p:sp>
      <p:sp>
        <p:nvSpPr>
          <p:cNvPr id="32" name="Oval 31"/>
          <p:cNvSpPr/>
          <p:nvPr/>
        </p:nvSpPr>
        <p:spPr>
          <a:xfrm>
            <a:off x="10401300" y="2148840"/>
            <a:ext cx="731520" cy="7315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efresh-cw-w.png"/>
          <p:cNvPicPr>
            <a:picLocks noChangeAspect="1"/>
          </p:cNvPicPr>
          <p:nvPr/>
        </p:nvPicPr>
        <p:blipFill>
          <a:blip r:embed="rId7"/>
          <a:stretch>
            <a:fillRect/>
          </a:stretch>
        </p:blipFill>
        <p:spPr>
          <a:xfrm>
            <a:off x="10584180" y="2331720"/>
            <a:ext cx="365760" cy="365760"/>
          </a:xfrm>
          <a:prstGeom prst="rect">
            <a:avLst/>
          </a:prstGeom>
        </p:spPr>
      </p:pic>
      <p:sp>
        <p:nvSpPr>
          <p:cNvPr id="34" name="TextBox 33"/>
          <p:cNvSpPr txBox="1"/>
          <p:nvPr/>
        </p:nvSpPr>
        <p:spPr>
          <a:xfrm>
            <a:off x="9921240" y="3063240"/>
            <a:ext cx="1691640" cy="274320"/>
          </a:xfrm>
          <a:prstGeom prst="rect">
            <a:avLst/>
          </a:prstGeom>
          <a:noFill/>
        </p:spPr>
        <p:txBody>
          <a:bodyPr wrap="square" lIns="0" rIns="0" tIns="0" bIns="0" anchor="t">
            <a:noAutofit/>
          </a:bodyPr>
          <a:lstStyle/>
          <a:p>
            <a:pPr algn="ctr">
              <a:spcAft>
                <a:spcPts val="400"/>
              </a:spcAft>
            </a:pPr>
            <a:r>
              <a:rPr sz="1100" b="1" i="0">
                <a:solidFill>
                  <a:srgbClr val="6D6585"/>
                </a:solidFill>
                <a:latin typeface="Calibri"/>
              </a:rPr>
              <a:t>06</a:t>
            </a:r>
          </a:p>
        </p:txBody>
      </p:sp>
      <p:sp>
        <p:nvSpPr>
          <p:cNvPr id="35" name="TextBox 34"/>
          <p:cNvSpPr txBox="1"/>
          <p:nvPr/>
        </p:nvSpPr>
        <p:spPr>
          <a:xfrm>
            <a:off x="9921240" y="3310128"/>
            <a:ext cx="1691640" cy="365760"/>
          </a:xfrm>
          <a:prstGeom prst="rect">
            <a:avLst/>
          </a:prstGeom>
          <a:noFill/>
        </p:spPr>
        <p:txBody>
          <a:bodyPr wrap="square" lIns="0" rIns="0" tIns="0" bIns="0" anchor="t">
            <a:noAutofit/>
          </a:bodyPr>
          <a:lstStyle/>
          <a:p>
            <a:pPr algn="ctr">
              <a:spcAft>
                <a:spcPts val="400"/>
              </a:spcAft>
            </a:pPr>
            <a:r>
              <a:rPr sz="1500" b="1" i="0">
                <a:solidFill>
                  <a:srgbClr val="1C1638"/>
                </a:solidFill>
                <a:latin typeface="Cambria"/>
              </a:rPr>
              <a:t>Review &amp; improve</a:t>
            </a:r>
          </a:p>
        </p:txBody>
      </p:sp>
      <p:sp>
        <p:nvSpPr>
          <p:cNvPr id="36" name="TextBox 35"/>
          <p:cNvSpPr txBox="1"/>
          <p:nvPr/>
        </p:nvSpPr>
        <p:spPr>
          <a:xfrm>
            <a:off x="9966960" y="3730752"/>
            <a:ext cx="1600200" cy="1097280"/>
          </a:xfrm>
          <a:prstGeom prst="rect">
            <a:avLst/>
          </a:prstGeom>
          <a:noFill/>
        </p:spPr>
        <p:txBody>
          <a:bodyPr wrap="square" lIns="0" rIns="0" tIns="0" bIns="0" anchor="t">
            <a:noAutofit/>
          </a:bodyPr>
          <a:lstStyle/>
          <a:p>
            <a:pPr algn="ctr">
              <a:spcAft>
                <a:spcPts val="400"/>
              </a:spcAft>
            </a:pPr>
            <a:r>
              <a:rPr sz="1100" b="0" i="0">
                <a:solidFill>
                  <a:srgbClr val="2B2257"/>
                </a:solidFill>
                <a:latin typeface="Calibri"/>
              </a:rPr>
              <a:t>Feedback round: search fix, carousels, maps, new photos</a:t>
            </a:r>
          </a:p>
        </p:txBody>
      </p:sp>
      <p:sp>
        <p:nvSpPr>
          <p:cNvPr id="37" name="Rounded Rectangle 36"/>
          <p:cNvSpPr/>
          <p:nvPr/>
        </p:nvSpPr>
        <p:spPr>
          <a:xfrm>
            <a:off x="548640" y="4754880"/>
            <a:ext cx="11091672" cy="1051560"/>
          </a:xfrm>
          <a:prstGeom prst="roundRect">
            <a:avLst>
              <a:gd name="adj" fmla="val 12173"/>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22960" y="4864608"/>
            <a:ext cx="10607040" cy="868680"/>
          </a:xfrm>
          <a:prstGeom prst="rect">
            <a:avLst/>
          </a:prstGeom>
          <a:noFill/>
        </p:spPr>
        <p:txBody>
          <a:bodyPr wrap="square" lIns="0" rIns="0" tIns="0" bIns="0" anchor="t">
            <a:noAutofit/>
          </a:bodyPr>
          <a:lstStyle/>
          <a:p>
            <a:pPr algn="l">
              <a:spcAft>
                <a:spcPts val="600"/>
              </a:spcAft>
            </a:pPr>
            <a:r>
              <a:rPr sz="1250" b="1" i="0">
                <a:solidFill>
                  <a:srgbClr val="4A3A8F"/>
                </a:solidFill>
                <a:latin typeface="Calibri"/>
              </a:rPr>
              <a:t>Version control: </a:t>
            </a:r>
            <a:r>
              <a:rPr sz="1250" b="0" i="0">
                <a:solidFill>
                  <a:srgbClr val="2B2257"/>
                </a:solidFill>
                <a:latin typeface="Calibri"/>
              </a:rPr>
              <a:t>each round was a branch and a pull request on GitHub, reviewed and merged into main.</a:t>
            </a:r>
          </a:p>
          <a:p>
            <a:pPr algn="l">
              <a:spcAft>
                <a:spcPts val="600"/>
              </a:spcAft>
            </a:pPr>
            <a:r>
              <a:rPr sz="1250" b="1" i="0">
                <a:solidFill>
                  <a:srgbClr val="4A3A8F"/>
                </a:solidFill>
                <a:latin typeface="Calibri"/>
              </a:rPr>
              <a:t>Each change was checked before merging: </a:t>
            </a:r>
            <a:r>
              <a:rPr sz="1250" b="0" i="0">
                <a:solidFill>
                  <a:srgbClr val="2B2257"/>
                </a:solidFill>
                <a:latin typeface="Calibri"/>
              </a:rPr>
              <a:t>build, automated click-through tests, mobile layout and screenshots.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Challenges Faced</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PROBLEMS AND FIXES</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21</a:t>
            </a:r>
          </a:p>
        </p:txBody>
      </p:sp>
      <p:sp>
        <p:nvSpPr>
          <p:cNvPr id="6" name="Rounded Rectangle 5"/>
          <p:cNvSpPr/>
          <p:nvPr/>
        </p:nvSpPr>
        <p:spPr>
          <a:xfrm>
            <a:off x="548640" y="155448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arch-w.png"/>
          <p:cNvPicPr>
            <a:picLocks noChangeAspect="1"/>
          </p:cNvPicPr>
          <p:nvPr/>
        </p:nvPicPr>
        <p:blipFill>
          <a:blip r:embed="rId2"/>
          <a:stretch>
            <a:fillRect/>
          </a:stretch>
        </p:blipFill>
        <p:spPr>
          <a:xfrm>
            <a:off x="902970" y="1908810"/>
            <a:ext cx="251460" cy="251460"/>
          </a:xfrm>
          <a:prstGeom prst="rect">
            <a:avLst/>
          </a:prstGeom>
        </p:spPr>
      </p:pic>
      <p:sp>
        <p:nvSpPr>
          <p:cNvPr id="9" name="TextBox 8"/>
          <p:cNvSpPr txBox="1"/>
          <p:nvPr/>
        </p:nvSpPr>
        <p:spPr>
          <a:xfrm>
            <a:off x="1417319" y="182880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Search bar ignored clicks</a:t>
            </a:r>
          </a:p>
        </p:txBody>
      </p:sp>
      <p:sp>
        <p:nvSpPr>
          <p:cNvPr id="10" name="TextBox 9"/>
          <p:cNvSpPr txBox="1"/>
          <p:nvPr/>
        </p:nvSpPr>
        <p:spPr>
          <a:xfrm>
            <a:off x="822959" y="246888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The section below overlapped it. Raised the hero's stacking order and added a click test.</a:t>
            </a:r>
          </a:p>
        </p:txBody>
      </p:sp>
      <p:sp>
        <p:nvSpPr>
          <p:cNvPr id="11" name="Rounded Rectangle 10"/>
          <p:cNvSpPr/>
          <p:nvPr/>
        </p:nvSpPr>
        <p:spPr>
          <a:xfrm>
            <a:off x="4297679" y="155448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2627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p-w.png"/>
          <p:cNvPicPr>
            <a:picLocks noChangeAspect="1"/>
          </p:cNvPicPr>
          <p:nvPr/>
        </p:nvPicPr>
        <p:blipFill>
          <a:blip r:embed="rId3"/>
          <a:stretch>
            <a:fillRect/>
          </a:stretch>
        </p:blipFill>
        <p:spPr>
          <a:xfrm>
            <a:off x="4652009" y="1908810"/>
            <a:ext cx="251460" cy="251460"/>
          </a:xfrm>
          <a:prstGeom prst="rect">
            <a:avLst/>
          </a:prstGeom>
        </p:spPr>
      </p:pic>
      <p:sp>
        <p:nvSpPr>
          <p:cNvPr id="14" name="TextBox 13"/>
          <p:cNvSpPr txBox="1"/>
          <p:nvPr/>
        </p:nvSpPr>
        <p:spPr>
          <a:xfrm>
            <a:off x="5166359" y="182880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Map tiles stopped loading</a:t>
            </a:r>
          </a:p>
        </p:txBody>
      </p:sp>
      <p:sp>
        <p:nvSpPr>
          <p:cNvPr id="15" name="TextBox 14"/>
          <p:cNvSpPr txBox="1"/>
          <p:nvPr/>
        </p:nvSpPr>
        <p:spPr>
          <a:xfrm>
            <a:off x="4571999" y="246888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The tile provider started requiring an API key. Switched to Esri tiles that need none.</a:t>
            </a:r>
          </a:p>
        </p:txBody>
      </p:sp>
      <p:sp>
        <p:nvSpPr>
          <p:cNvPr id="16" name="Rounded Rectangle 15"/>
          <p:cNvSpPr/>
          <p:nvPr/>
        </p:nvSpPr>
        <p:spPr>
          <a:xfrm>
            <a:off x="8046719" y="155448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75319" y="178308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ountain-w.png"/>
          <p:cNvPicPr>
            <a:picLocks noChangeAspect="1"/>
          </p:cNvPicPr>
          <p:nvPr/>
        </p:nvPicPr>
        <p:blipFill>
          <a:blip r:embed="rId4"/>
          <a:stretch>
            <a:fillRect/>
          </a:stretch>
        </p:blipFill>
        <p:spPr>
          <a:xfrm>
            <a:off x="8401049" y="1908810"/>
            <a:ext cx="251460" cy="251460"/>
          </a:xfrm>
          <a:prstGeom prst="rect">
            <a:avLst/>
          </a:prstGeom>
        </p:spPr>
      </p:pic>
      <p:sp>
        <p:nvSpPr>
          <p:cNvPr id="19" name="TextBox 18"/>
          <p:cNvSpPr txBox="1"/>
          <p:nvPr/>
        </p:nvSpPr>
        <p:spPr>
          <a:xfrm>
            <a:off x="8915399" y="182880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Streaky 3D lighting</a:t>
            </a:r>
          </a:p>
        </p:txBody>
      </p:sp>
      <p:sp>
        <p:nvSpPr>
          <p:cNvPr id="20" name="TextBox 19"/>
          <p:cNvSpPr txBox="1"/>
          <p:nvPr/>
        </p:nvSpPr>
        <p:spPr>
          <a:xfrm>
            <a:off x="8321040" y="246888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Per-vertex colours left stripes. Rewrote shading per pixel for a soft sun, snow and haze.</a:t>
            </a:r>
          </a:p>
        </p:txBody>
      </p:sp>
      <p:sp>
        <p:nvSpPr>
          <p:cNvPr id="21" name="Rounded Rectangle 20"/>
          <p:cNvSpPr/>
          <p:nvPr/>
        </p:nvSpPr>
        <p:spPr>
          <a:xfrm>
            <a:off x="548640" y="393192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77240"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w.png"/>
          <p:cNvPicPr>
            <a:picLocks noChangeAspect="1"/>
          </p:cNvPicPr>
          <p:nvPr/>
        </p:nvPicPr>
        <p:blipFill>
          <a:blip r:embed="rId5"/>
          <a:stretch>
            <a:fillRect/>
          </a:stretch>
        </p:blipFill>
        <p:spPr>
          <a:xfrm>
            <a:off x="902970" y="4286250"/>
            <a:ext cx="251460" cy="251460"/>
          </a:xfrm>
          <a:prstGeom prst="rect">
            <a:avLst/>
          </a:prstGeom>
        </p:spPr>
      </p:pic>
      <p:sp>
        <p:nvSpPr>
          <p:cNvPr id="24" name="TextBox 23"/>
          <p:cNvSpPr txBox="1"/>
          <p:nvPr/>
        </p:nvSpPr>
        <p:spPr>
          <a:xfrm>
            <a:off x="1417319" y="420624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Licensed photos of real places</a:t>
            </a:r>
          </a:p>
        </p:txBody>
      </p:sp>
      <p:sp>
        <p:nvSpPr>
          <p:cNvPr id="25" name="TextBox 24"/>
          <p:cNvSpPr txBox="1"/>
          <p:nvPr/>
        </p:nvSpPr>
        <p:spPr>
          <a:xfrm>
            <a:off x="822959" y="484632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Used Wikimedia Commons with author and licence credits in the site.</a:t>
            </a:r>
          </a:p>
        </p:txBody>
      </p:sp>
      <p:sp>
        <p:nvSpPr>
          <p:cNvPr id="26" name="Rounded Rectangle 25"/>
          <p:cNvSpPr/>
          <p:nvPr/>
        </p:nvSpPr>
        <p:spPr>
          <a:xfrm>
            <a:off x="4297679" y="393192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52627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atabase-w.png"/>
          <p:cNvPicPr>
            <a:picLocks noChangeAspect="1"/>
          </p:cNvPicPr>
          <p:nvPr/>
        </p:nvPicPr>
        <p:blipFill>
          <a:blip r:embed="rId6"/>
          <a:stretch>
            <a:fillRect/>
          </a:stretch>
        </p:blipFill>
        <p:spPr>
          <a:xfrm>
            <a:off x="4652009" y="4286250"/>
            <a:ext cx="251460" cy="251460"/>
          </a:xfrm>
          <a:prstGeom prst="rect">
            <a:avLst/>
          </a:prstGeom>
        </p:spPr>
      </p:pic>
      <p:sp>
        <p:nvSpPr>
          <p:cNvPr id="29" name="TextBox 28"/>
          <p:cNvSpPr txBox="1"/>
          <p:nvPr/>
        </p:nvSpPr>
        <p:spPr>
          <a:xfrm>
            <a:off x="5166359" y="420624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No backend</a:t>
            </a:r>
          </a:p>
        </p:txBody>
      </p:sp>
      <p:sp>
        <p:nvSpPr>
          <p:cNvPr id="30" name="TextBox 29"/>
          <p:cNvSpPr txBox="1"/>
          <p:nvPr/>
        </p:nvSpPr>
        <p:spPr>
          <a:xfrm>
            <a:off x="4571999" y="484632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One store in localStorage with change events keeps every page and tab in sync.</a:t>
            </a:r>
          </a:p>
        </p:txBody>
      </p:sp>
      <p:sp>
        <p:nvSpPr>
          <p:cNvPr id="31" name="Rounded Rectangle 30"/>
          <p:cNvSpPr/>
          <p:nvPr/>
        </p:nvSpPr>
        <p:spPr>
          <a:xfrm>
            <a:off x="8046719" y="3931920"/>
            <a:ext cx="3584448" cy="2212848"/>
          </a:xfrm>
          <a:prstGeom prst="roundRect">
            <a:avLst>
              <a:gd name="adj" fmla="val 5785"/>
            </a:avLst>
          </a:prstGeom>
          <a:solidFill>
            <a:srgbClr val="FFFFFF"/>
          </a:solidFill>
          <a:ln w="9525">
            <a:solidFill>
              <a:srgbClr val="E2DC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275319" y="4160520"/>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zap-w.png"/>
          <p:cNvPicPr>
            <a:picLocks noChangeAspect="1"/>
          </p:cNvPicPr>
          <p:nvPr/>
        </p:nvPicPr>
        <p:blipFill>
          <a:blip r:embed="rId7"/>
          <a:stretch>
            <a:fillRect/>
          </a:stretch>
        </p:blipFill>
        <p:spPr>
          <a:xfrm>
            <a:off x="8401049" y="4286250"/>
            <a:ext cx="251460" cy="251460"/>
          </a:xfrm>
          <a:prstGeom prst="rect">
            <a:avLst/>
          </a:prstGeom>
        </p:spPr>
      </p:pic>
      <p:sp>
        <p:nvSpPr>
          <p:cNvPr id="34" name="TextBox 33"/>
          <p:cNvSpPr txBox="1"/>
          <p:nvPr/>
        </p:nvSpPr>
        <p:spPr>
          <a:xfrm>
            <a:off x="8915399" y="4206240"/>
            <a:ext cx="2606040" cy="457200"/>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Speed with 3D and maps</a:t>
            </a:r>
          </a:p>
        </p:txBody>
      </p:sp>
      <p:sp>
        <p:nvSpPr>
          <p:cNvPr id="35" name="TextBox 34"/>
          <p:cNvSpPr txBox="1"/>
          <p:nvPr/>
        </p:nvSpPr>
        <p:spPr>
          <a:xfrm>
            <a:off x="8321040" y="4846320"/>
            <a:ext cx="3108960" cy="1234440"/>
          </a:xfrm>
          <a:prstGeom prst="rect">
            <a:avLst/>
          </a:prstGeom>
          <a:noFill/>
        </p:spPr>
        <p:txBody>
          <a:bodyPr wrap="square" lIns="0" rIns="0" tIns="0" bIns="0" anchor="t">
            <a:noAutofit/>
          </a:bodyPr>
          <a:lstStyle/>
          <a:p>
            <a:pPr algn="l">
              <a:spcAft>
                <a:spcPts val="400"/>
              </a:spcAft>
            </a:pPr>
            <a:r>
              <a:rPr sz="1350" b="1" i="0">
                <a:solidFill>
                  <a:srgbClr val="2F8A63"/>
                </a:solidFill>
                <a:latin typeface="Calibri"/>
              </a:rPr>
              <a:t>Fix  </a:t>
            </a:r>
            <a:r>
              <a:rPr sz="1350" b="0" i="0">
                <a:solidFill>
                  <a:srgbClr val="2B2257"/>
                </a:solidFill>
                <a:latin typeface="Calibri"/>
              </a:rPr>
              <a:t>3D loads after the page is usable and pauses off-screen; Leaflet loads on demand.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Learning Outcomes</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WHAT I LEARNED</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22</a:t>
            </a:r>
          </a:p>
        </p:txBody>
      </p:sp>
      <p:sp>
        <p:nvSpPr>
          <p:cNvPr id="6" name="Rounded Rectangle 5"/>
          <p:cNvSpPr/>
          <p:nvPr/>
        </p:nvSpPr>
        <p:spPr>
          <a:xfrm>
            <a:off x="548640" y="1554480"/>
            <a:ext cx="6400800" cy="4617720"/>
          </a:xfrm>
          <a:prstGeom prst="roundRect">
            <a:avLst>
              <a:gd name="adj" fmla="val 297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60" y="1783080"/>
            <a:ext cx="548640" cy="54864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xml-w.png"/>
          <p:cNvPicPr>
            <a:picLocks noChangeAspect="1"/>
          </p:cNvPicPr>
          <p:nvPr/>
        </p:nvPicPr>
        <p:blipFill>
          <a:blip r:embed="rId2"/>
          <a:stretch>
            <a:fillRect/>
          </a:stretch>
        </p:blipFill>
        <p:spPr>
          <a:xfrm>
            <a:off x="960120" y="1920240"/>
            <a:ext cx="274320" cy="274320"/>
          </a:xfrm>
          <a:prstGeom prst="rect">
            <a:avLst/>
          </a:prstGeom>
        </p:spPr>
      </p:pic>
      <p:sp>
        <p:nvSpPr>
          <p:cNvPr id="9" name="TextBox 8"/>
          <p:cNvSpPr txBox="1"/>
          <p:nvPr/>
        </p:nvSpPr>
        <p:spPr>
          <a:xfrm>
            <a:off x="1508760" y="1847088"/>
            <a:ext cx="5029200" cy="411480"/>
          </a:xfrm>
          <a:prstGeom prst="rect">
            <a:avLst/>
          </a:prstGeom>
          <a:noFill/>
        </p:spPr>
        <p:txBody>
          <a:bodyPr wrap="square" lIns="0" rIns="0" tIns="0" bIns="0" anchor="t">
            <a:noAutofit/>
          </a:bodyPr>
          <a:lstStyle/>
          <a:p>
            <a:pPr algn="l">
              <a:spcAft>
                <a:spcPts val="400"/>
              </a:spcAft>
            </a:pPr>
            <a:r>
              <a:rPr sz="1800" b="1" i="0">
                <a:solidFill>
                  <a:srgbClr val="1C1638"/>
                </a:solidFill>
                <a:latin typeface="Cambria"/>
              </a:rPr>
              <a:t>Technical skills</a:t>
            </a:r>
          </a:p>
        </p:txBody>
      </p:sp>
      <p:pic>
        <p:nvPicPr>
          <p:cNvPr id="10" name="Picture 9" descr="check-e.png"/>
          <p:cNvPicPr>
            <a:picLocks noChangeAspect="1"/>
          </p:cNvPicPr>
          <p:nvPr/>
        </p:nvPicPr>
        <p:blipFill>
          <a:blip r:embed="rId3"/>
          <a:stretch>
            <a:fillRect/>
          </a:stretch>
        </p:blipFill>
        <p:spPr>
          <a:xfrm>
            <a:off x="822960" y="2633472"/>
            <a:ext cx="256032" cy="256032"/>
          </a:xfrm>
          <a:prstGeom prst="rect">
            <a:avLst/>
          </a:prstGeom>
        </p:spPr>
      </p:pic>
      <p:sp>
        <p:nvSpPr>
          <p:cNvPr id="11" name="TextBox 10"/>
          <p:cNvSpPr txBox="1"/>
          <p:nvPr/>
        </p:nvSpPr>
        <p:spPr>
          <a:xfrm>
            <a:off x="1188720" y="260604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Semantic, accessible HTML and responsive CSS</a:t>
            </a:r>
          </a:p>
        </p:txBody>
      </p:sp>
      <p:pic>
        <p:nvPicPr>
          <p:cNvPr id="12" name="Picture 11" descr="check-e.png"/>
          <p:cNvPicPr>
            <a:picLocks noChangeAspect="1"/>
          </p:cNvPicPr>
          <p:nvPr/>
        </p:nvPicPr>
        <p:blipFill>
          <a:blip r:embed="rId3"/>
          <a:stretch>
            <a:fillRect/>
          </a:stretch>
        </p:blipFill>
        <p:spPr>
          <a:xfrm>
            <a:off x="3886200" y="2633472"/>
            <a:ext cx="256032" cy="256032"/>
          </a:xfrm>
          <a:prstGeom prst="rect">
            <a:avLst/>
          </a:prstGeom>
        </p:spPr>
      </p:pic>
      <p:sp>
        <p:nvSpPr>
          <p:cNvPr id="13" name="TextBox 12"/>
          <p:cNvSpPr txBox="1"/>
          <p:nvPr/>
        </p:nvSpPr>
        <p:spPr>
          <a:xfrm>
            <a:off x="4251960" y="260604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State management in plain JavaScript</a:t>
            </a:r>
          </a:p>
        </p:txBody>
      </p:sp>
      <p:pic>
        <p:nvPicPr>
          <p:cNvPr id="14" name="Picture 13" descr="check-e.png"/>
          <p:cNvPicPr>
            <a:picLocks noChangeAspect="1"/>
          </p:cNvPicPr>
          <p:nvPr/>
        </p:nvPicPr>
        <p:blipFill>
          <a:blip r:embed="rId3"/>
          <a:stretch>
            <a:fillRect/>
          </a:stretch>
        </p:blipFill>
        <p:spPr>
          <a:xfrm>
            <a:off x="822960" y="3502151"/>
            <a:ext cx="256032" cy="256032"/>
          </a:xfrm>
          <a:prstGeom prst="rect">
            <a:avLst/>
          </a:prstGeom>
        </p:spPr>
      </p:pic>
      <p:sp>
        <p:nvSpPr>
          <p:cNvPr id="15" name="TextBox 14"/>
          <p:cNvSpPr txBox="1"/>
          <p:nvPr/>
        </p:nvSpPr>
        <p:spPr>
          <a:xfrm>
            <a:off x="1188720" y="347472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3D graphics and GLSL shaders with Three.js</a:t>
            </a:r>
          </a:p>
        </p:txBody>
      </p:sp>
      <p:pic>
        <p:nvPicPr>
          <p:cNvPr id="16" name="Picture 15" descr="check-e.png"/>
          <p:cNvPicPr>
            <a:picLocks noChangeAspect="1"/>
          </p:cNvPicPr>
          <p:nvPr/>
        </p:nvPicPr>
        <p:blipFill>
          <a:blip r:embed="rId3"/>
          <a:stretch>
            <a:fillRect/>
          </a:stretch>
        </p:blipFill>
        <p:spPr>
          <a:xfrm>
            <a:off x="3886200" y="3502151"/>
            <a:ext cx="256032" cy="256032"/>
          </a:xfrm>
          <a:prstGeom prst="rect">
            <a:avLst/>
          </a:prstGeom>
        </p:spPr>
      </p:pic>
      <p:sp>
        <p:nvSpPr>
          <p:cNvPr id="17" name="TextBox 16"/>
          <p:cNvSpPr txBox="1"/>
          <p:nvPr/>
        </p:nvSpPr>
        <p:spPr>
          <a:xfrm>
            <a:off x="4251960" y="347472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Interactive maps with Leaflet</a:t>
            </a:r>
          </a:p>
        </p:txBody>
      </p:sp>
      <p:pic>
        <p:nvPicPr>
          <p:cNvPr id="18" name="Picture 17" descr="check-e.png"/>
          <p:cNvPicPr>
            <a:picLocks noChangeAspect="1"/>
          </p:cNvPicPr>
          <p:nvPr/>
        </p:nvPicPr>
        <p:blipFill>
          <a:blip r:embed="rId3"/>
          <a:stretch>
            <a:fillRect/>
          </a:stretch>
        </p:blipFill>
        <p:spPr>
          <a:xfrm>
            <a:off x="822960" y="4370832"/>
            <a:ext cx="256032" cy="256032"/>
          </a:xfrm>
          <a:prstGeom prst="rect">
            <a:avLst/>
          </a:prstGeom>
        </p:spPr>
      </p:pic>
      <p:sp>
        <p:nvSpPr>
          <p:cNvPr id="19" name="TextBox 18"/>
          <p:cNvSpPr txBox="1"/>
          <p:nvPr/>
        </p:nvSpPr>
        <p:spPr>
          <a:xfrm>
            <a:off x="1188720" y="434340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Form validation and user feedback patterns</a:t>
            </a:r>
          </a:p>
        </p:txBody>
      </p:sp>
      <p:pic>
        <p:nvPicPr>
          <p:cNvPr id="20" name="Picture 19" descr="check-e.png"/>
          <p:cNvPicPr>
            <a:picLocks noChangeAspect="1"/>
          </p:cNvPicPr>
          <p:nvPr/>
        </p:nvPicPr>
        <p:blipFill>
          <a:blip r:embed="rId3"/>
          <a:stretch>
            <a:fillRect/>
          </a:stretch>
        </p:blipFill>
        <p:spPr>
          <a:xfrm>
            <a:off x="3886200" y="4370832"/>
            <a:ext cx="256032" cy="256032"/>
          </a:xfrm>
          <a:prstGeom prst="rect">
            <a:avLst/>
          </a:prstGeom>
        </p:spPr>
      </p:pic>
      <p:sp>
        <p:nvSpPr>
          <p:cNvPr id="21" name="TextBox 20"/>
          <p:cNvSpPr txBox="1"/>
          <p:nvPr/>
        </p:nvSpPr>
        <p:spPr>
          <a:xfrm>
            <a:off x="4251960" y="4343400"/>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Build tooling: npm scripts and esbuild</a:t>
            </a:r>
          </a:p>
        </p:txBody>
      </p:sp>
      <p:pic>
        <p:nvPicPr>
          <p:cNvPr id="22" name="Picture 21" descr="check-e.png"/>
          <p:cNvPicPr>
            <a:picLocks noChangeAspect="1"/>
          </p:cNvPicPr>
          <p:nvPr/>
        </p:nvPicPr>
        <p:blipFill>
          <a:blip r:embed="rId3"/>
          <a:stretch>
            <a:fillRect/>
          </a:stretch>
        </p:blipFill>
        <p:spPr>
          <a:xfrm>
            <a:off x="822960" y="5239512"/>
            <a:ext cx="256032" cy="256032"/>
          </a:xfrm>
          <a:prstGeom prst="rect">
            <a:avLst/>
          </a:prstGeom>
        </p:spPr>
      </p:pic>
      <p:sp>
        <p:nvSpPr>
          <p:cNvPr id="23" name="TextBox 22"/>
          <p:cNvSpPr txBox="1"/>
          <p:nvPr/>
        </p:nvSpPr>
        <p:spPr>
          <a:xfrm>
            <a:off x="1188720" y="5212079"/>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Automated UI testing with Playwright</a:t>
            </a:r>
          </a:p>
        </p:txBody>
      </p:sp>
      <p:pic>
        <p:nvPicPr>
          <p:cNvPr id="24" name="Picture 23" descr="check-e.png"/>
          <p:cNvPicPr>
            <a:picLocks noChangeAspect="1"/>
          </p:cNvPicPr>
          <p:nvPr/>
        </p:nvPicPr>
        <p:blipFill>
          <a:blip r:embed="rId3"/>
          <a:stretch>
            <a:fillRect/>
          </a:stretch>
        </p:blipFill>
        <p:spPr>
          <a:xfrm>
            <a:off x="3886200" y="5239512"/>
            <a:ext cx="256032" cy="256032"/>
          </a:xfrm>
          <a:prstGeom prst="rect">
            <a:avLst/>
          </a:prstGeom>
        </p:spPr>
      </p:pic>
      <p:sp>
        <p:nvSpPr>
          <p:cNvPr id="25" name="TextBox 24"/>
          <p:cNvSpPr txBox="1"/>
          <p:nvPr/>
        </p:nvSpPr>
        <p:spPr>
          <a:xfrm>
            <a:off x="4251960" y="5212079"/>
            <a:ext cx="2606040" cy="731520"/>
          </a:xfrm>
          <a:prstGeom prst="rect">
            <a:avLst/>
          </a:prstGeom>
          <a:noFill/>
        </p:spPr>
        <p:txBody>
          <a:bodyPr wrap="square" lIns="0" rIns="0" tIns="0" bIns="0" anchor="t">
            <a:noAutofit/>
          </a:bodyPr>
          <a:lstStyle/>
          <a:p>
            <a:pPr algn="l">
              <a:spcAft>
                <a:spcPts val="400"/>
              </a:spcAft>
            </a:pPr>
            <a:r>
              <a:rPr sz="1250" b="0" i="0">
                <a:solidFill>
                  <a:srgbClr val="2B2257"/>
                </a:solidFill>
                <a:latin typeface="Calibri"/>
              </a:rPr>
              <a:t>Git branches and pull requests</a:t>
            </a:r>
          </a:p>
        </p:txBody>
      </p:sp>
      <p:sp>
        <p:nvSpPr>
          <p:cNvPr id="26" name="Rounded Rectangle 25"/>
          <p:cNvSpPr/>
          <p:nvPr/>
        </p:nvSpPr>
        <p:spPr>
          <a:xfrm>
            <a:off x="7178040" y="1554480"/>
            <a:ext cx="4480560" cy="4617720"/>
          </a:xfrm>
          <a:prstGeom prst="roundRect">
            <a:avLst>
              <a:gd name="adj" fmla="val 3061"/>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52360" y="1783080"/>
            <a:ext cx="548640" cy="548640"/>
          </a:xfrm>
          <a:prstGeom prst="ellipse">
            <a:avLst/>
          </a:prstGeom>
          <a:solidFill>
            <a:srgbClr val="6A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users-w.png"/>
          <p:cNvPicPr>
            <a:picLocks noChangeAspect="1"/>
          </p:cNvPicPr>
          <p:nvPr/>
        </p:nvPicPr>
        <p:blipFill>
          <a:blip r:embed="rId4"/>
          <a:stretch>
            <a:fillRect/>
          </a:stretch>
        </p:blipFill>
        <p:spPr>
          <a:xfrm>
            <a:off x="7589520" y="1920240"/>
            <a:ext cx="274320" cy="274320"/>
          </a:xfrm>
          <a:prstGeom prst="rect">
            <a:avLst/>
          </a:prstGeom>
        </p:spPr>
      </p:pic>
      <p:sp>
        <p:nvSpPr>
          <p:cNvPr id="29" name="TextBox 28"/>
          <p:cNvSpPr txBox="1"/>
          <p:nvPr/>
        </p:nvSpPr>
        <p:spPr>
          <a:xfrm>
            <a:off x="8138160" y="1847088"/>
            <a:ext cx="3383280" cy="411480"/>
          </a:xfrm>
          <a:prstGeom prst="rect">
            <a:avLst/>
          </a:prstGeom>
          <a:noFill/>
        </p:spPr>
        <p:txBody>
          <a:bodyPr wrap="square" lIns="0" rIns="0" tIns="0" bIns="0" anchor="t">
            <a:noAutofit/>
          </a:bodyPr>
          <a:lstStyle/>
          <a:p>
            <a:pPr algn="l">
              <a:spcAft>
                <a:spcPts val="400"/>
              </a:spcAft>
            </a:pPr>
            <a:r>
              <a:rPr sz="1800" b="1" i="0">
                <a:solidFill>
                  <a:srgbClr val="FFFFFF"/>
                </a:solidFill>
                <a:latin typeface="Cambria"/>
              </a:rPr>
              <a:t>Professional skills</a:t>
            </a:r>
          </a:p>
        </p:txBody>
      </p:sp>
      <p:pic>
        <p:nvPicPr>
          <p:cNvPr id="30" name="Picture 29" descr="check-e.png"/>
          <p:cNvPicPr>
            <a:picLocks noChangeAspect="1"/>
          </p:cNvPicPr>
          <p:nvPr/>
        </p:nvPicPr>
        <p:blipFill>
          <a:blip r:embed="rId3"/>
          <a:stretch>
            <a:fillRect/>
          </a:stretch>
        </p:blipFill>
        <p:spPr>
          <a:xfrm>
            <a:off x="7452360" y="2633472"/>
            <a:ext cx="256032" cy="256032"/>
          </a:xfrm>
          <a:prstGeom prst="rect">
            <a:avLst/>
          </a:prstGeom>
        </p:spPr>
      </p:pic>
      <p:sp>
        <p:nvSpPr>
          <p:cNvPr id="31" name="TextBox 30"/>
          <p:cNvSpPr txBox="1"/>
          <p:nvPr/>
        </p:nvSpPr>
        <p:spPr>
          <a:xfrm>
            <a:off x="7818120" y="2606040"/>
            <a:ext cx="3657600" cy="54864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Turning research into requirements</a:t>
            </a:r>
          </a:p>
        </p:txBody>
      </p:sp>
      <p:pic>
        <p:nvPicPr>
          <p:cNvPr id="32" name="Picture 31" descr="check-e.png"/>
          <p:cNvPicPr>
            <a:picLocks noChangeAspect="1"/>
          </p:cNvPicPr>
          <p:nvPr/>
        </p:nvPicPr>
        <p:blipFill>
          <a:blip r:embed="rId3"/>
          <a:stretch>
            <a:fillRect/>
          </a:stretch>
        </p:blipFill>
        <p:spPr>
          <a:xfrm>
            <a:off x="7452360" y="3319272"/>
            <a:ext cx="256032" cy="256032"/>
          </a:xfrm>
          <a:prstGeom prst="rect">
            <a:avLst/>
          </a:prstGeom>
        </p:spPr>
      </p:pic>
      <p:sp>
        <p:nvSpPr>
          <p:cNvPr id="33" name="TextBox 32"/>
          <p:cNvSpPr txBox="1"/>
          <p:nvPr/>
        </p:nvSpPr>
        <p:spPr>
          <a:xfrm>
            <a:off x="7818120" y="3291840"/>
            <a:ext cx="3657600" cy="54864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Designing from reference sites</a:t>
            </a:r>
          </a:p>
        </p:txBody>
      </p:sp>
      <p:pic>
        <p:nvPicPr>
          <p:cNvPr id="34" name="Picture 33" descr="check-e.png"/>
          <p:cNvPicPr>
            <a:picLocks noChangeAspect="1"/>
          </p:cNvPicPr>
          <p:nvPr/>
        </p:nvPicPr>
        <p:blipFill>
          <a:blip r:embed="rId3"/>
          <a:stretch>
            <a:fillRect/>
          </a:stretch>
        </p:blipFill>
        <p:spPr>
          <a:xfrm>
            <a:off x="7452360" y="4005072"/>
            <a:ext cx="256032" cy="256032"/>
          </a:xfrm>
          <a:prstGeom prst="rect">
            <a:avLst/>
          </a:prstGeom>
        </p:spPr>
      </p:pic>
      <p:sp>
        <p:nvSpPr>
          <p:cNvPr id="35" name="TextBox 34"/>
          <p:cNvSpPr txBox="1"/>
          <p:nvPr/>
        </p:nvSpPr>
        <p:spPr>
          <a:xfrm>
            <a:off x="7818120" y="3977639"/>
            <a:ext cx="3657600" cy="54864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Debugging from user feedback</a:t>
            </a:r>
          </a:p>
        </p:txBody>
      </p:sp>
      <p:pic>
        <p:nvPicPr>
          <p:cNvPr id="36" name="Picture 35" descr="check-e.png"/>
          <p:cNvPicPr>
            <a:picLocks noChangeAspect="1"/>
          </p:cNvPicPr>
          <p:nvPr/>
        </p:nvPicPr>
        <p:blipFill>
          <a:blip r:embed="rId3"/>
          <a:stretch>
            <a:fillRect/>
          </a:stretch>
        </p:blipFill>
        <p:spPr>
          <a:xfrm>
            <a:off x="7452360" y="4690872"/>
            <a:ext cx="256032" cy="256032"/>
          </a:xfrm>
          <a:prstGeom prst="rect">
            <a:avLst/>
          </a:prstGeom>
        </p:spPr>
      </p:pic>
      <p:sp>
        <p:nvSpPr>
          <p:cNvPr id="37" name="TextBox 36"/>
          <p:cNvSpPr txBox="1"/>
          <p:nvPr/>
        </p:nvSpPr>
        <p:spPr>
          <a:xfrm>
            <a:off x="7818120" y="4663440"/>
            <a:ext cx="3657600" cy="54864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Writing clear documentation</a:t>
            </a:r>
          </a:p>
        </p:txBody>
      </p:sp>
      <p:pic>
        <p:nvPicPr>
          <p:cNvPr id="38" name="Picture 37" descr="check-e.png"/>
          <p:cNvPicPr>
            <a:picLocks noChangeAspect="1"/>
          </p:cNvPicPr>
          <p:nvPr/>
        </p:nvPicPr>
        <p:blipFill>
          <a:blip r:embed="rId3"/>
          <a:stretch>
            <a:fillRect/>
          </a:stretch>
        </p:blipFill>
        <p:spPr>
          <a:xfrm>
            <a:off x="7452360" y="5376672"/>
            <a:ext cx="256032" cy="256032"/>
          </a:xfrm>
          <a:prstGeom prst="rect">
            <a:avLst/>
          </a:prstGeom>
        </p:spPr>
      </p:pic>
      <p:sp>
        <p:nvSpPr>
          <p:cNvPr id="39" name="TextBox 38"/>
          <p:cNvSpPr txBox="1"/>
          <p:nvPr/>
        </p:nvSpPr>
        <p:spPr>
          <a:xfrm>
            <a:off x="7818120" y="5349240"/>
            <a:ext cx="3657600" cy="548640"/>
          </a:xfrm>
          <a:prstGeom prst="rect">
            <a:avLst/>
          </a:prstGeom>
          <a:noFill/>
        </p:spPr>
        <p:txBody>
          <a:bodyPr wrap="square" lIns="0" rIns="0" tIns="0" bIns="0" anchor="t">
            <a:noAutofit/>
          </a:bodyPr>
          <a:lstStyle/>
          <a:p>
            <a:pPr algn="l">
              <a:spcAft>
                <a:spcPts val="400"/>
              </a:spcAft>
            </a:pPr>
            <a:r>
              <a:rPr sz="1250" b="0" i="0">
                <a:solidFill>
                  <a:srgbClr val="FFFFFF"/>
                </a:solidFill>
                <a:latin typeface="Calibri"/>
              </a:rPr>
              <a:t>Planning work in short iterations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Future Scope &amp; Conclusion</a:t>
            </a:r>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spcAft>
                <a:spcPts val="400"/>
              </a:spcAft>
            </a:pPr>
            <a:r>
              <a:rPr sz="1200" b="1" i="0">
                <a:solidFill>
                  <a:srgbClr val="EF7D42"/>
                </a:solidFill>
                <a:latin typeface="Calibri"/>
              </a:rPr>
              <a:t>WHERE IT GOES NEXT</a:t>
            </a:r>
          </a:p>
        </p:txBody>
      </p:sp>
      <p:sp>
        <p:nvSpPr>
          <p:cNvPr id="4" name="TextBox 3"/>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5" name="TextBox 4"/>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23</a:t>
            </a:r>
          </a:p>
        </p:txBody>
      </p:sp>
      <p:sp>
        <p:nvSpPr>
          <p:cNvPr id="6" name="TextBox 5"/>
          <p:cNvSpPr txBox="1"/>
          <p:nvPr/>
        </p:nvSpPr>
        <p:spPr>
          <a:xfrm>
            <a:off x="548640" y="1508760"/>
            <a:ext cx="5943600" cy="365760"/>
          </a:xfrm>
          <a:prstGeom prst="rect">
            <a:avLst/>
          </a:prstGeom>
          <a:noFill/>
        </p:spPr>
        <p:txBody>
          <a:bodyPr wrap="square" lIns="0" rIns="0" tIns="0" bIns="0" anchor="t">
            <a:noAutofit/>
          </a:bodyPr>
          <a:lstStyle/>
          <a:p>
            <a:pPr algn="l">
              <a:spcAft>
                <a:spcPts val="400"/>
              </a:spcAft>
            </a:pPr>
            <a:r>
              <a:rPr sz="1700" b="1" i="0">
                <a:solidFill>
                  <a:srgbClr val="1C1638"/>
                </a:solidFill>
                <a:latin typeface="Cambria"/>
              </a:rPr>
              <a:t>Future enhancements</a:t>
            </a:r>
          </a:p>
        </p:txBody>
      </p:sp>
      <p:sp>
        <p:nvSpPr>
          <p:cNvPr id="7" name="Oval 6"/>
          <p:cNvSpPr/>
          <p:nvPr/>
        </p:nvSpPr>
        <p:spPr>
          <a:xfrm>
            <a:off x="548640" y="1965960"/>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tabase-w.png"/>
          <p:cNvPicPr>
            <a:picLocks noChangeAspect="1"/>
          </p:cNvPicPr>
          <p:nvPr/>
        </p:nvPicPr>
        <p:blipFill>
          <a:blip r:embed="rId2"/>
          <a:stretch>
            <a:fillRect/>
          </a:stretch>
        </p:blipFill>
        <p:spPr>
          <a:xfrm>
            <a:off x="674370" y="2091690"/>
            <a:ext cx="251460" cy="251460"/>
          </a:xfrm>
          <a:prstGeom prst="rect">
            <a:avLst/>
          </a:prstGeom>
        </p:spPr>
      </p:pic>
      <p:sp>
        <p:nvSpPr>
          <p:cNvPr id="9" name="TextBox 8"/>
          <p:cNvSpPr txBox="1"/>
          <p:nvPr/>
        </p:nvSpPr>
        <p:spPr>
          <a:xfrm>
            <a:off x="1234440" y="1947672"/>
            <a:ext cx="5120640"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Backend and accounts</a:t>
            </a:r>
          </a:p>
        </p:txBody>
      </p:sp>
      <p:sp>
        <p:nvSpPr>
          <p:cNvPr id="10" name="TextBox 9"/>
          <p:cNvSpPr txBox="1"/>
          <p:nvPr/>
        </p:nvSpPr>
        <p:spPr>
          <a:xfrm>
            <a:off x="1234440" y="2240279"/>
            <a:ext cx="512064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Save trips across devices; real agent logins.</a:t>
            </a:r>
          </a:p>
        </p:txBody>
      </p:sp>
      <p:sp>
        <p:nvSpPr>
          <p:cNvPr id="11" name="Oval 10"/>
          <p:cNvSpPr/>
          <p:nvPr/>
        </p:nvSpPr>
        <p:spPr>
          <a:xfrm>
            <a:off x="548640" y="2807208"/>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ceipt-indian-rupee-w.png"/>
          <p:cNvPicPr>
            <a:picLocks noChangeAspect="1"/>
          </p:cNvPicPr>
          <p:nvPr/>
        </p:nvPicPr>
        <p:blipFill>
          <a:blip r:embed="rId3"/>
          <a:stretch>
            <a:fillRect/>
          </a:stretch>
        </p:blipFill>
        <p:spPr>
          <a:xfrm>
            <a:off x="674370" y="2932938"/>
            <a:ext cx="251460" cy="251460"/>
          </a:xfrm>
          <a:prstGeom prst="rect">
            <a:avLst/>
          </a:prstGeom>
        </p:spPr>
      </p:pic>
      <p:sp>
        <p:nvSpPr>
          <p:cNvPr id="13" name="TextBox 12"/>
          <p:cNvSpPr txBox="1"/>
          <p:nvPr/>
        </p:nvSpPr>
        <p:spPr>
          <a:xfrm>
            <a:off x="1234440" y="2788920"/>
            <a:ext cx="5120640"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Live prices and payments</a:t>
            </a:r>
          </a:p>
        </p:txBody>
      </p:sp>
      <p:sp>
        <p:nvSpPr>
          <p:cNvPr id="14" name="TextBox 13"/>
          <p:cNvSpPr txBox="1"/>
          <p:nvPr/>
        </p:nvSpPr>
        <p:spPr>
          <a:xfrm>
            <a:off x="1234440" y="3081527"/>
            <a:ext cx="512064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Hotel and train availability; UPI payments.</a:t>
            </a:r>
          </a:p>
        </p:txBody>
      </p:sp>
      <p:sp>
        <p:nvSpPr>
          <p:cNvPr id="15" name="Oval 14"/>
          <p:cNvSpPr/>
          <p:nvPr/>
        </p:nvSpPr>
        <p:spPr>
          <a:xfrm>
            <a:off x="548640" y="3648456"/>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nguages-w.png"/>
          <p:cNvPicPr>
            <a:picLocks noChangeAspect="1"/>
          </p:cNvPicPr>
          <p:nvPr/>
        </p:nvPicPr>
        <p:blipFill>
          <a:blip r:embed="rId4"/>
          <a:stretch>
            <a:fillRect/>
          </a:stretch>
        </p:blipFill>
        <p:spPr>
          <a:xfrm>
            <a:off x="674370" y="3774186"/>
            <a:ext cx="251460" cy="251460"/>
          </a:xfrm>
          <a:prstGeom prst="rect">
            <a:avLst/>
          </a:prstGeom>
        </p:spPr>
      </p:pic>
      <p:sp>
        <p:nvSpPr>
          <p:cNvPr id="17" name="TextBox 16"/>
          <p:cNvSpPr txBox="1"/>
          <p:nvPr/>
        </p:nvSpPr>
        <p:spPr>
          <a:xfrm>
            <a:off x="1234440" y="3630168"/>
            <a:ext cx="5120640"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Hindi and regional languages</a:t>
            </a:r>
          </a:p>
        </p:txBody>
      </p:sp>
      <p:sp>
        <p:nvSpPr>
          <p:cNvPr id="18" name="TextBox 17"/>
          <p:cNvSpPr txBox="1"/>
          <p:nvPr/>
        </p:nvSpPr>
        <p:spPr>
          <a:xfrm>
            <a:off x="1234440" y="3922776"/>
            <a:ext cx="512064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Reach travellers beyond English.</a:t>
            </a:r>
          </a:p>
        </p:txBody>
      </p:sp>
      <p:sp>
        <p:nvSpPr>
          <p:cNvPr id="19" name="Oval 18"/>
          <p:cNvSpPr/>
          <p:nvPr/>
        </p:nvSpPr>
        <p:spPr>
          <a:xfrm>
            <a:off x="548640" y="4489704"/>
            <a:ext cx="502920" cy="502920"/>
          </a:xfrm>
          <a:prstGeom prst="ellipse">
            <a:avLst/>
          </a:prstGeom>
          <a:solidFill>
            <a:srgbClr val="4A3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martphone-w.png"/>
          <p:cNvPicPr>
            <a:picLocks noChangeAspect="1"/>
          </p:cNvPicPr>
          <p:nvPr/>
        </p:nvPicPr>
        <p:blipFill>
          <a:blip r:embed="rId5"/>
          <a:stretch>
            <a:fillRect/>
          </a:stretch>
        </p:blipFill>
        <p:spPr>
          <a:xfrm>
            <a:off x="674370" y="4615434"/>
            <a:ext cx="251460" cy="251460"/>
          </a:xfrm>
          <a:prstGeom prst="rect">
            <a:avLst/>
          </a:prstGeom>
        </p:spPr>
      </p:pic>
      <p:sp>
        <p:nvSpPr>
          <p:cNvPr id="21" name="TextBox 20"/>
          <p:cNvSpPr txBox="1"/>
          <p:nvPr/>
        </p:nvSpPr>
        <p:spPr>
          <a:xfrm>
            <a:off x="1234440" y="4471416"/>
            <a:ext cx="5120640"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Installable offline app</a:t>
            </a:r>
          </a:p>
        </p:txBody>
      </p:sp>
      <p:sp>
        <p:nvSpPr>
          <p:cNvPr id="22" name="TextBox 21"/>
          <p:cNvSpPr txBox="1"/>
          <p:nvPr/>
        </p:nvSpPr>
        <p:spPr>
          <a:xfrm>
            <a:off x="1234440" y="4764024"/>
            <a:ext cx="512064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Itinerary and tickets without signal.</a:t>
            </a:r>
          </a:p>
        </p:txBody>
      </p:sp>
      <p:sp>
        <p:nvSpPr>
          <p:cNvPr id="23" name="Oval 22"/>
          <p:cNvSpPr/>
          <p:nvPr/>
        </p:nvSpPr>
        <p:spPr>
          <a:xfrm>
            <a:off x="548640" y="5330952"/>
            <a:ext cx="502920" cy="5029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ountain-w.png"/>
          <p:cNvPicPr>
            <a:picLocks noChangeAspect="1"/>
          </p:cNvPicPr>
          <p:nvPr/>
        </p:nvPicPr>
        <p:blipFill>
          <a:blip r:embed="rId6"/>
          <a:stretch>
            <a:fillRect/>
          </a:stretch>
        </p:blipFill>
        <p:spPr>
          <a:xfrm>
            <a:off x="674370" y="5456682"/>
            <a:ext cx="251460" cy="251460"/>
          </a:xfrm>
          <a:prstGeom prst="rect">
            <a:avLst/>
          </a:prstGeom>
        </p:spPr>
      </p:pic>
      <p:sp>
        <p:nvSpPr>
          <p:cNvPr id="25" name="TextBox 24"/>
          <p:cNvSpPr txBox="1"/>
          <p:nvPr/>
        </p:nvSpPr>
        <p:spPr>
          <a:xfrm>
            <a:off x="1234440" y="5312664"/>
            <a:ext cx="5120640" cy="292608"/>
          </a:xfrm>
          <a:prstGeom prst="rect">
            <a:avLst/>
          </a:prstGeom>
          <a:noFill/>
        </p:spPr>
        <p:txBody>
          <a:bodyPr wrap="square" lIns="0" rIns="0" tIns="0" bIns="0" anchor="t">
            <a:noAutofit/>
          </a:bodyPr>
          <a:lstStyle/>
          <a:p>
            <a:pPr algn="l">
              <a:spcAft>
                <a:spcPts val="400"/>
              </a:spcAft>
            </a:pPr>
            <a:r>
              <a:rPr sz="1400" b="1" i="0">
                <a:solidFill>
                  <a:srgbClr val="1C1638"/>
                </a:solidFill>
                <a:latin typeface="Calibri"/>
              </a:rPr>
              <a:t>More destinations</a:t>
            </a:r>
          </a:p>
        </p:txBody>
      </p:sp>
      <p:sp>
        <p:nvSpPr>
          <p:cNvPr id="26" name="TextBox 25"/>
          <p:cNvSpPr txBox="1"/>
          <p:nvPr/>
        </p:nvSpPr>
        <p:spPr>
          <a:xfrm>
            <a:off x="1234440" y="5605272"/>
            <a:ext cx="5120640" cy="365760"/>
          </a:xfrm>
          <a:prstGeom prst="rect">
            <a:avLst/>
          </a:prstGeom>
          <a:noFill/>
        </p:spPr>
        <p:txBody>
          <a:bodyPr wrap="square" lIns="0" rIns="0" tIns="0" bIns="0" anchor="t">
            <a:noAutofit/>
          </a:bodyPr>
          <a:lstStyle/>
          <a:p>
            <a:pPr algn="l">
              <a:spcAft>
                <a:spcPts val="400"/>
              </a:spcAft>
            </a:pPr>
            <a:r>
              <a:rPr sz="1150" b="0" i="0">
                <a:solidFill>
                  <a:srgbClr val="6D6585"/>
                </a:solidFill>
                <a:latin typeface="Calibri"/>
              </a:rPr>
              <a:t>North-east, hill stations, and user reviews.</a:t>
            </a:r>
          </a:p>
        </p:txBody>
      </p:sp>
      <p:sp>
        <p:nvSpPr>
          <p:cNvPr id="27" name="Rounded Rectangle 26"/>
          <p:cNvSpPr/>
          <p:nvPr/>
        </p:nvSpPr>
        <p:spPr>
          <a:xfrm>
            <a:off x="6720840" y="1508760"/>
            <a:ext cx="4937760" cy="4663440"/>
          </a:xfrm>
          <a:prstGeom prst="roundRect">
            <a:avLst>
              <a:gd name="adj" fmla="val 2941"/>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40880" y="1737360"/>
            <a:ext cx="4389120" cy="365760"/>
          </a:xfrm>
          <a:prstGeom prst="rect">
            <a:avLst/>
          </a:prstGeom>
          <a:noFill/>
        </p:spPr>
        <p:txBody>
          <a:bodyPr wrap="square" lIns="0" rIns="0" tIns="0" bIns="0" anchor="t">
            <a:noAutofit/>
          </a:bodyPr>
          <a:lstStyle/>
          <a:p>
            <a:pPr algn="l">
              <a:spcAft>
                <a:spcPts val="400"/>
              </a:spcAft>
            </a:pPr>
            <a:r>
              <a:rPr sz="1700" b="1" i="0">
                <a:solidFill>
                  <a:srgbClr val="FFFFFF"/>
                </a:solidFill>
                <a:latin typeface="Cambria"/>
              </a:rPr>
              <a:t>Summary</a:t>
            </a:r>
          </a:p>
        </p:txBody>
      </p:sp>
      <p:sp>
        <p:nvSpPr>
          <p:cNvPr id="29" name="TextBox 28"/>
          <p:cNvSpPr txBox="1"/>
          <p:nvPr/>
        </p:nvSpPr>
        <p:spPr>
          <a:xfrm>
            <a:off x="7040880" y="2194560"/>
            <a:ext cx="4389120" cy="1554480"/>
          </a:xfrm>
          <a:prstGeom prst="rect">
            <a:avLst/>
          </a:prstGeom>
          <a:noFill/>
        </p:spPr>
        <p:txBody>
          <a:bodyPr wrap="square" lIns="0" rIns="0" tIns="0" bIns="0" anchor="t">
            <a:noAutofit/>
          </a:bodyPr>
          <a:lstStyle/>
          <a:p>
            <a:pPr algn="l">
              <a:spcAft>
                <a:spcPts val="0"/>
              </a:spcAft>
            </a:pPr>
            <a:r>
              <a:rPr sz="1300" b="0" i="0">
                <a:solidFill>
                  <a:srgbClr val="FFFFFF"/>
                </a:solidFill>
                <a:latin typeface="Calibri"/>
              </a:rPr>
              <a:t>Pathik turns six separate tasks into one flow: find a place, learn about it, plan the days, see the cost, ask one registered agent, and book with nothing hidden.</a:t>
            </a:r>
          </a:p>
        </p:txBody>
      </p:sp>
      <p:sp>
        <p:nvSpPr>
          <p:cNvPr id="30" name="TextBox 29"/>
          <p:cNvSpPr txBox="1"/>
          <p:nvPr/>
        </p:nvSpPr>
        <p:spPr>
          <a:xfrm>
            <a:off x="7040880" y="3977639"/>
            <a:ext cx="2103120" cy="548640"/>
          </a:xfrm>
          <a:prstGeom prst="rect">
            <a:avLst/>
          </a:prstGeom>
          <a:noFill/>
        </p:spPr>
        <p:txBody>
          <a:bodyPr wrap="square" lIns="0" rIns="0" tIns="0" bIns="0" anchor="t">
            <a:noAutofit/>
          </a:bodyPr>
          <a:lstStyle/>
          <a:p>
            <a:pPr algn="l">
              <a:spcAft>
                <a:spcPts val="400"/>
              </a:spcAft>
            </a:pPr>
            <a:r>
              <a:rPr sz="3200" b="1" i="0">
                <a:solidFill>
                  <a:srgbClr val="FFC46B"/>
                </a:solidFill>
                <a:latin typeface="Cambria"/>
              </a:rPr>
              <a:t>5</a:t>
            </a:r>
          </a:p>
        </p:txBody>
      </p:sp>
      <p:sp>
        <p:nvSpPr>
          <p:cNvPr id="31" name="TextBox 30"/>
          <p:cNvSpPr txBox="1"/>
          <p:nvPr/>
        </p:nvSpPr>
        <p:spPr>
          <a:xfrm>
            <a:off x="7040880" y="4544568"/>
            <a:ext cx="2103120" cy="320040"/>
          </a:xfrm>
          <a:prstGeom prst="rect">
            <a:avLst/>
          </a:prstGeom>
          <a:noFill/>
        </p:spPr>
        <p:txBody>
          <a:bodyPr wrap="square" lIns="0" rIns="0" tIns="0" bIns="0" anchor="t">
            <a:noAutofit/>
          </a:bodyPr>
          <a:lstStyle/>
          <a:p>
            <a:pPr algn="l">
              <a:spcAft>
                <a:spcPts val="400"/>
              </a:spcAft>
            </a:pPr>
            <a:r>
              <a:rPr sz="1200" b="0" i="0">
                <a:solidFill>
                  <a:srgbClr val="B9A8E6"/>
                </a:solidFill>
                <a:latin typeface="Calibri"/>
              </a:rPr>
              <a:t>pages</a:t>
            </a:r>
          </a:p>
        </p:txBody>
      </p:sp>
      <p:sp>
        <p:nvSpPr>
          <p:cNvPr id="32" name="TextBox 31"/>
          <p:cNvSpPr txBox="1"/>
          <p:nvPr/>
        </p:nvSpPr>
        <p:spPr>
          <a:xfrm>
            <a:off x="9281160" y="3977639"/>
            <a:ext cx="2103120" cy="548640"/>
          </a:xfrm>
          <a:prstGeom prst="rect">
            <a:avLst/>
          </a:prstGeom>
          <a:noFill/>
        </p:spPr>
        <p:txBody>
          <a:bodyPr wrap="square" lIns="0" rIns="0" tIns="0" bIns="0" anchor="t">
            <a:noAutofit/>
          </a:bodyPr>
          <a:lstStyle/>
          <a:p>
            <a:pPr algn="l">
              <a:spcAft>
                <a:spcPts val="400"/>
              </a:spcAft>
            </a:pPr>
            <a:r>
              <a:rPr sz="3200" b="1" i="0">
                <a:solidFill>
                  <a:srgbClr val="FFC46B"/>
                </a:solidFill>
                <a:latin typeface="Cambria"/>
              </a:rPr>
              <a:t>14</a:t>
            </a:r>
          </a:p>
        </p:txBody>
      </p:sp>
      <p:sp>
        <p:nvSpPr>
          <p:cNvPr id="33" name="TextBox 32"/>
          <p:cNvSpPr txBox="1"/>
          <p:nvPr/>
        </p:nvSpPr>
        <p:spPr>
          <a:xfrm>
            <a:off x="9281160" y="4544568"/>
            <a:ext cx="2103120" cy="320040"/>
          </a:xfrm>
          <a:prstGeom prst="rect">
            <a:avLst/>
          </a:prstGeom>
          <a:noFill/>
        </p:spPr>
        <p:txBody>
          <a:bodyPr wrap="square" lIns="0" rIns="0" tIns="0" bIns="0" anchor="t">
            <a:noAutofit/>
          </a:bodyPr>
          <a:lstStyle/>
          <a:p>
            <a:pPr algn="l">
              <a:spcAft>
                <a:spcPts val="400"/>
              </a:spcAft>
            </a:pPr>
            <a:r>
              <a:rPr sz="1200" b="0" i="0">
                <a:solidFill>
                  <a:srgbClr val="B9A8E6"/>
                </a:solidFill>
                <a:latin typeface="Calibri"/>
              </a:rPr>
              <a:t>destinations</a:t>
            </a:r>
          </a:p>
        </p:txBody>
      </p:sp>
      <p:sp>
        <p:nvSpPr>
          <p:cNvPr id="34" name="TextBox 33"/>
          <p:cNvSpPr txBox="1"/>
          <p:nvPr/>
        </p:nvSpPr>
        <p:spPr>
          <a:xfrm>
            <a:off x="7040880" y="5029200"/>
            <a:ext cx="2103120" cy="548640"/>
          </a:xfrm>
          <a:prstGeom prst="rect">
            <a:avLst/>
          </a:prstGeom>
          <a:noFill/>
        </p:spPr>
        <p:txBody>
          <a:bodyPr wrap="square" lIns="0" rIns="0" tIns="0" bIns="0" anchor="t">
            <a:noAutofit/>
          </a:bodyPr>
          <a:lstStyle/>
          <a:p>
            <a:pPr algn="l">
              <a:spcAft>
                <a:spcPts val="400"/>
              </a:spcAft>
            </a:pPr>
            <a:r>
              <a:rPr sz="3200" b="1" i="0">
                <a:solidFill>
                  <a:srgbClr val="FFC46B"/>
                </a:solidFill>
                <a:latin typeface="Cambria"/>
              </a:rPr>
              <a:t>6</a:t>
            </a:r>
          </a:p>
        </p:txBody>
      </p:sp>
      <p:sp>
        <p:nvSpPr>
          <p:cNvPr id="35" name="TextBox 34"/>
          <p:cNvSpPr txBox="1"/>
          <p:nvPr/>
        </p:nvSpPr>
        <p:spPr>
          <a:xfrm>
            <a:off x="7040880" y="5596128"/>
            <a:ext cx="2103120" cy="320040"/>
          </a:xfrm>
          <a:prstGeom prst="rect">
            <a:avLst/>
          </a:prstGeom>
          <a:noFill/>
        </p:spPr>
        <p:txBody>
          <a:bodyPr wrap="square" lIns="0" rIns="0" tIns="0" bIns="0" anchor="t">
            <a:noAutofit/>
          </a:bodyPr>
          <a:lstStyle/>
          <a:p>
            <a:pPr algn="l">
              <a:spcAft>
                <a:spcPts val="400"/>
              </a:spcAft>
            </a:pPr>
            <a:r>
              <a:rPr sz="1200" b="0" i="0">
                <a:solidFill>
                  <a:srgbClr val="B9A8E6"/>
                </a:solidFill>
                <a:latin typeface="Calibri"/>
              </a:rPr>
              <a:t>modules</a:t>
            </a:r>
          </a:p>
        </p:txBody>
      </p:sp>
      <p:sp>
        <p:nvSpPr>
          <p:cNvPr id="36" name="TextBox 35"/>
          <p:cNvSpPr txBox="1"/>
          <p:nvPr/>
        </p:nvSpPr>
        <p:spPr>
          <a:xfrm>
            <a:off x="9281160" y="5029200"/>
            <a:ext cx="2103120" cy="548640"/>
          </a:xfrm>
          <a:prstGeom prst="rect">
            <a:avLst/>
          </a:prstGeom>
          <a:noFill/>
        </p:spPr>
        <p:txBody>
          <a:bodyPr wrap="square" lIns="0" rIns="0" tIns="0" bIns="0" anchor="t">
            <a:noAutofit/>
          </a:bodyPr>
          <a:lstStyle/>
          <a:p>
            <a:pPr algn="l">
              <a:spcAft>
                <a:spcPts val="400"/>
              </a:spcAft>
            </a:pPr>
            <a:r>
              <a:rPr sz="3200" b="1" i="0">
                <a:solidFill>
                  <a:srgbClr val="FFC46B"/>
                </a:solidFill>
                <a:latin typeface="Cambria"/>
              </a:rPr>
              <a:t>0</a:t>
            </a:r>
          </a:p>
        </p:txBody>
      </p:sp>
      <p:sp>
        <p:nvSpPr>
          <p:cNvPr id="37" name="TextBox 36"/>
          <p:cNvSpPr txBox="1"/>
          <p:nvPr/>
        </p:nvSpPr>
        <p:spPr>
          <a:xfrm>
            <a:off x="9281160" y="5596128"/>
            <a:ext cx="2103120" cy="320040"/>
          </a:xfrm>
          <a:prstGeom prst="rect">
            <a:avLst/>
          </a:prstGeom>
          <a:noFill/>
        </p:spPr>
        <p:txBody>
          <a:bodyPr wrap="square" lIns="0" rIns="0" tIns="0" bIns="0" anchor="t">
            <a:noAutofit/>
          </a:bodyPr>
          <a:lstStyle/>
          <a:p>
            <a:pPr algn="l">
              <a:spcAft>
                <a:spcPts val="400"/>
              </a:spcAft>
            </a:pPr>
            <a:r>
              <a:rPr sz="1200" b="0" i="0">
                <a:solidFill>
                  <a:srgbClr val="B9A8E6"/>
                </a:solidFill>
                <a:latin typeface="Calibri"/>
              </a:rPr>
              <a:t>servers needed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Acknowledgement</a:t>
            </a:r>
          </a:p>
        </p:txBody>
      </p:sp>
      <p:sp>
        <p:nvSpPr>
          <p:cNvPr id="3" name="TextBox 2"/>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4" name="TextBox 3"/>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24</a:t>
            </a:r>
          </a:p>
        </p:txBody>
      </p:sp>
      <p:sp>
        <p:nvSpPr>
          <p:cNvPr id="5" name="Rounded Rectangle 4"/>
          <p:cNvSpPr/>
          <p:nvPr/>
        </p:nvSpPr>
        <p:spPr>
          <a:xfrm>
            <a:off x="548640" y="1554480"/>
            <a:ext cx="11091672" cy="4206240"/>
          </a:xfrm>
          <a:prstGeom prst="roundRect">
            <a:avLst>
              <a:gd name="adj" fmla="val 3260"/>
            </a:avLst>
          </a:prstGeom>
          <a:solidFill>
            <a:srgbClr val="F5F2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8680" y="1874519"/>
            <a:ext cx="731520" cy="731520"/>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art-handshake-w.png"/>
          <p:cNvPicPr>
            <a:picLocks noChangeAspect="1"/>
          </p:cNvPicPr>
          <p:nvPr/>
        </p:nvPicPr>
        <p:blipFill>
          <a:blip r:embed="rId2"/>
          <a:stretch>
            <a:fillRect/>
          </a:stretch>
        </p:blipFill>
        <p:spPr>
          <a:xfrm>
            <a:off x="1051560" y="2057400"/>
            <a:ext cx="365760" cy="365760"/>
          </a:xfrm>
          <a:prstGeom prst="rect">
            <a:avLst/>
          </a:prstGeom>
        </p:spPr>
      </p:pic>
      <p:sp>
        <p:nvSpPr>
          <p:cNvPr id="8" name="TextBox 7"/>
          <p:cNvSpPr txBox="1"/>
          <p:nvPr/>
        </p:nvSpPr>
        <p:spPr>
          <a:xfrm>
            <a:off x="1874519" y="1874519"/>
            <a:ext cx="9418320" cy="3657600"/>
          </a:xfrm>
          <a:prstGeom prst="rect">
            <a:avLst/>
          </a:prstGeom>
          <a:noFill/>
        </p:spPr>
        <p:txBody>
          <a:bodyPr wrap="square" lIns="0" rIns="0" tIns="0" bIns="0" anchor="t">
            <a:noAutofit/>
          </a:bodyPr>
          <a:lstStyle/>
          <a:p>
            <a:pPr algn="l">
              <a:lnSpc>
                <a:spcPct val="110000"/>
              </a:lnSpc>
              <a:spcAft>
                <a:spcPts val="1400"/>
              </a:spcAft>
            </a:pPr>
            <a:r>
              <a:rPr sz="1600" b="0" i="0">
                <a:solidFill>
                  <a:srgbClr val="1C1638"/>
                </a:solidFill>
                <a:latin typeface="Calibri"/>
              </a:rPr>
              <a:t>I would like to thank Ms Shalini Singhal, Assistant Professor, Department of Information Technology, for her guidance throughout this training.</a:t>
            </a:r>
          </a:p>
          <a:p>
            <a:pPr algn="l">
              <a:lnSpc>
                <a:spcPct val="110000"/>
              </a:lnSpc>
              <a:spcAft>
                <a:spcPts val="1400"/>
              </a:spcAft>
            </a:pPr>
            <a:r>
              <a:rPr sz="1600" b="0" i="0">
                <a:solidFill>
                  <a:srgbClr val="1C1638"/>
                </a:solidFill>
                <a:latin typeface="Calibri"/>
              </a:rPr>
              <a:t>I am grateful to [Company Name] and my mentor [Mentor Name] for the opportunity and their feedback on the project.</a:t>
            </a:r>
          </a:p>
          <a:p>
            <a:pPr algn="l">
              <a:lnSpc>
                <a:spcPct val="110000"/>
              </a:lnSpc>
              <a:spcAft>
                <a:spcPts val="1400"/>
              </a:spcAft>
            </a:pPr>
            <a:r>
              <a:rPr sz="1600" b="0" i="0">
                <a:solidFill>
                  <a:srgbClr val="1C1638"/>
                </a:solidFill>
                <a:latin typeface="Calibri"/>
              </a:rPr>
              <a:t>I also thank the Department of Information Technology, Swami Keshvanand Institute of Technology, Management &amp; Gramothan, Jaipur, and my family and friends for their support.</a:t>
            </a:r>
          </a:p>
        </p:txBody>
      </p:sp>
      <p:sp>
        <p:nvSpPr>
          <p:cNvPr id="9" name="TextBox 8"/>
          <p:cNvSpPr txBox="1"/>
          <p:nvPr/>
        </p:nvSpPr>
        <p:spPr>
          <a:xfrm>
            <a:off x="1874519" y="5257800"/>
            <a:ext cx="5486400" cy="365760"/>
          </a:xfrm>
          <a:prstGeom prst="rect">
            <a:avLst/>
          </a:prstGeom>
          <a:noFill/>
        </p:spPr>
        <p:txBody>
          <a:bodyPr wrap="square" lIns="0" rIns="0" tIns="0" bIns="0" anchor="t">
            <a:noAutofit/>
          </a:bodyPr>
          <a:lstStyle/>
          <a:p>
            <a:pPr algn="l">
              <a:spcAft>
                <a:spcPts val="400"/>
              </a:spcAft>
            </a:pPr>
            <a:r>
              <a:rPr sz="1300" b="0" i="1">
                <a:solidFill>
                  <a:srgbClr val="6D6585"/>
                </a:solidFill>
                <a:latin typeface="Calibri"/>
              </a:rPr>
              <a:t>[Student Name]  ·  [University Roll No.]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9052560" cy="713232"/>
          </a:xfrm>
        </p:spPr>
        <p:txBody>
          <a:bodyPr wrap="square" lIns="0" rIns="0" tIns="0" bIns="0" anchor="t"/>
          <a:lstStyle/>
          <a:p>
            <a:pPr algn="l"/>
            <a:r>
              <a:rPr sz="3200" b="1">
                <a:solidFill>
                  <a:srgbClr val="1C1638"/>
                </a:solidFill>
                <a:latin typeface="Cambria"/>
              </a:rPr>
              <a:t>Thank You</a:t>
            </a:r>
          </a:p>
        </p:txBody>
      </p:sp>
      <p:sp>
        <p:nvSpPr>
          <p:cNvPr id="3" name="TextBox 2"/>
          <p:cNvSpPr txBox="1"/>
          <p:nvPr/>
        </p:nvSpPr>
        <p:spPr>
          <a:xfrm>
            <a:off x="548640" y="6446520"/>
            <a:ext cx="5486400" cy="228600"/>
          </a:xfrm>
          <a:prstGeom prst="rect">
            <a:avLst/>
          </a:prstGeom>
          <a:noFill/>
        </p:spPr>
        <p:txBody>
          <a:bodyPr wrap="square" lIns="0" rIns="0" tIns="0" bIns="0" anchor="t">
            <a:noAutofit/>
          </a:bodyPr>
          <a:lstStyle/>
          <a:p>
            <a:pPr algn="l">
              <a:spcAft>
                <a:spcPts val="400"/>
              </a:spcAft>
            </a:pPr>
            <a:r>
              <a:rPr sz="900" b="0" i="0">
                <a:solidFill>
                  <a:srgbClr val="6D6585"/>
                </a:solidFill>
                <a:latin typeface="Calibri"/>
              </a:rPr>
              <a:t>Pathik  ·  Industrial Training Presentation  ·  Session 2026-27</a:t>
            </a:r>
          </a:p>
        </p:txBody>
      </p:sp>
      <p:sp>
        <p:nvSpPr>
          <p:cNvPr id="4" name="TextBox 3"/>
          <p:cNvSpPr txBox="1"/>
          <p:nvPr/>
        </p:nvSpPr>
        <p:spPr>
          <a:xfrm>
            <a:off x="10725912" y="6446520"/>
            <a:ext cx="914400" cy="228600"/>
          </a:xfrm>
          <a:prstGeom prst="rect">
            <a:avLst/>
          </a:prstGeom>
          <a:noFill/>
        </p:spPr>
        <p:txBody>
          <a:bodyPr wrap="square" lIns="0" rIns="0" tIns="0" bIns="0" anchor="t">
            <a:noAutofit/>
          </a:bodyPr>
          <a:lstStyle/>
          <a:p>
            <a:pPr algn="r">
              <a:spcAft>
                <a:spcPts val="400"/>
              </a:spcAft>
            </a:pPr>
            <a:r>
              <a:rPr sz="900" b="0" i="0">
                <a:solidFill>
                  <a:srgbClr val="6D6585"/>
                </a:solidFill>
                <a:latin typeface="Calibri"/>
              </a:rPr>
              <a:t>25</a:t>
            </a:r>
          </a:p>
        </p:txBody>
      </p:sp>
      <p:sp>
        <p:nvSpPr>
          <p:cNvPr id="5" name="Rounded Rectangle 4"/>
          <p:cNvSpPr/>
          <p:nvPr/>
        </p:nvSpPr>
        <p:spPr>
          <a:xfrm>
            <a:off x="548640" y="1554480"/>
            <a:ext cx="11091672" cy="4617720"/>
          </a:xfrm>
          <a:prstGeom prst="roundRect">
            <a:avLst>
              <a:gd name="adj" fmla="val 2970"/>
            </a:avLst>
          </a:prstGeom>
          <a:solidFill>
            <a:srgbClr val="1C16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103120"/>
            <a:ext cx="6400800" cy="914400"/>
          </a:xfrm>
          <a:prstGeom prst="rect">
            <a:avLst/>
          </a:prstGeom>
          <a:noFill/>
        </p:spPr>
        <p:txBody>
          <a:bodyPr wrap="square" lIns="0" rIns="0" tIns="0" bIns="0" anchor="t">
            <a:noAutofit/>
          </a:bodyPr>
          <a:lstStyle/>
          <a:p>
            <a:pPr algn="l">
              <a:spcAft>
                <a:spcPts val="400"/>
              </a:spcAft>
            </a:pPr>
            <a:r>
              <a:rPr sz="4000" b="1" i="0">
                <a:solidFill>
                  <a:srgbClr val="FFFFFF"/>
                </a:solidFill>
                <a:latin typeface="Cambria"/>
              </a:rPr>
              <a:t>Any questions?</a:t>
            </a:r>
          </a:p>
        </p:txBody>
      </p:sp>
      <p:sp>
        <p:nvSpPr>
          <p:cNvPr id="7" name="TextBox 6"/>
          <p:cNvSpPr txBox="1"/>
          <p:nvPr/>
        </p:nvSpPr>
        <p:spPr>
          <a:xfrm>
            <a:off x="1005840" y="3108960"/>
            <a:ext cx="5943600" cy="1097280"/>
          </a:xfrm>
          <a:prstGeom prst="rect">
            <a:avLst/>
          </a:prstGeom>
          <a:noFill/>
        </p:spPr>
        <p:txBody>
          <a:bodyPr wrap="square" lIns="0" rIns="0" tIns="0" bIns="0" anchor="t">
            <a:noAutofit/>
          </a:bodyPr>
          <a:lstStyle/>
          <a:p>
            <a:pPr algn="l">
              <a:spcAft>
                <a:spcPts val="400"/>
              </a:spcAft>
            </a:pPr>
            <a:r>
              <a:rPr sz="1600" b="0" i="0">
                <a:solidFill>
                  <a:srgbClr val="B9A8E6"/>
                </a:solidFill>
                <a:latin typeface="Calibri"/>
              </a:rPr>
              <a:t>Pathik: a trip planner for India. Find, learn, plan, budget, enquire, book.</a:t>
            </a:r>
          </a:p>
        </p:txBody>
      </p:sp>
      <p:pic>
        <p:nvPicPr>
          <p:cNvPr id="8" name="Picture 7" descr="git-branch-w.png"/>
          <p:cNvPicPr>
            <a:picLocks noChangeAspect="1"/>
          </p:cNvPicPr>
          <p:nvPr/>
        </p:nvPicPr>
        <p:blipFill>
          <a:blip r:embed="rId2"/>
          <a:stretch>
            <a:fillRect/>
          </a:stretch>
        </p:blipFill>
        <p:spPr>
          <a:xfrm>
            <a:off x="1005840" y="4526280"/>
            <a:ext cx="329184" cy="329184"/>
          </a:xfrm>
          <a:prstGeom prst="rect">
            <a:avLst/>
          </a:prstGeom>
        </p:spPr>
      </p:pic>
      <p:sp>
        <p:nvSpPr>
          <p:cNvPr id="9" name="TextBox 8"/>
          <p:cNvSpPr txBox="1"/>
          <p:nvPr/>
        </p:nvSpPr>
        <p:spPr>
          <a:xfrm>
            <a:off x="1463040" y="4526280"/>
            <a:ext cx="5486400" cy="365760"/>
          </a:xfrm>
          <a:prstGeom prst="rect">
            <a:avLst/>
          </a:prstGeom>
          <a:noFill/>
        </p:spPr>
        <p:txBody>
          <a:bodyPr wrap="square" lIns="0" rIns="0" tIns="0" bIns="0" anchor="ctr">
            <a:noAutofit/>
          </a:bodyPr>
          <a:lstStyle/>
          <a:p>
            <a:pPr algn="l">
              <a:spcAft>
                <a:spcPts val="400"/>
              </a:spcAft>
            </a:pPr>
            <a:r>
              <a:rPr sz="1400" b="0" i="0">
                <a:solidFill>
                  <a:srgbClr val="FFC46B"/>
                </a:solidFill>
                <a:latin typeface="Calibri"/>
              </a:rPr>
              <a:t>github.com/Hanu2908/intership_project</a:t>
            </a:r>
          </a:p>
        </p:txBody>
      </p:sp>
      <p:sp>
        <p:nvSpPr>
          <p:cNvPr id="10" name="Rounded Rectangle 9"/>
          <p:cNvSpPr/>
          <p:nvPr/>
        </p:nvSpPr>
        <p:spPr>
          <a:xfrm>
            <a:off x="7223760" y="1965960"/>
            <a:ext cx="4023360" cy="2740914"/>
          </a:xfrm>
          <a:prstGeom prst="roundRect">
            <a:avLst>
              <a:gd name="adj" fmla="val 3336"/>
            </a:avLst>
          </a:prstGeom>
          <a:solidFill>
            <a:srgbClr val="1C1638"/>
          </a:solidFill>
          <a:ln>
            <a:noFill/>
          </a:ln>
          <a:effectLst>
            <a:outerShdw blurRad="228600" dist="50800" dir="5400000" algn="t" rotWithShape="0">
              <a:srgbClr val="1C1638">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51776" y="2043684"/>
            <a:ext cx="82296" cy="82296"/>
          </a:xfrm>
          <a:prstGeom prst="ellipse">
            <a:avLst/>
          </a:prstGeom>
          <a:solidFill>
            <a:srgbClr val="EF7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88936" y="2043684"/>
            <a:ext cx="82296" cy="82296"/>
          </a:xfrm>
          <a:prstGeom prst="ellipse">
            <a:avLst/>
          </a:prstGeom>
          <a:solidFill>
            <a:srgbClr val="FFC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626096" y="2043684"/>
            <a:ext cx="82296" cy="82296"/>
          </a:xfrm>
          <a:prstGeom prst="ellipse">
            <a:avLst/>
          </a:prstGeom>
          <a:solidFill>
            <a:srgbClr val="8FD1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30183" y="2020824"/>
            <a:ext cx="1810512" cy="137160"/>
          </a:xfrm>
          <a:prstGeom prst="roundRect">
            <a:avLst>
              <a:gd name="adj" fmla="val 46666"/>
            </a:avLst>
          </a:prstGeom>
          <a:solidFill>
            <a:srgbClr val="2B22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30183" y="2016252"/>
            <a:ext cx="1810512" cy="146304"/>
          </a:xfrm>
          <a:prstGeom prst="rect">
            <a:avLst/>
          </a:prstGeom>
          <a:noFill/>
        </p:spPr>
        <p:txBody>
          <a:bodyPr wrap="square" lIns="0" rIns="0" tIns="0" bIns="0" anchor="ctr">
            <a:noAutofit/>
          </a:bodyPr>
          <a:lstStyle/>
          <a:p>
            <a:pPr algn="ctr">
              <a:spcAft>
                <a:spcPts val="400"/>
              </a:spcAft>
            </a:pPr>
            <a:r>
              <a:rPr sz="700" b="0" i="0">
                <a:solidFill>
                  <a:srgbClr val="B9A8E6"/>
                </a:solidFill>
                <a:latin typeface="Calibri"/>
              </a:rPr>
              <a:t>pathik / home</a:t>
            </a:r>
          </a:p>
        </p:txBody>
      </p:sp>
      <p:pic>
        <p:nvPicPr>
          <p:cNvPr id="16" name="Picture 15" descr="Screenshot of the Pathik website: pathik / home"/>
          <p:cNvPicPr>
            <a:picLocks noChangeAspect="1"/>
          </p:cNvPicPr>
          <p:nvPr/>
        </p:nvPicPr>
        <p:blipFill>
          <a:blip r:embed="rId3"/>
          <a:stretch>
            <a:fillRect/>
          </a:stretch>
        </p:blipFill>
        <p:spPr>
          <a:xfrm>
            <a:off x="7269480" y="2203704"/>
            <a:ext cx="3931920" cy="2457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213</Words>
  <Application>Microsoft Office PowerPoint</Application>
  <PresentationFormat>Widescreen</PresentationFormat>
  <Paragraphs>59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  Swami Keshvanand Institute of Technology, Management &amp; Gramothan, Jaipur “An Autonomous Institute Affiliated to Rajasthan Technical University, Kota”  Department of Information Technology  Industrial Training Presentation On  &lt;Project Name&gt;     Submitted To:                                                                           Submitted By: Ms Shalini Singhal                                                                            Student name              Assistant Professor IT                                                                       University Roll. No.                                              Session 2026-27 </vt:lpstr>
      <vt:lpstr>Outline</vt:lpstr>
      <vt:lpstr>Training Objectives </vt:lpstr>
      <vt:lpstr>Technologies Used </vt:lpstr>
      <vt:lpstr> Project Overview </vt:lpstr>
      <vt:lpstr>Screenshots</vt:lpstr>
      <vt:lpstr> Learning Outcomes </vt:lpstr>
      <vt:lpstr> Future Scope &amp; 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Srawan Nath</dc:creator>
  <cp:lastModifiedBy>Anirudh</cp:lastModifiedBy>
  <cp:revision>7</cp:revision>
  <dcterms:created xsi:type="dcterms:W3CDTF">2026-07-18T08:54:45Z</dcterms:created>
  <dcterms:modified xsi:type="dcterms:W3CDTF">2026-09-28T09:12:16Z</dcterms:modified>
</cp:coreProperties>
</file>